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Good morning. Over the next fifteen minutes I will walk you through how we built an agentic intelligence system to support a real strategic decision: whether 50 Doctors México should enter the Spanish private healthcare market. The verdict you will see — a Conditional Go with 72% confidence and a quantified Net Present Value — was not produced by us writing a memo. It was produced by four cooperating AI agents that perceive, reason, and act on real evidence. The point of this presentation is not to demo a chatbot; it is to show you the architectural shift from generative AI to agentic AI, and why that shift changes what executive decision-making looks like.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first thing to understand is what we mean by agentic. A generative model — GPT, Claude, any of them — answers a single question and forgets. It is brilliant, but it is a one-shot oracle. An agentic system wraps that same model inside a control loop: it sets a goal, it plans the steps to reach it, it executes those steps using tools, it observes the result, and it decides whether to continue or stop. The intelligence is not in the model alone; it is in the loop. For an executive, the consequence is concrete: instead of receiving an answer that you then have to operationalise, you receive a decision that has already been operationalised. That is a different category of artefact.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Every agentic system, regardless of domain, decomposes into the same three capabilities. Perception is the system's senses — it must be able to read the world, not just respond to a prompt. Reasoning is where the domain frameworks live; in our case the agents apply Chen and Miller's AMC, the Shell scenario method, and the ECOMO valuation logic — the same frameworks an analyst would use, but executed at machine speed. Action is the part most people forget: a system that only thinks is not agentic. It must change something — produce a document, trigger an alert, escalate to a human. And critically, the loop closes: every action generates fresh perception, which feeds back into the next reasoning cycle. That is what makes the system improve itself over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A model is only as good as the question you ask it. The hardest engineering work in an agentic system is not prompting — it is decomposition. Our top-level goal, decide whether to enter Spain, is far too coarse for any single language-model call. The agent has to break it down recursively until each leaf is small enough to be solved with high confidence. We end up with a tree of sub-goals, each with its own plan-act-observe-replan cycle. The benefit, beyond reliability, is that when one branch fails — say, a data source returns nothing — the system replans only that branch instead of collapsing the whole decision. That is what gives agentic systems their robustness.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A frequent misconception is that agents reason in a vacuum. They do not. Their power comes from the tools they can invoke — and choosing the right tool is itself a reasoning step. In our system the agent has access to four categories of tools: open-web fetching for news and competitor pages, structured APIs for financial and employment data, alternative-data feeds for weak signals, and the project's own repository as a memory store. Twelve verified sources, all traceable. When the agent decides to score Sanitas's likelihood of reaction, it does not invent the answer — it pulls the relevant filings, the recent news, and the LinkedIn hiring patterns, and only then runs the AMC framework. Evidence first, judgement second.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Memory is what most demonstrations skip — and it is what separates a toy from a system. Short-term memory holds the agent's working context within a single decision cycle: the current sub-goal, the partial results, the tools it has already called. That memory dissolves when the cycle ends. Long-term memory is different: it persists across runs. In our project, the long-term store is the repository itself — the JSON evidence files, the decision records, the nine KIIs of the Early Warning System. This is what allows our system to do something an analyst cannot: it runs every Monday morning via GitHub Actions, compares the world today against what it knew last week, and only escalates when something has actually changed. The intelligence compounds.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This is the first concrete use case, and it is the easiest one for a board to grasp. We asked the system to do what a junior analyst typically does: build a competitive intelligence file on the three Spanish private health insurers, score them with the Awareness-Motivation-Capability framework, and estimate the probability and timeline of their reaction to 50 Doctors's entry. A manual version of this work, done properly, takes around six weeks and gives you a snapshot that is already stale by the time it lands on the desk. Our agent does it in ninety seconds, with the same twelve sources cited, and — this is the key — it can be rerun every Monday. The output is not a report; it is a living instrument. The headline number, 87%, is the probability that Sanitas will respond within three to six months. That single number changed the entire entry strategy from confrontation to alliance.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second use case is more ambitious because it removes the human from the routine loop. The Early Warning System monitors nine indicators across three Key Intelligence Topics — competitor receptivity, regulation, and Latin-American movements. Each indicator has a pre-agreed threshold, defined in the strategy document and signed off by the team. The agent runs every Monday, checks each indicator against its threshold, and assigns a colour. If two or more turn red, it does not ask for permission — it triggers a strategic review automatically. If three turn red, it recommends suspending capital expenditure. Today, all nine are green, and the system's verdict is a Conditional Go with an expected NPV of plus fourteen point two million euros and a confidence level of seventy-two percent. The numbers are the system's, not ours. [CUE: switch to Streamlit demo, EWS module, click 🔴 KIT2 RED button — let the alert fire live in front of the audience.]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Any executive who has worked with autonomous systems will ask the same question: what stops it from being wrong at scale? The answer has three parts. First, human-in-the-loop is not a slogan — it is a contract. The agent recommends; human executives ratify. Capital expenditure decisions and contractual commitments are never executed by the agent. Second, every step is auditable: the source, the reasoning step, the output, all version-controlled in the same repository as the code. If a decision turns out to be wrong, we can reconstruct exactly why. Third, alignment is enforced by structure, not hope: the success criteria and the alert thresholds were agreed in writing before the system ran, and the agent cannot redefine them mid-flight. Speed without these three guardrails is not an asset — it is a liability.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a:latin typeface="Calibri"/>
              </a:rPr>
              <a:t>The decision in front of us — entering Spain through an alliance with Sanitas/BUPA — is a one-time act. But the discipline that produced this decision is permanent. The same agentic architecture that gave us a Conditional Go today will run every Monday for the next thirty-six months, comparing reality against the assumptions we signed off on, and warning us the moment one of them breaks. In twelve months we will know whether the first hospital is on track. In thirty-six months we will know whether the full network has been built or whether we should have stopped at hospital number two. None of that requires a new system. It only requires that we let this one keep running. Agentic systems do not replace strategic judgement; they institutionalise it. Thank you.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1463040"/>
            <a:ext cx="10515600" cy="45720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Final Project · Corporate Intelligence II · UFV 2026</a:t>
            </a:r>
          </a:p>
        </p:txBody>
      </p:sp>
      <p:sp>
        <p:nvSpPr>
          <p:cNvPr id="3" name="TextBox 2"/>
          <p:cNvSpPr txBox="1"/>
          <p:nvPr/>
        </p:nvSpPr>
        <p:spPr>
          <a:xfrm>
            <a:off x="822960" y="1828800"/>
            <a:ext cx="10515600" cy="1828800"/>
          </a:xfrm>
          <a:prstGeom prst="rect">
            <a:avLst/>
          </a:prstGeom>
          <a:noFill/>
        </p:spPr>
        <p:txBody>
          <a:bodyPr wrap="square" anchor="t" lIns="0" rIns="0" tIns="0" bIns="0">
            <a:spAutoFit/>
          </a:bodyPr>
          <a:lstStyle/>
          <a:p>
            <a:pPr algn="l">
              <a:lnSpc>
                <a:spcPct val="105000"/>
              </a:lnSpc>
            </a:pPr>
            <a:r>
              <a:rPr sz="5200" b="0" i="0">
                <a:solidFill>
                  <a:srgbClr val="0B0B0F"/>
                </a:solidFill>
                <a:latin typeface="Helvetica Neue"/>
              </a:rPr>
              <a:t>From Information to Action</a:t>
            </a:r>
          </a:p>
        </p:txBody>
      </p:sp>
      <p:sp>
        <p:nvSpPr>
          <p:cNvPr id="4" name="TextBox 3"/>
          <p:cNvSpPr txBox="1"/>
          <p:nvPr/>
        </p:nvSpPr>
        <p:spPr>
          <a:xfrm>
            <a:off x="822960" y="2743200"/>
            <a:ext cx="10515600" cy="731520"/>
          </a:xfrm>
          <a:prstGeom prst="rect">
            <a:avLst/>
          </a:prstGeom>
          <a:noFill/>
        </p:spPr>
        <p:txBody>
          <a:bodyPr wrap="square" anchor="t" lIns="0" rIns="0" tIns="0" bIns="0">
            <a:spAutoFit/>
          </a:bodyPr>
          <a:lstStyle/>
          <a:p>
            <a:pPr algn="l">
              <a:lnSpc>
                <a:spcPct val="125000"/>
              </a:lnSpc>
            </a:pPr>
            <a:r>
              <a:rPr sz="2400" b="0" i="0">
                <a:solidFill>
                  <a:srgbClr val="0F3460"/>
                </a:solidFill>
                <a:latin typeface="Helvetica Neue"/>
              </a:rPr>
              <a:t>An Agentic Intelligence System for Cross-Border Market Entry</a:t>
            </a:r>
          </a:p>
        </p:txBody>
      </p:sp>
      <p:cxnSp>
        <p:nvCxnSpPr>
          <p:cNvPr id="5" name="Connector 4"/>
          <p:cNvCxnSpPr/>
          <p:nvPr/>
        </p:nvCxnSpPr>
        <p:spPr>
          <a:xfrm>
            <a:off x="822960" y="3840480"/>
            <a:ext cx="237744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822960" y="4114800"/>
            <a:ext cx="10058400" cy="1828800"/>
          </a:xfrm>
          <a:prstGeom prst="rect">
            <a:avLst/>
          </a:prstGeom>
          <a:noFill/>
        </p:spPr>
        <p:txBody>
          <a:bodyPr wrap="square" lIns="0" rIns="0" tIns="0" bIns="0">
            <a:spAutoFit/>
          </a:bodyPr>
          <a:lstStyle/>
          <a:p>
            <a:pPr>
              <a:lnSpc>
                <a:spcPct val="135000"/>
              </a:lnSpc>
              <a:spcAft>
                <a:spcPts val="600"/>
              </a:spcAft>
            </a:pPr>
            <a:r>
              <a:rPr sz="1500" b="1">
                <a:solidFill>
                  <a:srgbClr val="0F3460"/>
                </a:solidFill>
                <a:latin typeface="Helvetica Neue"/>
              </a:rPr>
              <a:t>—  </a:t>
            </a:r>
            <a:r>
              <a:rPr sz="1500">
                <a:solidFill>
                  <a:srgbClr val="0B0B0F"/>
                </a:solidFill>
                <a:latin typeface="Helvetica Neue"/>
              </a:rPr>
              <a:t>50 Doctors México — Decision: enter Spain</a:t>
            </a:r>
          </a:p>
          <a:p>
            <a:pPr>
              <a:lnSpc>
                <a:spcPct val="135000"/>
              </a:lnSpc>
              <a:spcAft>
                <a:spcPts val="600"/>
              </a:spcAft>
            </a:pPr>
            <a:r>
              <a:rPr sz="1500" b="1">
                <a:solidFill>
                  <a:srgbClr val="0F3460"/>
                </a:solidFill>
                <a:latin typeface="Helvetica Neue"/>
              </a:rPr>
              <a:t>—  </a:t>
            </a:r>
            <a:r>
              <a:rPr sz="1500">
                <a:solidFill>
                  <a:srgbClr val="0B0B0F"/>
                </a:solidFill>
                <a:latin typeface="Helvetica Neue"/>
              </a:rPr>
              <a:t>Multi-agent architecture · 6 weeks of work compressed into 90 seconds</a:t>
            </a:r>
          </a:p>
          <a:p>
            <a:pPr>
              <a:lnSpc>
                <a:spcPct val="135000"/>
              </a:lnSpc>
              <a:spcAft>
                <a:spcPts val="600"/>
              </a:spcAft>
            </a:pPr>
            <a:r>
              <a:rPr sz="1500" b="1">
                <a:solidFill>
                  <a:srgbClr val="0F3460"/>
                </a:solidFill>
                <a:latin typeface="Helvetica Neue"/>
              </a:rPr>
              <a:t>—  </a:t>
            </a:r>
            <a:r>
              <a:rPr sz="1500">
                <a:solidFill>
                  <a:srgbClr val="0B0B0F"/>
                </a:solidFill>
                <a:latin typeface="Helvetica Neue"/>
              </a:rPr>
              <a:t>System verdict: CONDITIONAL GO · Confidence 72% · E[NPV] +€14.2M</a:t>
            </a:r>
          </a:p>
        </p:txBody>
      </p:sp>
      <p:sp>
        <p:nvSpPr>
          <p:cNvPr id="7" name="Oval 6"/>
          <p:cNvSpPr/>
          <p:nvPr/>
        </p:nvSpPr>
        <p:spPr>
          <a:xfrm>
            <a:off x="10378440" y="5440680"/>
            <a:ext cx="822960" cy="822960"/>
          </a:xfrm>
          <a:prstGeom prst="ellipse">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515600" y="5577840"/>
            <a:ext cx="548640" cy="548640"/>
          </a:xfrm>
          <a:prstGeom prst="ellipse">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0652760" y="5715000"/>
            <a:ext cx="274320" cy="274320"/>
          </a:xfrm>
          <a:prstGeom prst="ellipse">
            <a:avLst/>
          </a:prstGeom>
          <a:noFill/>
          <a:ln w="190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6355080"/>
            <a:ext cx="6400800" cy="365760"/>
          </a:xfrm>
          <a:prstGeom prst="rect">
            <a:avLst/>
          </a:prstGeom>
          <a:noFill/>
        </p:spPr>
        <p:txBody>
          <a:bodyPr wrap="square" anchor="t" lIns="0" rIns="0" tIns="0" bIns="0">
            <a:spAutoFit/>
          </a:bodyPr>
          <a:lstStyle/>
          <a:p>
            <a:pPr algn="l">
              <a:lnSpc>
                <a:spcPct val="125000"/>
              </a:lnSpc>
            </a:pPr>
            <a:r>
              <a:rPr sz="1100" b="0" i="0">
                <a:solidFill>
                  <a:srgbClr val="9AA0A6"/>
                </a:solidFill>
                <a:latin typeface="Helvetica Neue"/>
              </a:rPr>
              <a:t>Pablo Cerezal · Adrián Julve  |  Prof. César Moreno Pascual, PhD</a:t>
            </a:r>
          </a:p>
        </p:txBody>
      </p:sp>
      <p:sp>
        <p:nvSpPr>
          <p:cNvPr id="11" name="TextBox 10"/>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Generative AI answers questions. Agentic AI closes decisions.</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089904" y="2011680"/>
            <a:ext cx="0" cy="3657600"/>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2103120"/>
            <a:ext cx="4937760" cy="457200"/>
          </a:xfrm>
          <a:prstGeom prst="rect">
            <a:avLst/>
          </a:prstGeom>
          <a:noFill/>
        </p:spPr>
        <p:txBody>
          <a:bodyPr wrap="square" anchor="t" lIns="0" rIns="0" tIns="0" bIns="0">
            <a:spAutoFit/>
          </a:bodyPr>
          <a:lstStyle/>
          <a:p>
            <a:pPr algn="l">
              <a:lnSpc>
                <a:spcPct val="125000"/>
              </a:lnSpc>
            </a:pPr>
            <a:r>
              <a:rPr sz="2000" b="1" i="0">
                <a:solidFill>
                  <a:srgbClr val="0F3460"/>
                </a:solidFill>
                <a:latin typeface="Helvetica Neue"/>
              </a:rPr>
              <a:t>GENERATIVE</a:t>
            </a:r>
          </a:p>
        </p:txBody>
      </p:sp>
      <p:sp>
        <p:nvSpPr>
          <p:cNvPr id="6" name="TextBox 5"/>
          <p:cNvSpPr txBox="1"/>
          <p:nvPr/>
        </p:nvSpPr>
        <p:spPr>
          <a:xfrm>
            <a:off x="822960" y="2651760"/>
            <a:ext cx="4937760" cy="457200"/>
          </a:xfrm>
          <a:prstGeom prst="rect">
            <a:avLst/>
          </a:prstGeom>
          <a:noFill/>
        </p:spPr>
        <p:txBody>
          <a:bodyPr wrap="square" anchor="t" lIns="0" rIns="0" tIns="0" bIns="0">
            <a:spAutoFit/>
          </a:bodyPr>
          <a:lstStyle/>
          <a:p>
            <a:pPr algn="l">
              <a:lnSpc>
                <a:spcPct val="125000"/>
              </a:lnSpc>
            </a:pPr>
            <a:r>
              <a:rPr sz="1600" b="0" i="0">
                <a:solidFill>
                  <a:srgbClr val="0B0B0F"/>
                </a:solidFill>
                <a:latin typeface="Helvetica Neue"/>
              </a:rPr>
              <a:t>Stateless · Reactive · Single-shot</a:t>
            </a:r>
          </a:p>
        </p:txBody>
      </p:sp>
      <p:sp>
        <p:nvSpPr>
          <p:cNvPr id="7" name="TextBox 6"/>
          <p:cNvSpPr txBox="1"/>
          <p:nvPr/>
        </p:nvSpPr>
        <p:spPr>
          <a:xfrm>
            <a:off x="822960" y="3291840"/>
            <a:ext cx="4937760" cy="2286000"/>
          </a:xfrm>
          <a:prstGeom prst="rect">
            <a:avLst/>
          </a:prstGeom>
          <a:noFill/>
        </p:spPr>
        <p:txBody>
          <a:bodyPr wrap="square" lIns="0" rIns="0" tIns="0" bIns="0">
            <a:spAutoFit/>
          </a:bodyPr>
          <a:lstStyle/>
          <a:p>
            <a:pPr>
              <a:lnSpc>
                <a:spcPct val="135000"/>
              </a:lnSpc>
              <a:spcAft>
                <a:spcPts val="600"/>
              </a:spcAft>
            </a:pPr>
            <a:r>
              <a:rPr sz="1400" b="1">
                <a:solidFill>
                  <a:srgbClr val="0F3460"/>
                </a:solidFill>
                <a:latin typeface="Helvetica Neue"/>
              </a:rPr>
              <a:t>—  </a:t>
            </a:r>
            <a:r>
              <a:rPr sz="1400">
                <a:solidFill>
                  <a:srgbClr val="0B0B0F"/>
                </a:solidFill>
                <a:latin typeface="Helvetica Neue"/>
              </a:rPr>
              <a:t>A single-turn oracle: produces text on demand</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No goals, no memory, no follow-through</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The unit of value is the answer</a:t>
            </a:r>
          </a:p>
        </p:txBody>
      </p:sp>
      <p:sp>
        <p:nvSpPr>
          <p:cNvPr id="8" name="TextBox 7"/>
          <p:cNvSpPr txBox="1"/>
          <p:nvPr/>
        </p:nvSpPr>
        <p:spPr>
          <a:xfrm>
            <a:off x="6400800" y="2103120"/>
            <a:ext cx="4937760" cy="457200"/>
          </a:xfrm>
          <a:prstGeom prst="rect">
            <a:avLst/>
          </a:prstGeom>
          <a:noFill/>
        </p:spPr>
        <p:txBody>
          <a:bodyPr wrap="square" anchor="t" lIns="0" rIns="0" tIns="0" bIns="0">
            <a:spAutoFit/>
          </a:bodyPr>
          <a:lstStyle/>
          <a:p>
            <a:pPr algn="l">
              <a:lnSpc>
                <a:spcPct val="125000"/>
              </a:lnSpc>
            </a:pPr>
            <a:r>
              <a:rPr sz="2000" b="1" i="0">
                <a:solidFill>
                  <a:srgbClr val="0F3460"/>
                </a:solidFill>
                <a:latin typeface="Helvetica Neue"/>
              </a:rPr>
              <a:t>AGENTIC</a:t>
            </a:r>
          </a:p>
        </p:txBody>
      </p:sp>
      <p:sp>
        <p:nvSpPr>
          <p:cNvPr id="9" name="TextBox 8"/>
          <p:cNvSpPr txBox="1"/>
          <p:nvPr/>
        </p:nvSpPr>
        <p:spPr>
          <a:xfrm>
            <a:off x="6400800" y="2651760"/>
            <a:ext cx="4937760" cy="457200"/>
          </a:xfrm>
          <a:prstGeom prst="rect">
            <a:avLst/>
          </a:prstGeom>
          <a:noFill/>
        </p:spPr>
        <p:txBody>
          <a:bodyPr wrap="square" anchor="t" lIns="0" rIns="0" tIns="0" bIns="0">
            <a:spAutoFit/>
          </a:bodyPr>
          <a:lstStyle/>
          <a:p>
            <a:pPr algn="l">
              <a:lnSpc>
                <a:spcPct val="125000"/>
              </a:lnSpc>
            </a:pPr>
            <a:r>
              <a:rPr sz="1600" b="0" i="0">
                <a:solidFill>
                  <a:srgbClr val="0B0B0F"/>
                </a:solidFill>
                <a:latin typeface="Helvetica Neue"/>
              </a:rPr>
              <a:t>Stateful · Proactive · Multi-step</a:t>
            </a:r>
          </a:p>
        </p:txBody>
      </p:sp>
      <p:sp>
        <p:nvSpPr>
          <p:cNvPr id="10" name="TextBox 9"/>
          <p:cNvSpPr txBox="1"/>
          <p:nvPr/>
        </p:nvSpPr>
        <p:spPr>
          <a:xfrm>
            <a:off x="6400800" y="3291840"/>
            <a:ext cx="4937760" cy="2286000"/>
          </a:xfrm>
          <a:prstGeom prst="rect">
            <a:avLst/>
          </a:prstGeom>
          <a:noFill/>
        </p:spPr>
        <p:txBody>
          <a:bodyPr wrap="square" lIns="0" rIns="0" tIns="0" bIns="0">
            <a:spAutoFit/>
          </a:bodyPr>
          <a:lstStyle/>
          <a:p>
            <a:pPr>
              <a:lnSpc>
                <a:spcPct val="135000"/>
              </a:lnSpc>
              <a:spcAft>
                <a:spcPts val="600"/>
              </a:spcAft>
            </a:pPr>
            <a:r>
              <a:rPr sz="1400" b="1">
                <a:solidFill>
                  <a:srgbClr val="0F3460"/>
                </a:solidFill>
                <a:latin typeface="Helvetica Neue"/>
              </a:rPr>
              <a:t>—  </a:t>
            </a:r>
            <a:r>
              <a:rPr sz="1400">
                <a:solidFill>
                  <a:srgbClr val="0B0B0F"/>
                </a:solidFill>
                <a:latin typeface="Helvetica Neue"/>
              </a:rPr>
              <a:t>A goal-directed system: plan → act → observe → replan</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State persists; tools are invoked; failures trigger retries</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The unit of value is the resolved decision</a:t>
            </a:r>
          </a:p>
        </p:txBody>
      </p:sp>
      <p:sp>
        <p:nvSpPr>
          <p:cNvPr id="11" name="TextBox 10"/>
          <p:cNvSpPr txBox="1"/>
          <p:nvPr/>
        </p:nvSpPr>
        <p:spPr>
          <a:xfrm>
            <a:off x="822960" y="5943600"/>
            <a:ext cx="10515600" cy="457200"/>
          </a:xfrm>
          <a:prstGeom prst="rect">
            <a:avLst/>
          </a:prstGeom>
          <a:noFill/>
        </p:spPr>
        <p:txBody>
          <a:bodyPr wrap="square" anchor="t" lIns="0" rIns="0" tIns="0" bIns="0">
            <a:spAutoFit/>
          </a:bodyPr>
          <a:lstStyle/>
          <a:p>
            <a:pPr algn="ctr">
              <a:lnSpc>
                <a:spcPct val="125000"/>
              </a:lnSpc>
            </a:pPr>
            <a:r>
              <a:rPr sz="1800" b="0" i="1">
                <a:solidFill>
                  <a:srgbClr val="0B0B0F"/>
                </a:solidFill>
                <a:latin typeface="Helvetica Neue"/>
              </a:rPr>
              <a:t>The model is the engine. The agent is the vehicle.</a:t>
            </a:r>
          </a:p>
        </p:txBody>
      </p:sp>
      <p:sp>
        <p:nvSpPr>
          <p:cNvPr id="12" name="TextBox 11"/>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Three capabilities, one closed system.</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sp>
        <p:nvSpPr>
          <p:cNvPr id="4" name="Oval 3"/>
          <p:cNvSpPr/>
          <p:nvPr/>
        </p:nvSpPr>
        <p:spPr>
          <a:xfrm>
            <a:off x="2752344" y="2697480"/>
            <a:ext cx="1554480" cy="1554480"/>
          </a:xfrm>
          <a:prstGeom prst="ellipse">
            <a:avLst/>
          </a:prstGeom>
          <a:noFill/>
          <a:ln w="190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2249424" y="3310128"/>
            <a:ext cx="2560320" cy="365760"/>
          </a:xfrm>
          <a:prstGeom prst="rect">
            <a:avLst/>
          </a:prstGeom>
          <a:noFill/>
        </p:spPr>
        <p:txBody>
          <a:bodyPr wrap="square" anchor="t" lIns="0" rIns="0" tIns="0" bIns="0">
            <a:spAutoFit/>
          </a:bodyPr>
          <a:lstStyle/>
          <a:p>
            <a:pPr algn="ctr">
              <a:lnSpc>
                <a:spcPct val="125000"/>
              </a:lnSpc>
            </a:pPr>
            <a:r>
              <a:rPr sz="1400" b="1" i="0">
                <a:solidFill>
                  <a:srgbClr val="0B0B0F"/>
                </a:solidFill>
                <a:latin typeface="Helvetica Neue"/>
              </a:rPr>
              <a:t>PERCEPTION</a:t>
            </a:r>
          </a:p>
        </p:txBody>
      </p:sp>
      <p:sp>
        <p:nvSpPr>
          <p:cNvPr id="6" name="Oval 5"/>
          <p:cNvSpPr/>
          <p:nvPr/>
        </p:nvSpPr>
        <p:spPr>
          <a:xfrm>
            <a:off x="5312664" y="2697480"/>
            <a:ext cx="1554480" cy="1554480"/>
          </a:xfrm>
          <a:prstGeom prst="ellipse">
            <a:avLst/>
          </a:prstGeom>
          <a:noFill/>
          <a:ln w="190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09744" y="3310128"/>
            <a:ext cx="2560320" cy="365760"/>
          </a:xfrm>
          <a:prstGeom prst="rect">
            <a:avLst/>
          </a:prstGeom>
          <a:noFill/>
        </p:spPr>
        <p:txBody>
          <a:bodyPr wrap="square" anchor="t" lIns="0" rIns="0" tIns="0" bIns="0">
            <a:spAutoFit/>
          </a:bodyPr>
          <a:lstStyle/>
          <a:p>
            <a:pPr algn="ctr">
              <a:lnSpc>
                <a:spcPct val="125000"/>
              </a:lnSpc>
            </a:pPr>
            <a:r>
              <a:rPr sz="1400" b="1" i="0">
                <a:solidFill>
                  <a:srgbClr val="0B0B0F"/>
                </a:solidFill>
                <a:latin typeface="Helvetica Neue"/>
              </a:rPr>
              <a:t>REASONING</a:t>
            </a:r>
          </a:p>
        </p:txBody>
      </p:sp>
      <p:sp>
        <p:nvSpPr>
          <p:cNvPr id="8" name="Oval 7"/>
          <p:cNvSpPr/>
          <p:nvPr/>
        </p:nvSpPr>
        <p:spPr>
          <a:xfrm>
            <a:off x="7872984" y="2697480"/>
            <a:ext cx="1554480" cy="1554480"/>
          </a:xfrm>
          <a:prstGeom prst="ellipse">
            <a:avLst/>
          </a:prstGeom>
          <a:noFill/>
          <a:ln w="190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70064" y="3310128"/>
            <a:ext cx="2560320" cy="365760"/>
          </a:xfrm>
          <a:prstGeom prst="rect">
            <a:avLst/>
          </a:prstGeom>
          <a:noFill/>
        </p:spPr>
        <p:txBody>
          <a:bodyPr wrap="square" anchor="t" lIns="0" rIns="0" tIns="0" bIns="0">
            <a:spAutoFit/>
          </a:bodyPr>
          <a:lstStyle/>
          <a:p>
            <a:pPr algn="ctr">
              <a:lnSpc>
                <a:spcPct val="125000"/>
              </a:lnSpc>
            </a:pPr>
            <a:r>
              <a:rPr sz="1400" b="1" i="0">
                <a:solidFill>
                  <a:srgbClr val="0B0B0F"/>
                </a:solidFill>
                <a:latin typeface="Helvetica Neue"/>
              </a:rPr>
              <a:t>ACTION</a:t>
            </a:r>
          </a:p>
        </p:txBody>
      </p:sp>
      <p:cxnSp>
        <p:nvCxnSpPr>
          <p:cNvPr id="10" name="Connector 9"/>
          <p:cNvCxnSpPr/>
          <p:nvPr/>
        </p:nvCxnSpPr>
        <p:spPr>
          <a:xfrm>
            <a:off x="4352544" y="3474720"/>
            <a:ext cx="914400" cy="0"/>
          </a:xfrm>
          <a:prstGeom prst="line">
            <a:avLst/>
          </a:prstGeom>
          <a:ln w="19050">
            <a:solidFill>
              <a:srgbClr val="0F34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12864" y="3474720"/>
            <a:ext cx="914400" cy="0"/>
          </a:xfrm>
          <a:prstGeom prst="line">
            <a:avLst/>
          </a:prstGeom>
          <a:ln w="19050">
            <a:solidFill>
              <a:srgbClr val="0F34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650224" y="4343400"/>
            <a:ext cx="0" cy="411480"/>
          </a:xfrm>
          <a:prstGeom prst="line">
            <a:avLst/>
          </a:prstGeom>
          <a:ln w="12700">
            <a:solidFill>
              <a:srgbClr val="0F34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3529584" y="4754880"/>
            <a:ext cx="5120640" cy="0"/>
          </a:xfrm>
          <a:prstGeom prst="line">
            <a:avLst/>
          </a:prstGeom>
          <a:ln w="12700">
            <a:solidFill>
              <a:srgbClr val="0F34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529584" y="4343400"/>
            <a:ext cx="0" cy="411480"/>
          </a:xfrm>
          <a:prstGeom prst="line">
            <a:avLst/>
          </a:prstGeom>
          <a:ln w="12700">
            <a:solidFill>
              <a:srgbClr val="0F34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22960" y="5486400"/>
            <a:ext cx="10515600" cy="365760"/>
          </a:xfrm>
          <a:prstGeom prst="rect">
            <a:avLst/>
          </a:prstGeom>
          <a:noFill/>
        </p:spPr>
        <p:txBody>
          <a:bodyPr wrap="square" anchor="t" lIns="0" rIns="0" tIns="0" bIns="0">
            <a:spAutoFit/>
          </a:bodyPr>
          <a:lstStyle/>
          <a:p>
            <a:pPr algn="ctr">
              <a:lnSpc>
                <a:spcPct val="125000"/>
              </a:lnSpc>
            </a:pPr>
            <a:r>
              <a:rPr sz="1400" b="0" i="1">
                <a:solidFill>
                  <a:srgbClr val="9AA0A6"/>
                </a:solidFill>
                <a:latin typeface="Helvetica Neue"/>
              </a:rPr>
              <a:t>Each loop iteration narrows uncertainty.</a:t>
            </a:r>
          </a:p>
        </p:txBody>
      </p:sp>
      <p:sp>
        <p:nvSpPr>
          <p:cNvPr id="16" name="TextBox 15"/>
          <p:cNvSpPr txBox="1"/>
          <p:nvPr/>
        </p:nvSpPr>
        <p:spPr>
          <a:xfrm>
            <a:off x="822960" y="5943600"/>
            <a:ext cx="10515600" cy="640080"/>
          </a:xfrm>
          <a:prstGeom prst="rect">
            <a:avLst/>
          </a:prstGeom>
          <a:noFill/>
        </p:spPr>
        <p:txBody>
          <a:bodyPr wrap="square" lIns="0" rIns="0" tIns="0" bIns="0">
            <a:spAutoFit/>
          </a:bodyPr>
          <a:lstStyle/>
          <a:p>
            <a:pPr>
              <a:lnSpc>
                <a:spcPct val="135000"/>
              </a:lnSpc>
              <a:spcAft>
                <a:spcPts val="600"/>
              </a:spcAft>
            </a:pPr>
            <a:r>
              <a:rPr sz="1200" b="1">
                <a:solidFill>
                  <a:srgbClr val="0F3460"/>
                </a:solidFill>
                <a:latin typeface="Helvetica Neue"/>
              </a:rPr>
              <a:t>—  </a:t>
            </a:r>
            <a:r>
              <a:rPr sz="1200">
                <a:solidFill>
                  <a:srgbClr val="0B0B0F"/>
                </a:solidFill>
                <a:latin typeface="Helvetica Neue"/>
              </a:rPr>
              <a:t>Perception ingests structured + unstructured signals · Reasoning applies AMC, Shell, ECOMO · Action writes outputs and triggers tools.</a:t>
            </a:r>
          </a:p>
        </p:txBody>
      </p:sp>
      <p:sp>
        <p:nvSpPr>
          <p:cNvPr id="17" name="TextBox 16"/>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Decomposition is the hidden multiplier of agent quality.</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4169664" y="2011680"/>
            <a:ext cx="3840480" cy="640080"/>
          </a:xfrm>
          <a:prstGeom prst="roundRect">
            <a:avLst/>
          </a:prstGeom>
          <a:noFill/>
          <a:ln w="190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169664" y="2011680"/>
            <a:ext cx="3840480" cy="640080"/>
          </a:xfrm>
          <a:prstGeom prst="rect">
            <a:avLst/>
          </a:prstGeom>
          <a:noFill/>
        </p:spPr>
        <p:txBody>
          <a:bodyPr wrap="square" anchor="ctr" lIns="0" rIns="0" tIns="0" bIns="0">
            <a:spAutoFit/>
          </a:bodyPr>
          <a:lstStyle/>
          <a:p>
            <a:pPr algn="ctr">
              <a:lnSpc>
                <a:spcPct val="125000"/>
              </a:lnSpc>
            </a:pPr>
            <a:r>
              <a:rPr sz="1400" b="1" i="0">
                <a:solidFill>
                  <a:srgbClr val="0B0B0F"/>
                </a:solidFill>
                <a:latin typeface="Helvetica Neue"/>
              </a:rPr>
              <a:t>Decide market entry</a:t>
            </a:r>
          </a:p>
        </p:txBody>
      </p:sp>
      <p:sp>
        <p:nvSpPr>
          <p:cNvPr id="6" name="Rounded Rectangle 5"/>
          <p:cNvSpPr/>
          <p:nvPr/>
        </p:nvSpPr>
        <p:spPr>
          <a:xfrm>
            <a:off x="877824" y="3291840"/>
            <a:ext cx="2194560" cy="548640"/>
          </a:xfrm>
          <a:prstGeom prst="round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77824" y="3291840"/>
            <a:ext cx="2194560" cy="548640"/>
          </a:xfrm>
          <a:prstGeom prst="rect">
            <a:avLst/>
          </a:prstGeom>
          <a:noFill/>
        </p:spPr>
        <p:txBody>
          <a:bodyPr wrap="square" anchor="ctr" lIns="0" rIns="0" tIns="0" bIns="0">
            <a:spAutoFit/>
          </a:bodyPr>
          <a:lstStyle/>
          <a:p>
            <a:pPr algn="ctr">
              <a:lnSpc>
                <a:spcPct val="125000"/>
              </a:lnSpc>
            </a:pPr>
            <a:r>
              <a:rPr sz="1200" b="0" i="0">
                <a:solidFill>
                  <a:srgbClr val="0B0B0F"/>
                </a:solidFill>
                <a:latin typeface="Helvetica Neue"/>
              </a:rPr>
              <a:t>Map competitors</a:t>
            </a:r>
          </a:p>
        </p:txBody>
      </p:sp>
      <p:cxnSp>
        <p:nvCxnSpPr>
          <p:cNvPr id="8" name="Connector 7"/>
          <p:cNvCxnSpPr/>
          <p:nvPr/>
        </p:nvCxnSpPr>
        <p:spPr>
          <a:xfrm flipH="1">
            <a:off x="1975104" y="2651760"/>
            <a:ext cx="4114800" cy="640080"/>
          </a:xfrm>
          <a:prstGeom prst="line">
            <a:avLst/>
          </a:prstGeom>
          <a:ln w="95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77824" y="4023360"/>
            <a:ext cx="2194560" cy="274320"/>
          </a:xfrm>
          <a:prstGeom prst="rect">
            <a:avLst/>
          </a:prstGeom>
          <a:noFill/>
        </p:spPr>
        <p:txBody>
          <a:bodyPr wrap="square" anchor="t" lIns="0" rIns="0" tIns="0" bIns="0">
            <a:spAutoFit/>
          </a:bodyPr>
          <a:lstStyle/>
          <a:p>
            <a:pPr algn="ctr">
              <a:lnSpc>
                <a:spcPct val="125000"/>
              </a:lnSpc>
            </a:pPr>
            <a:r>
              <a:rPr sz="1400" b="0" i="0">
                <a:solidFill>
                  <a:srgbClr val="9AA0A6"/>
                </a:solidFill>
                <a:latin typeface="Helvetica Neue"/>
              </a:rPr>
              <a:t>•  •  •</a:t>
            </a:r>
          </a:p>
        </p:txBody>
      </p:sp>
      <p:sp>
        <p:nvSpPr>
          <p:cNvPr id="10" name="Rounded Rectangle 9"/>
          <p:cNvSpPr/>
          <p:nvPr/>
        </p:nvSpPr>
        <p:spPr>
          <a:xfrm>
            <a:off x="3621024" y="3291840"/>
            <a:ext cx="2194560" cy="548640"/>
          </a:xfrm>
          <a:prstGeom prst="round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21024" y="3291840"/>
            <a:ext cx="2194560" cy="548640"/>
          </a:xfrm>
          <a:prstGeom prst="rect">
            <a:avLst/>
          </a:prstGeom>
          <a:noFill/>
        </p:spPr>
        <p:txBody>
          <a:bodyPr wrap="square" anchor="ctr" lIns="0" rIns="0" tIns="0" bIns="0">
            <a:spAutoFit/>
          </a:bodyPr>
          <a:lstStyle/>
          <a:p>
            <a:pPr algn="ctr">
              <a:lnSpc>
                <a:spcPct val="125000"/>
              </a:lnSpc>
            </a:pPr>
            <a:r>
              <a:rPr sz="1200" b="0" i="0">
                <a:solidFill>
                  <a:srgbClr val="0B0B0F"/>
                </a:solidFill>
                <a:latin typeface="Helvetica Neue"/>
              </a:rPr>
              <a:t>Score AMC</a:t>
            </a:r>
          </a:p>
        </p:txBody>
      </p:sp>
      <p:cxnSp>
        <p:nvCxnSpPr>
          <p:cNvPr id="12" name="Connector 11"/>
          <p:cNvCxnSpPr/>
          <p:nvPr/>
        </p:nvCxnSpPr>
        <p:spPr>
          <a:xfrm flipH="1">
            <a:off x="4718304" y="2651760"/>
            <a:ext cx="1371600" cy="640080"/>
          </a:xfrm>
          <a:prstGeom prst="line">
            <a:avLst/>
          </a:prstGeom>
          <a:ln w="95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21024" y="4023360"/>
            <a:ext cx="2194560" cy="274320"/>
          </a:xfrm>
          <a:prstGeom prst="rect">
            <a:avLst/>
          </a:prstGeom>
          <a:noFill/>
        </p:spPr>
        <p:txBody>
          <a:bodyPr wrap="square" anchor="t" lIns="0" rIns="0" tIns="0" bIns="0">
            <a:spAutoFit/>
          </a:bodyPr>
          <a:lstStyle/>
          <a:p>
            <a:pPr algn="ctr">
              <a:lnSpc>
                <a:spcPct val="125000"/>
              </a:lnSpc>
            </a:pPr>
            <a:r>
              <a:rPr sz="1400" b="0" i="0">
                <a:solidFill>
                  <a:srgbClr val="9AA0A6"/>
                </a:solidFill>
                <a:latin typeface="Helvetica Neue"/>
              </a:rPr>
              <a:t>•  •  •</a:t>
            </a:r>
          </a:p>
        </p:txBody>
      </p:sp>
      <p:sp>
        <p:nvSpPr>
          <p:cNvPr id="14" name="Rounded Rectangle 13"/>
          <p:cNvSpPr/>
          <p:nvPr/>
        </p:nvSpPr>
        <p:spPr>
          <a:xfrm>
            <a:off x="6364224" y="3291840"/>
            <a:ext cx="2194560" cy="548640"/>
          </a:xfrm>
          <a:prstGeom prst="round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64224" y="3291840"/>
            <a:ext cx="2194560" cy="548640"/>
          </a:xfrm>
          <a:prstGeom prst="rect">
            <a:avLst/>
          </a:prstGeom>
          <a:noFill/>
        </p:spPr>
        <p:txBody>
          <a:bodyPr wrap="square" anchor="ctr" lIns="0" rIns="0" tIns="0" bIns="0">
            <a:spAutoFit/>
          </a:bodyPr>
          <a:lstStyle/>
          <a:p>
            <a:pPr algn="ctr">
              <a:lnSpc>
                <a:spcPct val="125000"/>
              </a:lnSpc>
            </a:pPr>
            <a:r>
              <a:rPr sz="1200" b="0" i="0">
                <a:solidFill>
                  <a:srgbClr val="0B0B0F"/>
                </a:solidFill>
                <a:latin typeface="Helvetica Neue"/>
              </a:rPr>
              <a:t>Simulate scenarios</a:t>
            </a:r>
          </a:p>
        </p:txBody>
      </p:sp>
      <p:cxnSp>
        <p:nvCxnSpPr>
          <p:cNvPr id="16" name="Connector 15"/>
          <p:cNvCxnSpPr/>
          <p:nvPr/>
        </p:nvCxnSpPr>
        <p:spPr>
          <a:xfrm>
            <a:off x="6089904" y="2651760"/>
            <a:ext cx="1371600" cy="640080"/>
          </a:xfrm>
          <a:prstGeom prst="line">
            <a:avLst/>
          </a:prstGeom>
          <a:ln w="95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364224" y="4023360"/>
            <a:ext cx="2194560" cy="274320"/>
          </a:xfrm>
          <a:prstGeom prst="rect">
            <a:avLst/>
          </a:prstGeom>
          <a:noFill/>
        </p:spPr>
        <p:txBody>
          <a:bodyPr wrap="square" anchor="t" lIns="0" rIns="0" tIns="0" bIns="0">
            <a:spAutoFit/>
          </a:bodyPr>
          <a:lstStyle/>
          <a:p>
            <a:pPr algn="ctr">
              <a:lnSpc>
                <a:spcPct val="125000"/>
              </a:lnSpc>
            </a:pPr>
            <a:r>
              <a:rPr sz="1400" b="0" i="0">
                <a:solidFill>
                  <a:srgbClr val="9AA0A6"/>
                </a:solidFill>
                <a:latin typeface="Helvetica Neue"/>
              </a:rPr>
              <a:t>•  •  •</a:t>
            </a:r>
          </a:p>
        </p:txBody>
      </p:sp>
      <p:sp>
        <p:nvSpPr>
          <p:cNvPr id="18" name="Rounded Rectangle 17"/>
          <p:cNvSpPr/>
          <p:nvPr/>
        </p:nvSpPr>
        <p:spPr>
          <a:xfrm>
            <a:off x="9107424" y="3291840"/>
            <a:ext cx="2194560" cy="548640"/>
          </a:xfrm>
          <a:prstGeom prst="round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107424" y="3291840"/>
            <a:ext cx="2194560" cy="548640"/>
          </a:xfrm>
          <a:prstGeom prst="rect">
            <a:avLst/>
          </a:prstGeom>
          <a:noFill/>
        </p:spPr>
        <p:txBody>
          <a:bodyPr wrap="square" anchor="ctr" lIns="0" rIns="0" tIns="0" bIns="0">
            <a:spAutoFit/>
          </a:bodyPr>
          <a:lstStyle/>
          <a:p>
            <a:pPr algn="ctr">
              <a:lnSpc>
                <a:spcPct val="125000"/>
              </a:lnSpc>
            </a:pPr>
            <a:r>
              <a:rPr sz="1200" b="0" i="0">
                <a:solidFill>
                  <a:srgbClr val="0B0B0F"/>
                </a:solidFill>
                <a:latin typeface="Helvetica Neue"/>
              </a:rPr>
              <a:t>Value options</a:t>
            </a:r>
          </a:p>
        </p:txBody>
      </p:sp>
      <p:cxnSp>
        <p:nvCxnSpPr>
          <p:cNvPr id="20" name="Connector 19"/>
          <p:cNvCxnSpPr/>
          <p:nvPr/>
        </p:nvCxnSpPr>
        <p:spPr>
          <a:xfrm>
            <a:off x="6089904" y="2651760"/>
            <a:ext cx="4114800" cy="640080"/>
          </a:xfrm>
          <a:prstGeom prst="line">
            <a:avLst/>
          </a:prstGeom>
          <a:ln w="9525">
            <a:solidFill>
              <a:srgbClr val="9AA0A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107424" y="4023360"/>
            <a:ext cx="2194560" cy="274320"/>
          </a:xfrm>
          <a:prstGeom prst="rect">
            <a:avLst/>
          </a:prstGeom>
          <a:noFill/>
        </p:spPr>
        <p:txBody>
          <a:bodyPr wrap="square" anchor="t" lIns="0" rIns="0" tIns="0" bIns="0">
            <a:spAutoFit/>
          </a:bodyPr>
          <a:lstStyle/>
          <a:p>
            <a:pPr algn="ctr">
              <a:lnSpc>
                <a:spcPct val="125000"/>
              </a:lnSpc>
            </a:pPr>
            <a:r>
              <a:rPr sz="1400" b="0" i="0">
                <a:solidFill>
                  <a:srgbClr val="9AA0A6"/>
                </a:solidFill>
                <a:latin typeface="Helvetica Neue"/>
              </a:rPr>
              <a:t>•  •  •</a:t>
            </a:r>
          </a:p>
        </p:txBody>
      </p:sp>
      <p:sp>
        <p:nvSpPr>
          <p:cNvPr id="22" name="TextBox 21"/>
          <p:cNvSpPr txBox="1"/>
          <p:nvPr/>
        </p:nvSpPr>
        <p:spPr>
          <a:xfrm>
            <a:off x="10058400" y="4754880"/>
            <a:ext cx="1828800" cy="365760"/>
          </a:xfrm>
          <a:prstGeom prst="rect">
            <a:avLst/>
          </a:prstGeom>
          <a:noFill/>
        </p:spPr>
        <p:txBody>
          <a:bodyPr wrap="square" anchor="t" lIns="0" rIns="0" tIns="0" bIns="0">
            <a:spAutoFit/>
          </a:bodyPr>
          <a:lstStyle/>
          <a:p>
            <a:pPr algn="l">
              <a:lnSpc>
                <a:spcPct val="125000"/>
              </a:lnSpc>
            </a:pPr>
            <a:r>
              <a:rPr sz="1200" b="1" i="0">
                <a:solidFill>
                  <a:srgbClr val="0F3460"/>
                </a:solidFill>
                <a:latin typeface="Helvetica Neue"/>
              </a:rPr>
              <a:t>PLAN</a:t>
            </a:r>
          </a:p>
        </p:txBody>
      </p:sp>
      <p:sp>
        <p:nvSpPr>
          <p:cNvPr id="23" name="TextBox 22"/>
          <p:cNvSpPr txBox="1"/>
          <p:nvPr/>
        </p:nvSpPr>
        <p:spPr>
          <a:xfrm>
            <a:off x="10058400" y="5120640"/>
            <a:ext cx="1828800" cy="365760"/>
          </a:xfrm>
          <a:prstGeom prst="rect">
            <a:avLst/>
          </a:prstGeom>
          <a:noFill/>
        </p:spPr>
        <p:txBody>
          <a:bodyPr wrap="square" anchor="t" lIns="0" rIns="0" tIns="0" bIns="0">
            <a:spAutoFit/>
          </a:bodyPr>
          <a:lstStyle/>
          <a:p>
            <a:pPr algn="l">
              <a:lnSpc>
                <a:spcPct val="125000"/>
              </a:lnSpc>
            </a:pPr>
            <a:r>
              <a:rPr sz="1200" b="1" i="0">
                <a:solidFill>
                  <a:srgbClr val="0F3460"/>
                </a:solidFill>
                <a:latin typeface="Helvetica Neue"/>
              </a:rPr>
              <a:t>ACT</a:t>
            </a:r>
          </a:p>
        </p:txBody>
      </p:sp>
      <p:sp>
        <p:nvSpPr>
          <p:cNvPr id="24" name="TextBox 23"/>
          <p:cNvSpPr txBox="1"/>
          <p:nvPr/>
        </p:nvSpPr>
        <p:spPr>
          <a:xfrm>
            <a:off x="10058400" y="5486400"/>
            <a:ext cx="1828800" cy="365760"/>
          </a:xfrm>
          <a:prstGeom prst="rect">
            <a:avLst/>
          </a:prstGeom>
          <a:noFill/>
        </p:spPr>
        <p:txBody>
          <a:bodyPr wrap="square" anchor="t" lIns="0" rIns="0" tIns="0" bIns="0">
            <a:spAutoFit/>
          </a:bodyPr>
          <a:lstStyle/>
          <a:p>
            <a:pPr algn="l">
              <a:lnSpc>
                <a:spcPct val="125000"/>
              </a:lnSpc>
            </a:pPr>
            <a:r>
              <a:rPr sz="1200" b="1" i="0">
                <a:solidFill>
                  <a:srgbClr val="0F3460"/>
                </a:solidFill>
                <a:latin typeface="Helvetica Neue"/>
              </a:rPr>
              <a:t>OBSERVE</a:t>
            </a:r>
          </a:p>
        </p:txBody>
      </p:sp>
      <p:sp>
        <p:nvSpPr>
          <p:cNvPr id="25" name="TextBox 24"/>
          <p:cNvSpPr txBox="1"/>
          <p:nvPr/>
        </p:nvSpPr>
        <p:spPr>
          <a:xfrm>
            <a:off x="10058400" y="5852160"/>
            <a:ext cx="1828800" cy="365760"/>
          </a:xfrm>
          <a:prstGeom prst="rect">
            <a:avLst/>
          </a:prstGeom>
          <a:noFill/>
        </p:spPr>
        <p:txBody>
          <a:bodyPr wrap="square" anchor="t" lIns="0" rIns="0" tIns="0" bIns="0">
            <a:spAutoFit/>
          </a:bodyPr>
          <a:lstStyle/>
          <a:p>
            <a:pPr algn="l">
              <a:lnSpc>
                <a:spcPct val="125000"/>
              </a:lnSpc>
            </a:pPr>
            <a:r>
              <a:rPr sz="1200" b="1" i="0">
                <a:solidFill>
                  <a:srgbClr val="0F3460"/>
                </a:solidFill>
                <a:latin typeface="Helvetica Neue"/>
              </a:rPr>
              <a:t>REPLAN</a:t>
            </a:r>
          </a:p>
        </p:txBody>
      </p:sp>
      <p:sp>
        <p:nvSpPr>
          <p:cNvPr id="26" name="TextBox 25"/>
          <p:cNvSpPr txBox="1"/>
          <p:nvPr/>
        </p:nvSpPr>
        <p:spPr>
          <a:xfrm>
            <a:off x="822960" y="5943600"/>
            <a:ext cx="8961120" cy="365760"/>
          </a:xfrm>
          <a:prstGeom prst="rect">
            <a:avLst/>
          </a:prstGeom>
          <a:noFill/>
        </p:spPr>
        <p:txBody>
          <a:bodyPr wrap="square" anchor="t" lIns="0" rIns="0" tIns="0" bIns="0">
            <a:spAutoFit/>
          </a:bodyPr>
          <a:lstStyle/>
          <a:p>
            <a:pPr algn="l">
              <a:lnSpc>
                <a:spcPct val="125000"/>
              </a:lnSpc>
            </a:pPr>
            <a:r>
              <a:rPr sz="1400" b="0" i="1">
                <a:solidFill>
                  <a:srgbClr val="0B0B0F"/>
                </a:solidFill>
                <a:latin typeface="Helvetica Neue"/>
              </a:rPr>
              <a:t>Failure of one sub-goal triggers replanning, not failure of the system.</a:t>
            </a:r>
          </a:p>
        </p:txBody>
      </p:sp>
      <p:sp>
        <p:nvSpPr>
          <p:cNvPr id="27" name="TextBox 26"/>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An agent without tools is a brain in a jar.</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sp>
        <p:nvSpPr>
          <p:cNvPr id="4" name="Hexagon 3"/>
          <p:cNvSpPr/>
          <p:nvPr/>
        </p:nvSpPr>
        <p:spPr>
          <a:xfrm>
            <a:off x="5084064" y="3383280"/>
            <a:ext cx="2011680" cy="1280160"/>
          </a:xfrm>
          <a:prstGeom prst="hexagon">
            <a:avLst/>
          </a:prstGeom>
          <a:noFill/>
          <a:ln w="190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84064" y="3383280"/>
            <a:ext cx="2011680" cy="1280160"/>
          </a:xfrm>
          <a:prstGeom prst="rect">
            <a:avLst/>
          </a:prstGeom>
          <a:noFill/>
        </p:spPr>
        <p:txBody>
          <a:bodyPr wrap="square" anchor="ctr" lIns="0" rIns="0" tIns="0" bIns="0">
            <a:spAutoFit/>
          </a:bodyPr>
          <a:lstStyle/>
          <a:p>
            <a:pPr algn="ctr">
              <a:lnSpc>
                <a:spcPct val="125000"/>
              </a:lnSpc>
            </a:pPr>
            <a:r>
              <a:rPr sz="1800" b="1" i="0">
                <a:solidFill>
                  <a:srgbClr val="0F3460"/>
                </a:solidFill>
                <a:latin typeface="Helvetica Neue"/>
              </a:rPr>
              <a:t>AGENT</a:t>
            </a:r>
          </a:p>
        </p:txBody>
      </p:sp>
      <p:sp>
        <p:nvSpPr>
          <p:cNvPr id="6" name="Rectangle 5"/>
          <p:cNvSpPr/>
          <p:nvPr/>
        </p:nvSpPr>
        <p:spPr>
          <a:xfrm>
            <a:off x="5358384" y="1325880"/>
            <a:ext cx="1463040" cy="45720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358384" y="1325880"/>
            <a:ext cx="1463040" cy="45720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Web</a:t>
            </a:r>
          </a:p>
        </p:txBody>
      </p:sp>
      <p:cxnSp>
        <p:nvCxnSpPr>
          <p:cNvPr id="8" name="Connector 7"/>
          <p:cNvCxnSpPr/>
          <p:nvPr/>
        </p:nvCxnSpPr>
        <p:spPr>
          <a:xfrm flipV="1">
            <a:off x="6089904" y="1805940"/>
            <a:ext cx="0" cy="1513332"/>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7496496" y="2560321"/>
            <a:ext cx="1463040" cy="45720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6496" y="2560321"/>
            <a:ext cx="1463040" cy="45720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News API</a:t>
            </a:r>
          </a:p>
        </p:txBody>
      </p:sp>
      <p:cxnSp>
        <p:nvCxnSpPr>
          <p:cNvPr id="11" name="Connector 10"/>
          <p:cNvCxnSpPr/>
          <p:nvPr/>
        </p:nvCxnSpPr>
        <p:spPr>
          <a:xfrm flipV="1">
            <a:off x="6699662" y="2914650"/>
            <a:ext cx="1310584" cy="756667"/>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7496496" y="5029199"/>
            <a:ext cx="1463040" cy="45720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96496" y="5029199"/>
            <a:ext cx="1463040" cy="45720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Filings</a:t>
            </a:r>
          </a:p>
        </p:txBody>
      </p:sp>
      <p:cxnSp>
        <p:nvCxnSpPr>
          <p:cNvPr id="14" name="Connector 13"/>
          <p:cNvCxnSpPr/>
          <p:nvPr/>
        </p:nvCxnSpPr>
        <p:spPr>
          <a:xfrm>
            <a:off x="6699662" y="4375403"/>
            <a:ext cx="1310584" cy="756667"/>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5358384" y="6263640"/>
            <a:ext cx="1463040" cy="45720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358384" y="6263640"/>
            <a:ext cx="1463040" cy="45720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LinkedIn</a:t>
            </a:r>
          </a:p>
        </p:txBody>
      </p:sp>
      <p:cxnSp>
        <p:nvCxnSpPr>
          <p:cNvPr id="17" name="Connector 16"/>
          <p:cNvCxnSpPr/>
          <p:nvPr/>
        </p:nvCxnSpPr>
        <p:spPr>
          <a:xfrm>
            <a:off x="6089904" y="4727448"/>
            <a:ext cx="0" cy="1513332"/>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3220272" y="5029199"/>
            <a:ext cx="1463040" cy="45720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220272" y="5029199"/>
            <a:ext cx="1463040" cy="45720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Repo</a:t>
            </a:r>
          </a:p>
        </p:txBody>
      </p:sp>
      <p:cxnSp>
        <p:nvCxnSpPr>
          <p:cNvPr id="20" name="Connector 19"/>
          <p:cNvCxnSpPr/>
          <p:nvPr/>
        </p:nvCxnSpPr>
        <p:spPr>
          <a:xfrm flipH="1">
            <a:off x="4169562" y="4375403"/>
            <a:ext cx="1310584" cy="756667"/>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220272" y="2560320"/>
            <a:ext cx="1463040" cy="45720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220272" y="2560320"/>
            <a:ext cx="1463040" cy="45720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JSON store</a:t>
            </a:r>
          </a:p>
        </p:txBody>
      </p:sp>
      <p:cxnSp>
        <p:nvCxnSpPr>
          <p:cNvPr id="23" name="Connector 22"/>
          <p:cNvCxnSpPr/>
          <p:nvPr/>
        </p:nvCxnSpPr>
        <p:spPr>
          <a:xfrm flipH="1" flipV="1">
            <a:off x="4169562" y="2914650"/>
            <a:ext cx="1310584" cy="756666"/>
          </a:xfrm>
          <a:prstGeom prst="line">
            <a:avLst/>
          </a:prstGeom>
          <a:ln w="9525">
            <a:solidFill>
              <a:srgbClr val="9AA0A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60" y="6126480"/>
            <a:ext cx="10515600" cy="457200"/>
          </a:xfrm>
          <a:prstGeom prst="rect">
            <a:avLst/>
          </a:prstGeom>
          <a:noFill/>
        </p:spPr>
        <p:txBody>
          <a:bodyPr wrap="square" anchor="t" lIns="0" rIns="0" tIns="0" bIns="0">
            <a:spAutoFit/>
          </a:bodyPr>
          <a:lstStyle/>
          <a:p>
            <a:pPr algn="ctr">
              <a:lnSpc>
                <a:spcPct val="125000"/>
              </a:lnSpc>
            </a:pPr>
            <a:r>
              <a:rPr sz="1400" b="0" i="1">
                <a:solidFill>
                  <a:srgbClr val="9AA0A6"/>
                </a:solidFill>
                <a:latin typeface="Helvetica Neue"/>
              </a:rPr>
              <a:t>In our system: 12 verified sources across 4 tool categories.</a:t>
            </a:r>
          </a:p>
        </p:txBody>
      </p:sp>
      <p:sp>
        <p:nvSpPr>
          <p:cNvPr id="25" name="TextBox 24"/>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Short-term for reasoning. Long-term for compounding intelligence.</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822960" y="2194560"/>
            <a:ext cx="4572000" cy="3108960"/>
          </a:xfrm>
          <a:prstGeom prst="rect">
            <a:avLst/>
          </a:prstGeom>
          <a:noFill/>
          <a:ln w="6350">
            <a:solidFill>
              <a:srgbClr val="9AA0A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97280" y="2377440"/>
            <a:ext cx="4023360" cy="457200"/>
          </a:xfrm>
          <a:prstGeom prst="rect">
            <a:avLst/>
          </a:prstGeom>
          <a:noFill/>
        </p:spPr>
        <p:txBody>
          <a:bodyPr wrap="square" anchor="t" lIns="0" rIns="0" tIns="0" bIns="0">
            <a:spAutoFit/>
          </a:bodyPr>
          <a:lstStyle/>
          <a:p>
            <a:pPr algn="l">
              <a:lnSpc>
                <a:spcPct val="125000"/>
              </a:lnSpc>
            </a:pPr>
            <a:r>
              <a:rPr sz="1400" b="1" i="0">
                <a:solidFill>
                  <a:srgbClr val="0F3460"/>
                </a:solidFill>
                <a:latin typeface="Helvetica Neue"/>
              </a:rPr>
              <a:t>SHORT-TERM</a:t>
            </a:r>
          </a:p>
        </p:txBody>
      </p:sp>
      <p:sp>
        <p:nvSpPr>
          <p:cNvPr id="6" name="TextBox 5"/>
          <p:cNvSpPr txBox="1"/>
          <p:nvPr/>
        </p:nvSpPr>
        <p:spPr>
          <a:xfrm>
            <a:off x="1097280" y="2834640"/>
            <a:ext cx="4023360" cy="45720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Working context · transient</a:t>
            </a:r>
          </a:p>
        </p:txBody>
      </p:sp>
      <p:sp>
        <p:nvSpPr>
          <p:cNvPr id="7" name="Rectangle 6"/>
          <p:cNvSpPr/>
          <p:nvPr/>
        </p:nvSpPr>
        <p:spPr>
          <a:xfrm>
            <a:off x="1920240" y="3566160"/>
            <a:ext cx="2377440" cy="320040"/>
          </a:xfrm>
          <a:prstGeom prst="rect">
            <a:avLst/>
          </a:prstGeom>
          <a:solidFill>
            <a:srgbClr val="FAFAFA"/>
          </a:solidFill>
          <a:ln w="6350">
            <a:solidFill>
              <a:srgbClr val="9AA0A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920240" y="4023360"/>
            <a:ext cx="2377440" cy="320040"/>
          </a:xfrm>
          <a:prstGeom prst="rect">
            <a:avLst/>
          </a:prstGeom>
          <a:solidFill>
            <a:srgbClr val="FAFAFA"/>
          </a:solidFill>
          <a:ln w="6350">
            <a:solidFill>
              <a:srgbClr val="9AA0A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1920240" y="4480560"/>
            <a:ext cx="2377440" cy="320040"/>
          </a:xfrm>
          <a:prstGeom prst="rect">
            <a:avLst/>
          </a:prstGeom>
          <a:solidFill>
            <a:srgbClr val="FAFAFA"/>
          </a:solidFill>
          <a:ln w="6350">
            <a:solidFill>
              <a:srgbClr val="9AA0A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766560" y="2194560"/>
            <a:ext cx="4572000" cy="3108960"/>
          </a:xfrm>
          <a:prstGeom prst="rect">
            <a:avLst/>
          </a:prstGeom>
          <a:noFill/>
          <a:ln w="9525">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40880" y="2377440"/>
            <a:ext cx="4023360" cy="457200"/>
          </a:xfrm>
          <a:prstGeom prst="rect">
            <a:avLst/>
          </a:prstGeom>
          <a:noFill/>
        </p:spPr>
        <p:txBody>
          <a:bodyPr wrap="square" anchor="t" lIns="0" rIns="0" tIns="0" bIns="0">
            <a:spAutoFit/>
          </a:bodyPr>
          <a:lstStyle/>
          <a:p>
            <a:pPr algn="l">
              <a:lnSpc>
                <a:spcPct val="125000"/>
              </a:lnSpc>
            </a:pPr>
            <a:r>
              <a:rPr sz="1400" b="1" i="0">
                <a:solidFill>
                  <a:srgbClr val="0F3460"/>
                </a:solidFill>
                <a:latin typeface="Helvetica Neue"/>
              </a:rPr>
              <a:t>LONG-TERM</a:t>
            </a:r>
          </a:p>
        </p:txBody>
      </p:sp>
      <p:sp>
        <p:nvSpPr>
          <p:cNvPr id="12" name="TextBox 11"/>
          <p:cNvSpPr txBox="1"/>
          <p:nvPr/>
        </p:nvSpPr>
        <p:spPr>
          <a:xfrm>
            <a:off x="7040880" y="2834640"/>
            <a:ext cx="4023360" cy="45720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Persisted artefacts · compounding</a:t>
            </a:r>
          </a:p>
        </p:txBody>
      </p:sp>
      <p:sp>
        <p:nvSpPr>
          <p:cNvPr id="13" name="Oval 12"/>
          <p:cNvSpPr/>
          <p:nvPr/>
        </p:nvSpPr>
        <p:spPr>
          <a:xfrm>
            <a:off x="7406640" y="347472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909560" y="347472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412480" y="347472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8915400" y="347472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418320" y="347472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9921240" y="347472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406640" y="384048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909560" y="384048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412480" y="384048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8915400" y="384048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9418320" y="384048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9921240" y="384048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406640" y="420624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09560" y="420624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412480" y="420624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915400" y="420624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9418320" y="420624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9921240" y="420624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7406640" y="457200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7909560" y="457200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412480" y="457200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915400" y="457200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9418320" y="457200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9921240" y="4572000"/>
            <a:ext cx="91440" cy="91440"/>
          </a:xfrm>
          <a:prstGeom prst="ellipse">
            <a:avLst/>
          </a:prstGeom>
          <a:solidFill>
            <a:srgbClr val="0F3460"/>
          </a:solidFill>
          <a:ln w="635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7" name="Connector 36"/>
          <p:cNvCxnSpPr/>
          <p:nvPr/>
        </p:nvCxnSpPr>
        <p:spPr>
          <a:xfrm>
            <a:off x="5486400" y="3749040"/>
            <a:ext cx="1188720" cy="0"/>
          </a:xfrm>
          <a:prstGeom prst="line">
            <a:avLst/>
          </a:prstGeom>
          <a:ln w="15875">
            <a:solidFill>
              <a:srgbClr val="0F34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40680" y="3886200"/>
            <a:ext cx="1371600" cy="365760"/>
          </a:xfrm>
          <a:prstGeom prst="rect">
            <a:avLst/>
          </a:prstGeom>
          <a:noFill/>
        </p:spPr>
        <p:txBody>
          <a:bodyPr wrap="square" anchor="t" lIns="0" rIns="0" tIns="0" bIns="0">
            <a:spAutoFit/>
          </a:bodyPr>
          <a:lstStyle/>
          <a:p>
            <a:pPr algn="ctr">
              <a:lnSpc>
                <a:spcPct val="125000"/>
              </a:lnSpc>
            </a:pPr>
            <a:r>
              <a:rPr sz="1100" b="0" i="1">
                <a:solidFill>
                  <a:srgbClr val="9AA0A6"/>
                </a:solidFill>
                <a:latin typeface="Helvetica Neue"/>
              </a:rPr>
              <a:t>Distillation</a:t>
            </a:r>
          </a:p>
        </p:txBody>
      </p:sp>
      <p:sp>
        <p:nvSpPr>
          <p:cNvPr id="39" name="TextBox 38"/>
          <p:cNvSpPr txBox="1"/>
          <p:nvPr/>
        </p:nvSpPr>
        <p:spPr>
          <a:xfrm>
            <a:off x="822960" y="5852160"/>
            <a:ext cx="10515600" cy="457200"/>
          </a:xfrm>
          <a:prstGeom prst="rect">
            <a:avLst/>
          </a:prstGeom>
          <a:noFill/>
        </p:spPr>
        <p:txBody>
          <a:bodyPr wrap="square" anchor="t" lIns="0" rIns="0" tIns="0" bIns="0">
            <a:spAutoFit/>
          </a:bodyPr>
          <a:lstStyle/>
          <a:p>
            <a:pPr algn="ctr">
              <a:lnSpc>
                <a:spcPct val="125000"/>
              </a:lnSpc>
            </a:pPr>
            <a:r>
              <a:rPr sz="1800" b="0" i="0">
                <a:solidFill>
                  <a:srgbClr val="0B0B0F"/>
                </a:solidFill>
                <a:latin typeface="Helvetica Neue"/>
              </a:rPr>
              <a:t>Weekly EWS run + persistent KII state = compounding intelligence.</a:t>
            </a:r>
          </a:p>
        </p:txBody>
      </p:sp>
      <p:sp>
        <p:nvSpPr>
          <p:cNvPr id="40" name="TextBox 39"/>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Six weeks of analyst work, compressed into ninety seconds.</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22960" y="3200400"/>
            <a:ext cx="7772400" cy="0"/>
          </a:xfrm>
          <a:prstGeom prst="line">
            <a:avLst/>
          </a:prstGeom>
          <a:ln w="15875">
            <a:solidFill>
              <a:srgbClr val="0F3460"/>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822960" y="3040380"/>
            <a:ext cx="4572000" cy="320040"/>
          </a:xfrm>
          <a:prstGeom prst="rect">
            <a:avLst/>
          </a:prstGeom>
          <a:solidFill>
            <a:srgbClr val="FAFAFA"/>
          </a:solidFill>
          <a:ln w="6350">
            <a:solidFill>
              <a:srgbClr val="9AA0A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60" y="3566160"/>
            <a:ext cx="4572000" cy="365760"/>
          </a:xfrm>
          <a:prstGeom prst="rect">
            <a:avLst/>
          </a:prstGeom>
          <a:noFill/>
        </p:spPr>
        <p:txBody>
          <a:bodyPr wrap="square" anchor="t" lIns="0" rIns="0" tIns="0" bIns="0">
            <a:spAutoFit/>
          </a:bodyPr>
          <a:lstStyle/>
          <a:p>
            <a:pPr algn="ctr">
              <a:lnSpc>
                <a:spcPct val="125000"/>
              </a:lnSpc>
            </a:pPr>
            <a:r>
              <a:rPr sz="1200" b="0" i="0">
                <a:solidFill>
                  <a:srgbClr val="9AA0A6"/>
                </a:solidFill>
                <a:latin typeface="Helvetica Neue"/>
              </a:rPr>
              <a:t>6 weeks · manual · 240 analyst-hours</a:t>
            </a:r>
          </a:p>
        </p:txBody>
      </p:sp>
      <p:sp>
        <p:nvSpPr>
          <p:cNvPr id="7" name="Oval 6"/>
          <p:cNvSpPr/>
          <p:nvPr/>
        </p:nvSpPr>
        <p:spPr>
          <a:xfrm>
            <a:off x="8229600" y="3017520"/>
            <a:ext cx="365760" cy="365760"/>
          </a:xfrm>
          <a:prstGeom prst="ellipse">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0" y="3566160"/>
            <a:ext cx="2194560" cy="365760"/>
          </a:xfrm>
          <a:prstGeom prst="rect">
            <a:avLst/>
          </a:prstGeom>
          <a:noFill/>
        </p:spPr>
        <p:txBody>
          <a:bodyPr wrap="square" anchor="t" lIns="0" rIns="0" tIns="0" bIns="0">
            <a:spAutoFit/>
          </a:bodyPr>
          <a:lstStyle/>
          <a:p>
            <a:pPr algn="ctr">
              <a:lnSpc>
                <a:spcPct val="125000"/>
              </a:lnSpc>
            </a:pPr>
            <a:r>
              <a:rPr sz="1200" b="1" i="0">
                <a:solidFill>
                  <a:srgbClr val="0F3460"/>
                </a:solidFill>
                <a:latin typeface="Helvetica Neue"/>
              </a:rPr>
              <a:t>90 seconds · agentic</a:t>
            </a:r>
          </a:p>
        </p:txBody>
      </p:sp>
      <p:sp>
        <p:nvSpPr>
          <p:cNvPr id="9" name="TextBox 8"/>
          <p:cNvSpPr txBox="1"/>
          <p:nvPr/>
        </p:nvSpPr>
        <p:spPr>
          <a:xfrm>
            <a:off x="9326880" y="1828800"/>
            <a:ext cx="2468880" cy="1280160"/>
          </a:xfrm>
          <a:prstGeom prst="rect">
            <a:avLst/>
          </a:prstGeom>
          <a:noFill/>
        </p:spPr>
        <p:txBody>
          <a:bodyPr wrap="square" anchor="t" lIns="0" rIns="0" tIns="0" bIns="0">
            <a:spAutoFit/>
          </a:bodyPr>
          <a:lstStyle/>
          <a:p>
            <a:pPr algn="ctr">
              <a:lnSpc>
                <a:spcPct val="125000"/>
              </a:lnSpc>
            </a:pPr>
            <a:r>
              <a:rPr sz="7200" b="1" i="0">
                <a:solidFill>
                  <a:srgbClr val="0F3460"/>
                </a:solidFill>
                <a:latin typeface="Helvetica Neue"/>
              </a:rPr>
              <a:t>87%</a:t>
            </a:r>
          </a:p>
        </p:txBody>
      </p:sp>
      <p:sp>
        <p:nvSpPr>
          <p:cNvPr id="10" name="TextBox 9"/>
          <p:cNvSpPr txBox="1"/>
          <p:nvPr/>
        </p:nvSpPr>
        <p:spPr>
          <a:xfrm>
            <a:off x="8869680" y="3200400"/>
            <a:ext cx="3108960" cy="365760"/>
          </a:xfrm>
          <a:prstGeom prst="rect">
            <a:avLst/>
          </a:prstGeom>
          <a:noFill/>
        </p:spPr>
        <p:txBody>
          <a:bodyPr wrap="square" anchor="t" lIns="0" rIns="0" tIns="0" bIns="0">
            <a:spAutoFit/>
          </a:bodyPr>
          <a:lstStyle/>
          <a:p>
            <a:pPr algn="ctr">
              <a:lnSpc>
                <a:spcPct val="125000"/>
              </a:lnSpc>
            </a:pPr>
            <a:r>
              <a:rPr sz="1200" b="0" i="0">
                <a:solidFill>
                  <a:srgbClr val="0B0B0F"/>
                </a:solidFill>
                <a:latin typeface="Helvetica Neue"/>
              </a:rPr>
              <a:t>Sanitas P(response)</a:t>
            </a:r>
          </a:p>
        </p:txBody>
      </p:sp>
      <p:sp>
        <p:nvSpPr>
          <p:cNvPr id="11" name="TextBox 10"/>
          <p:cNvSpPr txBox="1"/>
          <p:nvPr/>
        </p:nvSpPr>
        <p:spPr>
          <a:xfrm>
            <a:off x="8869680" y="3520440"/>
            <a:ext cx="3108960" cy="365760"/>
          </a:xfrm>
          <a:prstGeom prst="rect">
            <a:avLst/>
          </a:prstGeom>
          <a:noFill/>
        </p:spPr>
        <p:txBody>
          <a:bodyPr wrap="square" anchor="t" lIns="0" rIns="0" tIns="0" bIns="0">
            <a:spAutoFit/>
          </a:bodyPr>
          <a:lstStyle/>
          <a:p>
            <a:pPr algn="ctr">
              <a:lnSpc>
                <a:spcPct val="125000"/>
              </a:lnSpc>
            </a:pPr>
            <a:r>
              <a:rPr sz="1000" b="0" i="1">
                <a:solidFill>
                  <a:srgbClr val="9AA0A6"/>
                </a:solidFill>
                <a:latin typeface="Helvetica Neue"/>
              </a:rPr>
              <a:t>validated against 12 sources</a:t>
            </a:r>
          </a:p>
        </p:txBody>
      </p:sp>
      <p:sp>
        <p:nvSpPr>
          <p:cNvPr id="12" name="TextBox 11"/>
          <p:cNvSpPr txBox="1"/>
          <p:nvPr/>
        </p:nvSpPr>
        <p:spPr>
          <a:xfrm>
            <a:off x="822960" y="4846320"/>
            <a:ext cx="2286000" cy="36576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
            </a:r>
          </a:p>
        </p:txBody>
      </p:sp>
      <p:sp>
        <p:nvSpPr>
          <p:cNvPr id="13" name="TextBox 12"/>
          <p:cNvSpPr txBox="1"/>
          <p:nvPr/>
        </p:nvSpPr>
        <p:spPr>
          <a:xfrm>
            <a:off x="822960" y="4846320"/>
            <a:ext cx="2377440" cy="320040"/>
          </a:xfrm>
          <a:prstGeom prst="rect">
            <a:avLst/>
          </a:prstGeom>
          <a:noFill/>
        </p:spPr>
        <p:txBody>
          <a:bodyPr wrap="square" anchor="t" lIns="0" rIns="0" tIns="0" bIns="0">
            <a:spAutoFit/>
          </a:bodyPr>
          <a:lstStyle/>
          <a:p>
            <a:pPr algn="l">
              <a:lnSpc>
                <a:spcPct val="125000"/>
              </a:lnSpc>
            </a:pPr>
            <a:r>
              <a:rPr sz="1100" b="1" i="0">
                <a:solidFill>
                  <a:srgbClr val="0F3460"/>
                </a:solidFill>
                <a:latin typeface="Helvetica Neue"/>
              </a:rPr>
              <a:t/>
            </a:r>
          </a:p>
        </p:txBody>
      </p:sp>
      <p:sp>
        <p:nvSpPr>
          <p:cNvPr id="14" name="TextBox 13"/>
          <p:cNvSpPr txBox="1"/>
          <p:nvPr/>
        </p:nvSpPr>
        <p:spPr>
          <a:xfrm>
            <a:off x="3200400" y="4846320"/>
            <a:ext cx="2377440" cy="320040"/>
          </a:xfrm>
          <a:prstGeom prst="rect">
            <a:avLst/>
          </a:prstGeom>
          <a:noFill/>
        </p:spPr>
        <p:txBody>
          <a:bodyPr wrap="square" anchor="t" lIns="0" rIns="0" tIns="0" bIns="0">
            <a:spAutoFit/>
          </a:bodyPr>
          <a:lstStyle/>
          <a:p>
            <a:pPr algn="l">
              <a:lnSpc>
                <a:spcPct val="125000"/>
              </a:lnSpc>
            </a:pPr>
            <a:r>
              <a:rPr sz="1100" b="1" i="0">
                <a:solidFill>
                  <a:srgbClr val="0F3460"/>
                </a:solidFill>
                <a:latin typeface="Helvetica Neue"/>
              </a:rPr>
              <a:t>Manual</a:t>
            </a:r>
          </a:p>
        </p:txBody>
      </p:sp>
      <p:sp>
        <p:nvSpPr>
          <p:cNvPr id="15" name="TextBox 14"/>
          <p:cNvSpPr txBox="1"/>
          <p:nvPr/>
        </p:nvSpPr>
        <p:spPr>
          <a:xfrm>
            <a:off x="5577840" y="4846320"/>
            <a:ext cx="2377440" cy="320040"/>
          </a:xfrm>
          <a:prstGeom prst="rect">
            <a:avLst/>
          </a:prstGeom>
          <a:noFill/>
        </p:spPr>
        <p:txBody>
          <a:bodyPr wrap="square" anchor="t" lIns="0" rIns="0" tIns="0" bIns="0">
            <a:spAutoFit/>
          </a:bodyPr>
          <a:lstStyle/>
          <a:p>
            <a:pPr algn="l">
              <a:lnSpc>
                <a:spcPct val="125000"/>
              </a:lnSpc>
            </a:pPr>
            <a:r>
              <a:rPr sz="1100" b="1" i="0">
                <a:solidFill>
                  <a:srgbClr val="0F3460"/>
                </a:solidFill>
                <a:latin typeface="Helvetica Neue"/>
              </a:rPr>
              <a:t>Agentic</a:t>
            </a:r>
          </a:p>
        </p:txBody>
      </p:sp>
      <p:sp>
        <p:nvSpPr>
          <p:cNvPr id="16" name="TextBox 15"/>
          <p:cNvSpPr txBox="1"/>
          <p:nvPr/>
        </p:nvSpPr>
        <p:spPr>
          <a:xfrm>
            <a:off x="822960" y="525780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Hours</a:t>
            </a:r>
          </a:p>
        </p:txBody>
      </p:sp>
      <p:sp>
        <p:nvSpPr>
          <p:cNvPr id="17" name="TextBox 16"/>
          <p:cNvSpPr txBox="1"/>
          <p:nvPr/>
        </p:nvSpPr>
        <p:spPr>
          <a:xfrm>
            <a:off x="3200400" y="525780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 240</a:t>
            </a:r>
          </a:p>
        </p:txBody>
      </p:sp>
      <p:sp>
        <p:nvSpPr>
          <p:cNvPr id="18" name="TextBox 17"/>
          <p:cNvSpPr txBox="1"/>
          <p:nvPr/>
        </p:nvSpPr>
        <p:spPr>
          <a:xfrm>
            <a:off x="5577840" y="525780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 0.025</a:t>
            </a:r>
          </a:p>
        </p:txBody>
      </p:sp>
      <p:sp>
        <p:nvSpPr>
          <p:cNvPr id="19" name="TextBox 18"/>
          <p:cNvSpPr txBox="1"/>
          <p:nvPr/>
        </p:nvSpPr>
        <p:spPr>
          <a:xfrm>
            <a:off x="822960" y="562356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Refresh</a:t>
            </a:r>
          </a:p>
        </p:txBody>
      </p:sp>
      <p:sp>
        <p:nvSpPr>
          <p:cNvPr id="20" name="TextBox 19"/>
          <p:cNvSpPr txBox="1"/>
          <p:nvPr/>
        </p:nvSpPr>
        <p:spPr>
          <a:xfrm>
            <a:off x="3200400" y="562356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one-shot</a:t>
            </a:r>
          </a:p>
        </p:txBody>
      </p:sp>
      <p:sp>
        <p:nvSpPr>
          <p:cNvPr id="21" name="TextBox 20"/>
          <p:cNvSpPr txBox="1"/>
          <p:nvPr/>
        </p:nvSpPr>
        <p:spPr>
          <a:xfrm>
            <a:off x="5577840" y="562356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weekly</a:t>
            </a:r>
          </a:p>
        </p:txBody>
      </p:sp>
      <p:sp>
        <p:nvSpPr>
          <p:cNvPr id="22" name="TextBox 21"/>
          <p:cNvSpPr txBox="1"/>
          <p:nvPr/>
        </p:nvSpPr>
        <p:spPr>
          <a:xfrm>
            <a:off x="822960" y="598932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Audit trail</a:t>
            </a:r>
          </a:p>
        </p:txBody>
      </p:sp>
      <p:sp>
        <p:nvSpPr>
          <p:cNvPr id="23" name="TextBox 22"/>
          <p:cNvSpPr txBox="1"/>
          <p:nvPr/>
        </p:nvSpPr>
        <p:spPr>
          <a:xfrm>
            <a:off x="3200400" y="598932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manual</a:t>
            </a:r>
          </a:p>
        </p:txBody>
      </p:sp>
      <p:sp>
        <p:nvSpPr>
          <p:cNvPr id="24" name="TextBox 23"/>
          <p:cNvSpPr txBox="1"/>
          <p:nvPr/>
        </p:nvSpPr>
        <p:spPr>
          <a:xfrm>
            <a:off x="5577840" y="5989320"/>
            <a:ext cx="2377440" cy="320040"/>
          </a:xfrm>
          <a:prstGeom prst="rect">
            <a:avLst/>
          </a:prstGeom>
          <a:noFill/>
        </p:spPr>
        <p:txBody>
          <a:bodyPr wrap="square" anchor="t" lIns="0" rIns="0" tIns="0" bIns="0">
            <a:spAutoFit/>
          </a:bodyPr>
          <a:lstStyle/>
          <a:p>
            <a:pPr algn="l">
              <a:lnSpc>
                <a:spcPct val="125000"/>
              </a:lnSpc>
            </a:pPr>
            <a:r>
              <a:rPr sz="1100" b="0" i="0">
                <a:solidFill>
                  <a:srgbClr val="0B0B0F"/>
                </a:solidFill>
                <a:latin typeface="Helvetica Neue"/>
              </a:rPr>
              <a:t>automatic</a:t>
            </a:r>
          </a:p>
        </p:txBody>
      </p:sp>
      <p:sp>
        <p:nvSpPr>
          <p:cNvPr id="25" name="TextBox 24"/>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From indicators to actions, without a human in between.</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822960" y="5029200"/>
            <a:ext cx="1645920" cy="36576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5029200"/>
            <a:ext cx="1645920" cy="36576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 Nominal</a:t>
            </a:r>
          </a:p>
        </p:txBody>
      </p:sp>
      <p:sp>
        <p:nvSpPr>
          <p:cNvPr id="6" name="Rectangle 5"/>
          <p:cNvSpPr/>
          <p:nvPr/>
        </p:nvSpPr>
        <p:spPr>
          <a:xfrm>
            <a:off x="2468880" y="4572000"/>
            <a:ext cx="1645920" cy="36576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468880" y="4572000"/>
            <a:ext cx="1645920" cy="36576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 Alert</a:t>
            </a:r>
          </a:p>
        </p:txBody>
      </p:sp>
      <p:sp>
        <p:nvSpPr>
          <p:cNvPr id="8" name="Rectangle 7"/>
          <p:cNvSpPr/>
          <p:nvPr/>
        </p:nvSpPr>
        <p:spPr>
          <a:xfrm>
            <a:off x="4114800" y="4114800"/>
            <a:ext cx="1645920" cy="36576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114800" y="4114800"/>
            <a:ext cx="1645920" cy="36576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 Escalate</a:t>
            </a:r>
          </a:p>
        </p:txBody>
      </p:sp>
      <p:sp>
        <p:nvSpPr>
          <p:cNvPr id="10" name="Rectangle 9"/>
          <p:cNvSpPr/>
          <p:nvPr/>
        </p:nvSpPr>
        <p:spPr>
          <a:xfrm>
            <a:off x="5760720" y="3657600"/>
            <a:ext cx="1645920" cy="36576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760720" y="3657600"/>
            <a:ext cx="1645920" cy="365760"/>
          </a:xfrm>
          <a:prstGeom prst="rect">
            <a:avLst/>
          </a:prstGeom>
          <a:noFill/>
        </p:spPr>
        <p:txBody>
          <a:bodyPr wrap="square" anchor="ctr" lIns="0" rIns="0" tIns="0" bIns="0">
            <a:spAutoFit/>
          </a:bodyPr>
          <a:lstStyle/>
          <a:p>
            <a:pPr algn="ctr">
              <a:lnSpc>
                <a:spcPct val="125000"/>
              </a:lnSpc>
            </a:pPr>
            <a:r>
              <a:rPr sz="1100" b="0" i="0">
                <a:solidFill>
                  <a:srgbClr val="0B0B0F"/>
                </a:solidFill>
                <a:latin typeface="Helvetica Neue"/>
              </a:rPr>
              <a:t>🔴🔴 Strategic review</a:t>
            </a:r>
          </a:p>
        </p:txBody>
      </p:sp>
      <p:sp>
        <p:nvSpPr>
          <p:cNvPr id="12" name="TextBox 11"/>
          <p:cNvSpPr txBox="1"/>
          <p:nvPr/>
        </p:nvSpPr>
        <p:spPr>
          <a:xfrm>
            <a:off x="822960" y="5486400"/>
            <a:ext cx="1645920" cy="274320"/>
          </a:xfrm>
          <a:prstGeom prst="rect">
            <a:avLst/>
          </a:prstGeom>
          <a:noFill/>
        </p:spPr>
        <p:txBody>
          <a:bodyPr wrap="square" anchor="t" lIns="0" rIns="0" tIns="0" bIns="0">
            <a:spAutoFit/>
          </a:bodyPr>
          <a:lstStyle/>
          <a:p>
            <a:pPr algn="ctr">
              <a:lnSpc>
                <a:spcPct val="125000"/>
              </a:lnSpc>
            </a:pPr>
            <a:r>
              <a:rPr sz="1000" b="0" i="1">
                <a:solidFill>
                  <a:srgbClr val="0F3460"/>
                </a:solidFill>
                <a:latin typeface="Helvetica Neue"/>
              </a:rPr>
              <a:t>← current state</a:t>
            </a:r>
          </a:p>
        </p:txBody>
      </p:sp>
      <p:sp>
        <p:nvSpPr>
          <p:cNvPr id="13" name="TextBox 12"/>
          <p:cNvSpPr txBox="1"/>
          <p:nvPr/>
        </p:nvSpPr>
        <p:spPr>
          <a:xfrm>
            <a:off x="8503920" y="2011680"/>
            <a:ext cx="3200400" cy="640080"/>
          </a:xfrm>
          <a:prstGeom prst="rect">
            <a:avLst/>
          </a:prstGeom>
          <a:noFill/>
        </p:spPr>
        <p:txBody>
          <a:bodyPr wrap="square" anchor="t" lIns="0" rIns="0" tIns="0" bIns="0">
            <a:spAutoFit/>
          </a:bodyPr>
          <a:lstStyle/>
          <a:p>
            <a:pPr algn="l">
              <a:lnSpc>
                <a:spcPct val="125000"/>
              </a:lnSpc>
            </a:pPr>
            <a:r>
              <a:rPr sz="3600" b="1" i="0">
                <a:solidFill>
                  <a:srgbClr val="0F3460"/>
                </a:solidFill>
                <a:latin typeface="Helvetica Neue"/>
              </a:rPr>
              <a:t>+€14.2M</a:t>
            </a:r>
          </a:p>
        </p:txBody>
      </p:sp>
      <p:sp>
        <p:nvSpPr>
          <p:cNvPr id="14" name="TextBox 13"/>
          <p:cNvSpPr txBox="1"/>
          <p:nvPr/>
        </p:nvSpPr>
        <p:spPr>
          <a:xfrm>
            <a:off x="8503920" y="2697480"/>
            <a:ext cx="3200400" cy="36576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E[NPV]</a:t>
            </a:r>
          </a:p>
        </p:txBody>
      </p:sp>
      <p:sp>
        <p:nvSpPr>
          <p:cNvPr id="15" name="TextBox 14"/>
          <p:cNvSpPr txBox="1"/>
          <p:nvPr/>
        </p:nvSpPr>
        <p:spPr>
          <a:xfrm>
            <a:off x="8503920" y="3200400"/>
            <a:ext cx="3200400" cy="640080"/>
          </a:xfrm>
          <a:prstGeom prst="rect">
            <a:avLst/>
          </a:prstGeom>
          <a:noFill/>
        </p:spPr>
        <p:txBody>
          <a:bodyPr wrap="square" anchor="t" lIns="0" rIns="0" tIns="0" bIns="0">
            <a:spAutoFit/>
          </a:bodyPr>
          <a:lstStyle/>
          <a:p>
            <a:pPr algn="l">
              <a:lnSpc>
                <a:spcPct val="125000"/>
              </a:lnSpc>
            </a:pPr>
            <a:r>
              <a:rPr sz="3600" b="1" i="0">
                <a:solidFill>
                  <a:srgbClr val="0F3460"/>
                </a:solidFill>
                <a:latin typeface="Helvetica Neue"/>
              </a:rPr>
              <a:t>72%</a:t>
            </a:r>
          </a:p>
        </p:txBody>
      </p:sp>
      <p:sp>
        <p:nvSpPr>
          <p:cNvPr id="16" name="TextBox 15"/>
          <p:cNvSpPr txBox="1"/>
          <p:nvPr/>
        </p:nvSpPr>
        <p:spPr>
          <a:xfrm>
            <a:off x="8503920" y="3886200"/>
            <a:ext cx="3200400" cy="36576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Confidence</a:t>
            </a:r>
          </a:p>
        </p:txBody>
      </p:sp>
      <p:sp>
        <p:nvSpPr>
          <p:cNvPr id="17" name="TextBox 16"/>
          <p:cNvSpPr txBox="1"/>
          <p:nvPr/>
        </p:nvSpPr>
        <p:spPr>
          <a:xfrm>
            <a:off x="8503920" y="4389120"/>
            <a:ext cx="3200400" cy="640080"/>
          </a:xfrm>
          <a:prstGeom prst="rect">
            <a:avLst/>
          </a:prstGeom>
          <a:noFill/>
        </p:spPr>
        <p:txBody>
          <a:bodyPr wrap="square" anchor="t" lIns="0" rIns="0" tIns="0" bIns="0">
            <a:spAutoFit/>
          </a:bodyPr>
          <a:lstStyle/>
          <a:p>
            <a:pPr algn="l">
              <a:lnSpc>
                <a:spcPct val="125000"/>
              </a:lnSpc>
            </a:pPr>
            <a:r>
              <a:rPr sz="3600" b="1" i="0">
                <a:solidFill>
                  <a:srgbClr val="0F3460"/>
                </a:solidFill>
                <a:latin typeface="Helvetica Neue"/>
              </a:rPr>
              <a:t>9 / 9</a:t>
            </a:r>
          </a:p>
        </p:txBody>
      </p:sp>
      <p:sp>
        <p:nvSpPr>
          <p:cNvPr id="18" name="TextBox 17"/>
          <p:cNvSpPr txBox="1"/>
          <p:nvPr/>
        </p:nvSpPr>
        <p:spPr>
          <a:xfrm>
            <a:off x="8503920" y="5074920"/>
            <a:ext cx="3200400" cy="365760"/>
          </a:xfrm>
          <a:prstGeom prst="rect">
            <a:avLst/>
          </a:prstGeom>
          <a:noFill/>
        </p:spPr>
        <p:txBody>
          <a:bodyPr wrap="square" anchor="t" lIns="0" rIns="0" tIns="0" bIns="0">
            <a:spAutoFit/>
          </a:bodyPr>
          <a:lstStyle/>
          <a:p>
            <a:pPr algn="l">
              <a:lnSpc>
                <a:spcPct val="125000"/>
              </a:lnSpc>
            </a:pPr>
            <a:r>
              <a:rPr sz="1200" b="0" i="0">
                <a:solidFill>
                  <a:srgbClr val="9AA0A6"/>
                </a:solidFill>
                <a:latin typeface="Helvetica Neue"/>
              </a:rPr>
              <a:t>KIIs green</a:t>
            </a:r>
          </a:p>
        </p:txBody>
      </p:sp>
      <p:sp>
        <p:nvSpPr>
          <p:cNvPr id="19" name="TextBox 18"/>
          <p:cNvSpPr txBox="1"/>
          <p:nvPr/>
        </p:nvSpPr>
        <p:spPr>
          <a:xfrm>
            <a:off x="822960" y="2011680"/>
            <a:ext cx="7132320" cy="2286000"/>
          </a:xfrm>
          <a:prstGeom prst="rect">
            <a:avLst/>
          </a:prstGeom>
          <a:noFill/>
        </p:spPr>
        <p:txBody>
          <a:bodyPr wrap="square" lIns="0" rIns="0" tIns="0" bIns="0">
            <a:spAutoFit/>
          </a:bodyPr>
          <a:lstStyle/>
          <a:p>
            <a:pPr>
              <a:lnSpc>
                <a:spcPct val="135000"/>
              </a:lnSpc>
              <a:spcAft>
                <a:spcPts val="600"/>
              </a:spcAft>
            </a:pPr>
            <a:r>
              <a:rPr sz="1400" b="1">
                <a:solidFill>
                  <a:srgbClr val="0F3460"/>
                </a:solidFill>
                <a:latin typeface="Helvetica Neue"/>
              </a:rPr>
              <a:t>—  </a:t>
            </a:r>
            <a:r>
              <a:rPr sz="1400">
                <a:solidFill>
                  <a:srgbClr val="0B0B0F"/>
                </a:solidFill>
                <a:latin typeface="Helvetica Neue"/>
              </a:rPr>
              <a:t>Early Warning System: 9 KIIs · 3 KITs · four-tier escalation protocol</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Each KII classified 🟢 / 🟡 / 🔴 against pre-agreed thresholds — no judgement call</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 2 reds → automatic strategic review · ≥ 3 reds → CapEx suspension</a:t>
            </a:r>
          </a:p>
        </p:txBody>
      </p:sp>
      <p:sp>
        <p:nvSpPr>
          <p:cNvPr id="20" name="TextBox 19"/>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Autonomy without alignment is just faster failure.</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089904" y="2011680"/>
            <a:ext cx="0" cy="3291840"/>
          </a:xfrm>
          <a:prstGeom prst="line">
            <a:avLst/>
          </a:prstGeom>
          <a:ln w="6350">
            <a:solidFill>
              <a:srgbClr val="9AA0A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2103120"/>
            <a:ext cx="4937760" cy="457200"/>
          </a:xfrm>
          <a:prstGeom prst="rect">
            <a:avLst/>
          </a:prstGeom>
          <a:noFill/>
        </p:spPr>
        <p:txBody>
          <a:bodyPr wrap="square" anchor="t" lIns="0" rIns="0" tIns="0" bIns="0">
            <a:spAutoFit/>
          </a:bodyPr>
          <a:lstStyle/>
          <a:p>
            <a:pPr algn="l">
              <a:lnSpc>
                <a:spcPct val="125000"/>
              </a:lnSpc>
            </a:pPr>
            <a:r>
              <a:rPr sz="1600" b="1" i="0">
                <a:solidFill>
                  <a:srgbClr val="0F3460"/>
                </a:solidFill>
                <a:latin typeface="Helvetica Neue"/>
              </a:rPr>
              <a:t>AGENT AUTONOMY</a:t>
            </a:r>
          </a:p>
        </p:txBody>
      </p:sp>
      <p:sp>
        <p:nvSpPr>
          <p:cNvPr id="6" name="Rectangle 5"/>
          <p:cNvSpPr/>
          <p:nvPr/>
        </p:nvSpPr>
        <p:spPr>
          <a:xfrm>
            <a:off x="822960" y="2743200"/>
            <a:ext cx="914400" cy="914400"/>
          </a:xfrm>
          <a:prstGeom prst="rect">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3749040"/>
            <a:ext cx="914400" cy="365760"/>
          </a:xfrm>
          <a:prstGeom prst="rect">
            <a:avLst/>
          </a:prstGeom>
          <a:noFill/>
        </p:spPr>
        <p:txBody>
          <a:bodyPr wrap="square" anchor="t" lIns="0" rIns="0" tIns="0" bIns="0">
            <a:spAutoFit/>
          </a:bodyPr>
          <a:lstStyle/>
          <a:p>
            <a:pPr algn="ctr">
              <a:lnSpc>
                <a:spcPct val="125000"/>
              </a:lnSpc>
            </a:pPr>
            <a:r>
              <a:rPr sz="1100" b="0" i="0">
                <a:solidFill>
                  <a:srgbClr val="0B0B0F"/>
                </a:solidFill>
                <a:latin typeface="Helvetica Neue"/>
              </a:rPr>
              <a:t>Monitor</a:t>
            </a:r>
          </a:p>
        </p:txBody>
      </p:sp>
      <p:sp>
        <p:nvSpPr>
          <p:cNvPr id="8" name="Rectangle 7"/>
          <p:cNvSpPr/>
          <p:nvPr/>
        </p:nvSpPr>
        <p:spPr>
          <a:xfrm>
            <a:off x="2011680" y="2743200"/>
            <a:ext cx="914400" cy="914400"/>
          </a:xfrm>
          <a:prstGeom prst="rect">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011680" y="3749040"/>
            <a:ext cx="914400" cy="365760"/>
          </a:xfrm>
          <a:prstGeom prst="rect">
            <a:avLst/>
          </a:prstGeom>
          <a:noFill/>
        </p:spPr>
        <p:txBody>
          <a:bodyPr wrap="square" anchor="t" lIns="0" rIns="0" tIns="0" bIns="0">
            <a:spAutoFit/>
          </a:bodyPr>
          <a:lstStyle/>
          <a:p>
            <a:pPr algn="ctr">
              <a:lnSpc>
                <a:spcPct val="125000"/>
              </a:lnSpc>
            </a:pPr>
            <a:r>
              <a:rPr sz="1100" b="0" i="0">
                <a:solidFill>
                  <a:srgbClr val="0B0B0F"/>
                </a:solidFill>
                <a:latin typeface="Helvetica Neue"/>
              </a:rPr>
              <a:t>Score</a:t>
            </a:r>
          </a:p>
        </p:txBody>
      </p:sp>
      <p:sp>
        <p:nvSpPr>
          <p:cNvPr id="10" name="Rectangle 9"/>
          <p:cNvSpPr/>
          <p:nvPr/>
        </p:nvSpPr>
        <p:spPr>
          <a:xfrm>
            <a:off x="3200400" y="2743200"/>
            <a:ext cx="914400" cy="914400"/>
          </a:xfrm>
          <a:prstGeom prst="rect">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00400" y="3749040"/>
            <a:ext cx="914400" cy="365760"/>
          </a:xfrm>
          <a:prstGeom prst="rect">
            <a:avLst/>
          </a:prstGeom>
          <a:noFill/>
        </p:spPr>
        <p:txBody>
          <a:bodyPr wrap="square" anchor="t" lIns="0" rIns="0" tIns="0" bIns="0">
            <a:spAutoFit/>
          </a:bodyPr>
          <a:lstStyle/>
          <a:p>
            <a:pPr algn="ctr">
              <a:lnSpc>
                <a:spcPct val="125000"/>
              </a:lnSpc>
            </a:pPr>
            <a:r>
              <a:rPr sz="1100" b="0" i="0">
                <a:solidFill>
                  <a:srgbClr val="0B0B0F"/>
                </a:solidFill>
                <a:latin typeface="Helvetica Neue"/>
              </a:rPr>
              <a:t>Alert</a:t>
            </a:r>
          </a:p>
        </p:txBody>
      </p:sp>
      <p:sp>
        <p:nvSpPr>
          <p:cNvPr id="12" name="TextBox 11"/>
          <p:cNvSpPr txBox="1"/>
          <p:nvPr/>
        </p:nvSpPr>
        <p:spPr>
          <a:xfrm>
            <a:off x="6400800" y="2103120"/>
            <a:ext cx="4937760" cy="457200"/>
          </a:xfrm>
          <a:prstGeom prst="rect">
            <a:avLst/>
          </a:prstGeom>
          <a:noFill/>
        </p:spPr>
        <p:txBody>
          <a:bodyPr wrap="square" anchor="t" lIns="0" rIns="0" tIns="0" bIns="0">
            <a:spAutoFit/>
          </a:bodyPr>
          <a:lstStyle/>
          <a:p>
            <a:pPr algn="l">
              <a:lnSpc>
                <a:spcPct val="125000"/>
              </a:lnSpc>
            </a:pPr>
            <a:r>
              <a:rPr sz="1600" b="1" i="0">
                <a:solidFill>
                  <a:srgbClr val="0F3460"/>
                </a:solidFill>
                <a:latin typeface="Helvetica Neue"/>
              </a:rPr>
              <a:t>HUMAN AUTHORITY</a:t>
            </a:r>
          </a:p>
        </p:txBody>
      </p:sp>
      <p:sp>
        <p:nvSpPr>
          <p:cNvPr id="13" name="Rectangle 12"/>
          <p:cNvSpPr/>
          <p:nvPr/>
        </p:nvSpPr>
        <p:spPr>
          <a:xfrm>
            <a:off x="6400800" y="2743200"/>
            <a:ext cx="914400" cy="91440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00800" y="3749040"/>
            <a:ext cx="914400" cy="365760"/>
          </a:xfrm>
          <a:prstGeom prst="rect">
            <a:avLst/>
          </a:prstGeom>
          <a:noFill/>
        </p:spPr>
        <p:txBody>
          <a:bodyPr wrap="square" anchor="t" lIns="0" rIns="0" tIns="0" bIns="0">
            <a:spAutoFit/>
          </a:bodyPr>
          <a:lstStyle/>
          <a:p>
            <a:pPr algn="ctr">
              <a:lnSpc>
                <a:spcPct val="125000"/>
              </a:lnSpc>
            </a:pPr>
            <a:r>
              <a:rPr sz="1100" b="0" i="0">
                <a:solidFill>
                  <a:srgbClr val="0B0B0F"/>
                </a:solidFill>
                <a:latin typeface="Helvetica Neue"/>
              </a:rPr>
              <a:t>Ratify</a:t>
            </a:r>
          </a:p>
        </p:txBody>
      </p:sp>
      <p:sp>
        <p:nvSpPr>
          <p:cNvPr id="15" name="Rectangle 14"/>
          <p:cNvSpPr/>
          <p:nvPr/>
        </p:nvSpPr>
        <p:spPr>
          <a:xfrm>
            <a:off x="7589520" y="2743200"/>
            <a:ext cx="914400" cy="91440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589520" y="3749040"/>
            <a:ext cx="914400" cy="365760"/>
          </a:xfrm>
          <a:prstGeom prst="rect">
            <a:avLst/>
          </a:prstGeom>
          <a:noFill/>
        </p:spPr>
        <p:txBody>
          <a:bodyPr wrap="square" anchor="t" lIns="0" rIns="0" tIns="0" bIns="0">
            <a:spAutoFit/>
          </a:bodyPr>
          <a:lstStyle/>
          <a:p>
            <a:pPr algn="ctr">
              <a:lnSpc>
                <a:spcPct val="125000"/>
              </a:lnSpc>
            </a:pPr>
            <a:r>
              <a:rPr sz="1100" b="0" i="0">
                <a:solidFill>
                  <a:srgbClr val="0B0B0F"/>
                </a:solidFill>
                <a:latin typeface="Helvetica Neue"/>
              </a:rPr>
              <a:t>Sign</a:t>
            </a:r>
          </a:p>
        </p:txBody>
      </p:sp>
      <p:sp>
        <p:nvSpPr>
          <p:cNvPr id="17" name="Rectangle 16"/>
          <p:cNvSpPr/>
          <p:nvPr/>
        </p:nvSpPr>
        <p:spPr>
          <a:xfrm>
            <a:off x="8778240" y="2743200"/>
            <a:ext cx="914400" cy="914400"/>
          </a:xfrm>
          <a:prstGeom prst="rect">
            <a:avLst/>
          </a:prstGeom>
          <a:no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778240" y="3749040"/>
            <a:ext cx="914400" cy="365760"/>
          </a:xfrm>
          <a:prstGeom prst="rect">
            <a:avLst/>
          </a:prstGeom>
          <a:noFill/>
        </p:spPr>
        <p:txBody>
          <a:bodyPr wrap="square" anchor="t" lIns="0" rIns="0" tIns="0" bIns="0">
            <a:spAutoFit/>
          </a:bodyPr>
          <a:lstStyle/>
          <a:p>
            <a:pPr algn="ctr">
              <a:lnSpc>
                <a:spcPct val="125000"/>
              </a:lnSpc>
            </a:pPr>
            <a:r>
              <a:rPr sz="1100" b="0" i="0">
                <a:solidFill>
                  <a:srgbClr val="0B0B0F"/>
                </a:solidFill>
                <a:latin typeface="Helvetica Neue"/>
              </a:rPr>
              <a:t>Override</a:t>
            </a:r>
          </a:p>
        </p:txBody>
      </p:sp>
      <p:sp>
        <p:nvSpPr>
          <p:cNvPr id="19" name="TextBox 18"/>
          <p:cNvSpPr txBox="1"/>
          <p:nvPr/>
        </p:nvSpPr>
        <p:spPr>
          <a:xfrm>
            <a:off x="822960" y="4572000"/>
            <a:ext cx="10515600" cy="1463040"/>
          </a:xfrm>
          <a:prstGeom prst="rect">
            <a:avLst/>
          </a:prstGeom>
          <a:noFill/>
        </p:spPr>
        <p:txBody>
          <a:bodyPr wrap="square" lIns="0" rIns="0" tIns="0" bIns="0">
            <a:spAutoFit/>
          </a:bodyPr>
          <a:lstStyle/>
          <a:p>
            <a:pPr>
              <a:lnSpc>
                <a:spcPct val="135000"/>
              </a:lnSpc>
              <a:spcAft>
                <a:spcPts val="600"/>
              </a:spcAft>
            </a:pPr>
            <a:r>
              <a:rPr sz="1400" b="1">
                <a:solidFill>
                  <a:srgbClr val="0F3460"/>
                </a:solidFill>
                <a:latin typeface="Helvetica Neue"/>
              </a:rPr>
              <a:t>—  </a:t>
            </a:r>
            <a:r>
              <a:rPr sz="1400">
                <a:solidFill>
                  <a:srgbClr val="0B0B0F"/>
                </a:solidFill>
                <a:latin typeface="Helvetica Neue"/>
              </a:rPr>
              <a:t>Human-in-the-loop: agent recommends, executives ratify; CapEx remains human-signed</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Auditability: every step logged — source → reasoning → output, version-controlled</a:t>
            </a:r>
          </a:p>
          <a:p>
            <a:pPr>
              <a:lnSpc>
                <a:spcPct val="135000"/>
              </a:lnSpc>
              <a:spcAft>
                <a:spcPts val="600"/>
              </a:spcAft>
            </a:pPr>
            <a:r>
              <a:rPr sz="1400" b="1">
                <a:solidFill>
                  <a:srgbClr val="0F3460"/>
                </a:solidFill>
                <a:latin typeface="Helvetica Neue"/>
              </a:rPr>
              <a:t>—  </a:t>
            </a:r>
            <a:r>
              <a:rPr sz="1400">
                <a:solidFill>
                  <a:srgbClr val="0B0B0F"/>
                </a:solidFill>
                <a:latin typeface="Helvetica Neue"/>
              </a:rPr>
              <a:t>Alignment: success criteria and thresholds pre-agreed; the agent does not redefine the goal</a:t>
            </a:r>
          </a:p>
        </p:txBody>
      </p:sp>
      <p:sp>
        <p:nvSpPr>
          <p:cNvPr id="20" name="TextBox 19"/>
          <p:cNvSpPr txBox="1"/>
          <p:nvPr/>
        </p:nvSpPr>
        <p:spPr>
          <a:xfrm>
            <a:off x="822960" y="6263640"/>
            <a:ext cx="10515600" cy="365760"/>
          </a:xfrm>
          <a:prstGeom prst="rect">
            <a:avLst/>
          </a:prstGeom>
          <a:noFill/>
        </p:spPr>
        <p:txBody>
          <a:bodyPr wrap="square" anchor="t" lIns="0" rIns="0" tIns="0" bIns="0">
            <a:spAutoFit/>
          </a:bodyPr>
          <a:lstStyle/>
          <a:p>
            <a:pPr algn="ctr">
              <a:lnSpc>
                <a:spcPct val="125000"/>
              </a:lnSpc>
            </a:pPr>
            <a:r>
              <a:rPr sz="1200" b="0" i="1">
                <a:solidFill>
                  <a:srgbClr val="9AA0A6"/>
                </a:solidFill>
                <a:latin typeface="Helvetica Neue"/>
              </a:rPr>
              <a:t>Every action is logged. Every override is logged. Logs live in the repo.</a:t>
            </a:r>
          </a:p>
        </p:txBody>
      </p:sp>
      <p:sp>
        <p:nvSpPr>
          <p:cNvPr id="21" name="TextBox 20"/>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10881360" cy="914400"/>
          </a:xfrm>
          <a:prstGeom prst="rect">
            <a:avLst/>
          </a:prstGeom>
          <a:noFill/>
        </p:spPr>
        <p:txBody>
          <a:bodyPr wrap="square" anchor="t" lIns="0" rIns="0" tIns="0" bIns="0">
            <a:spAutoFit/>
          </a:bodyPr>
          <a:lstStyle/>
          <a:p>
            <a:pPr algn="l">
              <a:lnSpc>
                <a:spcPct val="125000"/>
              </a:lnSpc>
            </a:pPr>
            <a:r>
              <a:rPr sz="3000" b="0" i="0">
                <a:solidFill>
                  <a:srgbClr val="0B0B0F"/>
                </a:solidFill>
                <a:latin typeface="Helvetica Neue"/>
              </a:rPr>
              <a:t>The decision is made. The discipline is permanent.</a:t>
            </a:r>
          </a:p>
        </p:txBody>
      </p:sp>
      <p:cxnSp>
        <p:nvCxnSpPr>
          <p:cNvPr id="3" name="Connector 2"/>
          <p:cNvCxnSpPr/>
          <p:nvPr/>
        </p:nvCxnSpPr>
        <p:spPr>
          <a:xfrm>
            <a:off x="640080" y="1371600"/>
            <a:ext cx="2926080" cy="0"/>
          </a:xfrm>
          <a:prstGeom prst="line">
            <a:avLst/>
          </a:prstGeom>
          <a:ln w="19050">
            <a:solidFill>
              <a:srgbClr val="0F346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371600" y="3108960"/>
            <a:ext cx="9144000" cy="0"/>
          </a:xfrm>
          <a:prstGeom prst="line">
            <a:avLst/>
          </a:prstGeom>
          <a:ln w="15875">
            <a:solidFill>
              <a:srgbClr val="0F346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211580" y="2948940"/>
            <a:ext cx="320040" cy="320040"/>
          </a:xfrm>
          <a:prstGeom prst="ellipse">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 y="2286000"/>
            <a:ext cx="2560320" cy="365760"/>
          </a:xfrm>
          <a:prstGeom prst="rect">
            <a:avLst/>
          </a:prstGeom>
          <a:noFill/>
        </p:spPr>
        <p:txBody>
          <a:bodyPr wrap="square" anchor="t" lIns="0" rIns="0" tIns="0" bIns="0">
            <a:spAutoFit/>
          </a:bodyPr>
          <a:lstStyle/>
          <a:p>
            <a:pPr algn="ctr">
              <a:lnSpc>
                <a:spcPct val="125000"/>
              </a:lnSpc>
            </a:pPr>
            <a:r>
              <a:rPr sz="1400" b="1" i="0">
                <a:solidFill>
                  <a:srgbClr val="0B0B0F"/>
                </a:solidFill>
                <a:latin typeface="Helvetica Neue"/>
              </a:rPr>
              <a:t>Decision</a:t>
            </a:r>
          </a:p>
        </p:txBody>
      </p:sp>
      <p:sp>
        <p:nvSpPr>
          <p:cNvPr id="7" name="TextBox 6"/>
          <p:cNvSpPr txBox="1"/>
          <p:nvPr/>
        </p:nvSpPr>
        <p:spPr>
          <a:xfrm>
            <a:off x="91440" y="2651760"/>
            <a:ext cx="2560320" cy="365760"/>
          </a:xfrm>
          <a:prstGeom prst="rect">
            <a:avLst/>
          </a:prstGeom>
          <a:noFill/>
        </p:spPr>
        <p:txBody>
          <a:bodyPr wrap="square" anchor="t" lIns="0" rIns="0" tIns="0" bIns="0">
            <a:spAutoFit/>
          </a:bodyPr>
          <a:lstStyle/>
          <a:p>
            <a:pPr algn="ctr">
              <a:lnSpc>
                <a:spcPct val="125000"/>
              </a:lnSpc>
            </a:pPr>
            <a:r>
              <a:rPr sz="1100" b="0" i="0">
                <a:solidFill>
                  <a:srgbClr val="0F3460"/>
                </a:solidFill>
                <a:latin typeface="Helvetica Neue"/>
              </a:rPr>
              <a:t>T0</a:t>
            </a:r>
          </a:p>
        </p:txBody>
      </p:sp>
      <p:sp>
        <p:nvSpPr>
          <p:cNvPr id="8" name="TextBox 7"/>
          <p:cNvSpPr txBox="1"/>
          <p:nvPr/>
        </p:nvSpPr>
        <p:spPr>
          <a:xfrm>
            <a:off x="-91440" y="3474720"/>
            <a:ext cx="2926080" cy="914400"/>
          </a:xfrm>
          <a:prstGeom prst="rect">
            <a:avLst/>
          </a:prstGeom>
          <a:noFill/>
        </p:spPr>
        <p:txBody>
          <a:bodyPr wrap="square" anchor="t" lIns="0" rIns="0" tIns="0" bIns="0">
            <a:spAutoFit/>
          </a:bodyPr>
          <a:lstStyle/>
          <a:p>
            <a:pPr algn="ctr">
              <a:lnSpc>
                <a:spcPct val="130000"/>
              </a:lnSpc>
            </a:pPr>
            <a:r>
              <a:rPr sz="1100" b="0" i="0">
                <a:solidFill>
                  <a:srgbClr val="9AA0A6"/>
                </a:solidFill>
                <a:latin typeface="Helvetica Neue"/>
              </a:rPr>
              <a:t>CEO-to-CEO · weekly EWS · 72% → 85%</a:t>
            </a:r>
          </a:p>
        </p:txBody>
      </p:sp>
      <p:sp>
        <p:nvSpPr>
          <p:cNvPr id="9" name="Oval 8"/>
          <p:cNvSpPr/>
          <p:nvPr/>
        </p:nvSpPr>
        <p:spPr>
          <a:xfrm>
            <a:off x="5783580" y="2948940"/>
            <a:ext cx="320040" cy="320040"/>
          </a:xfrm>
          <a:prstGeom prst="ellipse">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663440" y="2286000"/>
            <a:ext cx="2560320" cy="365760"/>
          </a:xfrm>
          <a:prstGeom prst="rect">
            <a:avLst/>
          </a:prstGeom>
          <a:noFill/>
        </p:spPr>
        <p:txBody>
          <a:bodyPr wrap="square" anchor="t" lIns="0" rIns="0" tIns="0" bIns="0">
            <a:spAutoFit/>
          </a:bodyPr>
          <a:lstStyle/>
          <a:p>
            <a:pPr algn="ctr">
              <a:lnSpc>
                <a:spcPct val="125000"/>
              </a:lnSpc>
            </a:pPr>
            <a:r>
              <a:rPr sz="1400" b="1" i="0">
                <a:solidFill>
                  <a:srgbClr val="0B0B0F"/>
                </a:solidFill>
                <a:latin typeface="Helvetica Neue"/>
              </a:rPr>
              <a:t>First Hospital</a:t>
            </a:r>
          </a:p>
        </p:txBody>
      </p:sp>
      <p:sp>
        <p:nvSpPr>
          <p:cNvPr id="11" name="TextBox 10"/>
          <p:cNvSpPr txBox="1"/>
          <p:nvPr/>
        </p:nvSpPr>
        <p:spPr>
          <a:xfrm>
            <a:off x="4663440" y="2651760"/>
            <a:ext cx="2560320" cy="365760"/>
          </a:xfrm>
          <a:prstGeom prst="rect">
            <a:avLst/>
          </a:prstGeom>
          <a:noFill/>
        </p:spPr>
        <p:txBody>
          <a:bodyPr wrap="square" anchor="t" lIns="0" rIns="0" tIns="0" bIns="0">
            <a:spAutoFit/>
          </a:bodyPr>
          <a:lstStyle/>
          <a:p>
            <a:pPr algn="ctr">
              <a:lnSpc>
                <a:spcPct val="125000"/>
              </a:lnSpc>
            </a:pPr>
            <a:r>
              <a:rPr sz="1100" b="0" i="0">
                <a:solidFill>
                  <a:srgbClr val="0F3460"/>
                </a:solidFill>
                <a:latin typeface="Helvetica Neue"/>
              </a:rPr>
              <a:t>T+12 m</a:t>
            </a:r>
          </a:p>
        </p:txBody>
      </p:sp>
      <p:sp>
        <p:nvSpPr>
          <p:cNvPr id="12" name="TextBox 11"/>
          <p:cNvSpPr txBox="1"/>
          <p:nvPr/>
        </p:nvSpPr>
        <p:spPr>
          <a:xfrm>
            <a:off x="4480560" y="3474720"/>
            <a:ext cx="2926080" cy="914400"/>
          </a:xfrm>
          <a:prstGeom prst="rect">
            <a:avLst/>
          </a:prstGeom>
          <a:noFill/>
        </p:spPr>
        <p:txBody>
          <a:bodyPr wrap="square" anchor="t" lIns="0" rIns="0" tIns="0" bIns="0">
            <a:spAutoFit/>
          </a:bodyPr>
          <a:lstStyle/>
          <a:p>
            <a:pPr algn="ctr">
              <a:lnSpc>
                <a:spcPct val="130000"/>
              </a:lnSpc>
            </a:pPr>
            <a:r>
              <a:rPr sz="1100" b="0" i="0">
                <a:solidFill>
                  <a:srgbClr val="9AA0A6"/>
                </a:solidFill>
                <a:latin typeface="Helvetica Neue"/>
              </a:rPr>
              <a:t>GO conditions C1–C4 verified · first JV milestone</a:t>
            </a:r>
          </a:p>
        </p:txBody>
      </p:sp>
      <p:sp>
        <p:nvSpPr>
          <p:cNvPr id="13" name="Oval 12"/>
          <p:cNvSpPr/>
          <p:nvPr/>
        </p:nvSpPr>
        <p:spPr>
          <a:xfrm>
            <a:off x="10355580" y="2948940"/>
            <a:ext cx="320040" cy="320040"/>
          </a:xfrm>
          <a:prstGeom prst="ellipse">
            <a:avLst/>
          </a:prstGeom>
          <a:solidFill>
            <a:srgbClr val="0F3460"/>
          </a:solidFill>
          <a:ln w="12700">
            <a:solidFill>
              <a:srgbClr val="0F346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235440" y="2286000"/>
            <a:ext cx="2560320" cy="365760"/>
          </a:xfrm>
          <a:prstGeom prst="rect">
            <a:avLst/>
          </a:prstGeom>
          <a:noFill/>
        </p:spPr>
        <p:txBody>
          <a:bodyPr wrap="square" anchor="t" lIns="0" rIns="0" tIns="0" bIns="0">
            <a:spAutoFit/>
          </a:bodyPr>
          <a:lstStyle/>
          <a:p>
            <a:pPr algn="ctr">
              <a:lnSpc>
                <a:spcPct val="125000"/>
              </a:lnSpc>
            </a:pPr>
            <a:r>
              <a:rPr sz="1400" b="1" i="0">
                <a:solidFill>
                  <a:srgbClr val="0B0B0F"/>
                </a:solidFill>
                <a:latin typeface="Helvetica Neue"/>
              </a:rPr>
              <a:t>Full Network</a:t>
            </a:r>
          </a:p>
        </p:txBody>
      </p:sp>
      <p:sp>
        <p:nvSpPr>
          <p:cNvPr id="15" name="TextBox 14"/>
          <p:cNvSpPr txBox="1"/>
          <p:nvPr/>
        </p:nvSpPr>
        <p:spPr>
          <a:xfrm>
            <a:off x="9235440" y="2651760"/>
            <a:ext cx="2560320" cy="365760"/>
          </a:xfrm>
          <a:prstGeom prst="rect">
            <a:avLst/>
          </a:prstGeom>
          <a:noFill/>
        </p:spPr>
        <p:txBody>
          <a:bodyPr wrap="square" anchor="t" lIns="0" rIns="0" tIns="0" bIns="0">
            <a:spAutoFit/>
          </a:bodyPr>
          <a:lstStyle/>
          <a:p>
            <a:pPr algn="ctr">
              <a:lnSpc>
                <a:spcPct val="125000"/>
              </a:lnSpc>
            </a:pPr>
            <a:r>
              <a:rPr sz="1100" b="0" i="0">
                <a:solidFill>
                  <a:srgbClr val="0F3460"/>
                </a:solidFill>
                <a:latin typeface="Helvetica Neue"/>
              </a:rPr>
              <a:t>T+36 m</a:t>
            </a:r>
          </a:p>
        </p:txBody>
      </p:sp>
      <p:sp>
        <p:nvSpPr>
          <p:cNvPr id="16" name="TextBox 15"/>
          <p:cNvSpPr txBox="1"/>
          <p:nvPr/>
        </p:nvSpPr>
        <p:spPr>
          <a:xfrm>
            <a:off x="9052560" y="3474720"/>
            <a:ext cx="2926080" cy="914400"/>
          </a:xfrm>
          <a:prstGeom prst="rect">
            <a:avLst/>
          </a:prstGeom>
          <a:noFill/>
        </p:spPr>
        <p:txBody>
          <a:bodyPr wrap="square" anchor="t" lIns="0" rIns="0" tIns="0" bIns="0">
            <a:spAutoFit/>
          </a:bodyPr>
          <a:lstStyle/>
          <a:p>
            <a:pPr algn="ctr">
              <a:lnSpc>
                <a:spcPct val="130000"/>
              </a:lnSpc>
            </a:pPr>
            <a:r>
              <a:rPr sz="1100" b="0" i="0">
                <a:solidFill>
                  <a:srgbClr val="9AA0A6"/>
                </a:solidFill>
                <a:latin typeface="Helvetica Neue"/>
              </a:rPr>
              <a:t>Network operating · system extended to LATAM</a:t>
            </a:r>
          </a:p>
        </p:txBody>
      </p:sp>
      <p:sp>
        <p:nvSpPr>
          <p:cNvPr id="17" name="TextBox 16"/>
          <p:cNvSpPr txBox="1"/>
          <p:nvPr/>
        </p:nvSpPr>
        <p:spPr>
          <a:xfrm>
            <a:off x="822960" y="5212080"/>
            <a:ext cx="10515600" cy="640080"/>
          </a:xfrm>
          <a:prstGeom prst="rect">
            <a:avLst/>
          </a:prstGeom>
          <a:noFill/>
        </p:spPr>
        <p:txBody>
          <a:bodyPr wrap="square" anchor="t" lIns="0" rIns="0" tIns="0" bIns="0">
            <a:spAutoFit/>
          </a:bodyPr>
          <a:lstStyle/>
          <a:p>
            <a:pPr algn="ctr">
              <a:lnSpc>
                <a:spcPct val="125000"/>
              </a:lnSpc>
            </a:pPr>
            <a:r>
              <a:rPr sz="2200" b="0" i="0">
                <a:solidFill>
                  <a:srgbClr val="0B0B0F"/>
                </a:solidFill>
                <a:latin typeface="Helvetica Neue"/>
              </a:rPr>
              <a:t>Agentic systems do not replace strategic judgement.</a:t>
            </a:r>
          </a:p>
        </p:txBody>
      </p:sp>
      <p:sp>
        <p:nvSpPr>
          <p:cNvPr id="18" name="TextBox 17"/>
          <p:cNvSpPr txBox="1"/>
          <p:nvPr/>
        </p:nvSpPr>
        <p:spPr>
          <a:xfrm>
            <a:off x="822960" y="5760720"/>
            <a:ext cx="10515600" cy="640080"/>
          </a:xfrm>
          <a:prstGeom prst="rect">
            <a:avLst/>
          </a:prstGeom>
          <a:noFill/>
        </p:spPr>
        <p:txBody>
          <a:bodyPr wrap="square" anchor="t" lIns="0" rIns="0" tIns="0" bIns="0">
            <a:spAutoFit/>
          </a:bodyPr>
          <a:lstStyle/>
          <a:p>
            <a:pPr algn="ctr">
              <a:lnSpc>
                <a:spcPct val="125000"/>
              </a:lnSpc>
            </a:pPr>
            <a:r>
              <a:rPr sz="2800" b="1" i="0">
                <a:solidFill>
                  <a:srgbClr val="0F3460"/>
                </a:solidFill>
                <a:latin typeface="Helvetica Neue"/>
              </a:rPr>
              <a:t>They institutionalise it.</a:t>
            </a:r>
          </a:p>
        </p:txBody>
      </p:sp>
      <p:sp>
        <p:nvSpPr>
          <p:cNvPr id="19" name="TextBox 18"/>
          <p:cNvSpPr txBox="1"/>
          <p:nvPr/>
        </p:nvSpPr>
        <p:spPr>
          <a:xfrm>
            <a:off x="640080" y="6446520"/>
            <a:ext cx="7315200" cy="274320"/>
          </a:xfrm>
          <a:prstGeom prst="rect">
            <a:avLst/>
          </a:prstGeom>
          <a:noFill/>
        </p:spPr>
        <p:txBody>
          <a:bodyPr wrap="square" anchor="t" lIns="0" rIns="0" tIns="0" bIns="0">
            <a:spAutoFit/>
          </a:bodyPr>
          <a:lstStyle/>
          <a:p>
            <a:pPr algn="l">
              <a:lnSpc>
                <a:spcPct val="125000"/>
              </a:lnSpc>
            </a:pPr>
            <a:r>
              <a:rPr sz="900" b="0" i="0">
                <a:solidFill>
                  <a:srgbClr val="9AA0A6"/>
                </a:solidFill>
                <a:latin typeface="Calibri"/>
              </a:rPr>
              <a:t>github.com/adrianjulve-lang/Inteligencia-Empresarial-II---Final-Project</a:t>
            </a:r>
          </a:p>
        </p:txBody>
      </p:sp>
      <p:sp>
        <p:nvSpPr>
          <p:cNvPr id="20" name="TextBox 19"/>
          <p:cNvSpPr txBox="1"/>
          <p:nvPr/>
        </p:nvSpPr>
        <p:spPr>
          <a:xfrm>
            <a:off x="11247120" y="6446520"/>
            <a:ext cx="868680" cy="274320"/>
          </a:xfrm>
          <a:prstGeom prst="rect">
            <a:avLst/>
          </a:prstGeom>
          <a:noFill/>
        </p:spPr>
        <p:txBody>
          <a:bodyPr wrap="square" anchor="t" lIns="0" rIns="0" tIns="0" bIns="0">
            <a:spAutoFit/>
          </a:bodyPr>
          <a:lstStyle/>
          <a:p>
            <a:pPr algn="r">
              <a:lnSpc>
                <a:spcPct val="125000"/>
              </a:lnSpc>
            </a:pPr>
            <a:r>
              <a:rPr sz="1000" b="0" i="0">
                <a:solidFill>
                  <a:srgbClr val="9AA0A6"/>
                </a:solidFill>
                <a:latin typeface="Helvetica Neue"/>
              </a:rP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