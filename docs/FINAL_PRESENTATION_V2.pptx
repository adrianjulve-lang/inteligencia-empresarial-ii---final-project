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502920" y="347472"/>
            <a:ext cx="8229600" cy="219456"/>
          </a:xfrm>
          <a:prstGeom prst="rect">
            <a:avLst/>
          </a:prstGeom>
          <a:noFill/>
          <a:ln/>
        </p:spPr>
        <p:txBody>
          <a:bodyPr wrap="square" lIns="0" tIns="0" rIns="0" bIns="0" rtlCol="0" anchor="ctr"/>
          <a:lstStyle/>
          <a:p>
            <a:pPr algn="l" indent="0" marL="0">
              <a:buNone/>
            </a:pPr>
            <a:r>
              <a:rPr lang="en-US" sz="900" spc="200" kern="0" dirty="0">
                <a:solidFill>
                  <a:srgbClr val="9AA0A6"/>
                </a:solidFill>
                <a:latin typeface="Helvetica Neue" pitchFamily="34" charset="0"/>
                <a:ea typeface="Helvetica Neue" pitchFamily="34" charset="-122"/>
                <a:cs typeface="Helvetica Neue" pitchFamily="34" charset="-120"/>
              </a:rPr>
              <a:t>FINAL PROJECT · CORPORATE INTELLIGENCE II · UFV 2026</a:t>
            </a:r>
            <a:endParaRPr lang="en-US" sz="900" dirty="0"/>
          </a:p>
        </p:txBody>
      </p:sp>
      <p:sp>
        <p:nvSpPr>
          <p:cNvPr id="3" name="Text 1"/>
          <p:cNvSpPr/>
          <p:nvPr/>
        </p:nvSpPr>
        <p:spPr>
          <a:xfrm>
            <a:off x="502920" y="749808"/>
            <a:ext cx="6858000" cy="658368"/>
          </a:xfrm>
          <a:prstGeom prst="rect">
            <a:avLst/>
          </a:prstGeom>
          <a:noFill/>
          <a:ln/>
        </p:spPr>
        <p:txBody>
          <a:bodyPr wrap="square" lIns="0" tIns="0" rIns="0" bIns="0" rtlCol="0" anchor="ctr"/>
          <a:lstStyle/>
          <a:p>
            <a:pPr algn="l" indent="0" marL="0">
              <a:buNone/>
            </a:pPr>
            <a:r>
              <a:rPr lang="en-US" sz="4000" b="1" dirty="0">
                <a:solidFill>
                  <a:srgbClr val="FFFFFF"/>
                </a:solidFill>
                <a:latin typeface="Helvetica Neue" pitchFamily="34" charset="0"/>
                <a:ea typeface="Helvetica Neue" pitchFamily="34" charset="-122"/>
                <a:cs typeface="Helvetica Neue" pitchFamily="34" charset="-120"/>
              </a:rPr>
              <a:t>From Information to Action</a:t>
            </a:r>
            <a:endParaRPr lang="en-US" sz="4000" dirty="0"/>
          </a:p>
        </p:txBody>
      </p:sp>
      <p:sp>
        <p:nvSpPr>
          <p:cNvPr id="4" name="Text 2"/>
          <p:cNvSpPr/>
          <p:nvPr/>
        </p:nvSpPr>
        <p:spPr>
          <a:xfrm>
            <a:off x="502920" y="1353312"/>
            <a:ext cx="7772400" cy="411480"/>
          </a:xfrm>
          <a:prstGeom prst="rect">
            <a:avLst/>
          </a:prstGeom>
          <a:noFill/>
          <a:ln/>
        </p:spPr>
        <p:txBody>
          <a:bodyPr wrap="square" lIns="0" tIns="0" rIns="0" bIns="0" rtlCol="0" anchor="ctr"/>
          <a:lstStyle/>
          <a:p>
            <a:pPr algn="l" indent="0" marL="0">
              <a:buNone/>
            </a:pPr>
            <a:r>
              <a:rPr lang="en-US" sz="1900" dirty="0">
                <a:solidFill>
                  <a:srgbClr val="7DB0D4"/>
                </a:solidFill>
                <a:latin typeface="Helvetica Neue" pitchFamily="34" charset="0"/>
                <a:ea typeface="Helvetica Neue" pitchFamily="34" charset="-122"/>
                <a:cs typeface="Helvetica Neue" pitchFamily="34" charset="-120"/>
              </a:rPr>
              <a:t>An Agentic Intelligence System for Cross-Border Market Entry</a:t>
            </a:r>
            <a:endParaRPr lang="en-US" sz="1900" dirty="0"/>
          </a:p>
        </p:txBody>
      </p:sp>
      <p:sp>
        <p:nvSpPr>
          <p:cNvPr id="5" name="Shape 3"/>
          <p:cNvSpPr/>
          <p:nvPr/>
        </p:nvSpPr>
        <p:spPr>
          <a:xfrm>
            <a:off x="502920" y="1901952"/>
            <a:ext cx="5029200" cy="0"/>
          </a:xfrm>
          <a:prstGeom prst="line">
            <a:avLst/>
          </a:prstGeom>
          <a:noFill/>
          <a:ln w="12700">
            <a:solidFill>
              <a:srgbClr val="2D6A9F"/>
            </a:solidFill>
            <a:prstDash val="solid"/>
          </a:ln>
        </p:spPr>
      </p:sp>
      <p:sp>
        <p:nvSpPr>
          <p:cNvPr id="6" name="Shape 4"/>
          <p:cNvSpPr/>
          <p:nvPr/>
        </p:nvSpPr>
        <p:spPr>
          <a:xfrm>
            <a:off x="502920" y="2084832"/>
            <a:ext cx="54864" cy="201168"/>
          </a:xfrm>
          <a:prstGeom prst="rect">
            <a:avLst/>
          </a:prstGeom>
          <a:solidFill>
            <a:srgbClr val="2D6A9F"/>
          </a:solidFill>
          <a:ln/>
        </p:spPr>
      </p:sp>
      <p:sp>
        <p:nvSpPr>
          <p:cNvPr id="7" name="Text 5"/>
          <p:cNvSpPr/>
          <p:nvPr/>
        </p:nvSpPr>
        <p:spPr>
          <a:xfrm>
            <a:off x="685800" y="2066544"/>
            <a:ext cx="7315200" cy="237744"/>
          </a:xfrm>
          <a:prstGeom prst="rect">
            <a:avLst/>
          </a:prstGeom>
          <a:noFill/>
          <a:ln/>
        </p:spPr>
        <p:txBody>
          <a:bodyPr wrap="square" lIns="0" tIns="0" rIns="0" bIns="0" rtlCol="0" anchor="ctr"/>
          <a:lstStyle/>
          <a:p>
            <a:pPr algn="l" indent="0" marL="0">
              <a:buNone/>
            </a:pPr>
            <a:r>
              <a:rPr lang="en-US" sz="1300" dirty="0">
                <a:solidFill>
                  <a:srgbClr val="C8D8E8"/>
                </a:solidFill>
                <a:latin typeface="Helvetica Neue" pitchFamily="34" charset="0"/>
                <a:ea typeface="Helvetica Neue" pitchFamily="34" charset="-122"/>
                <a:cs typeface="Helvetica Neue" pitchFamily="34" charset="-120"/>
              </a:rPr>
              <a:t>50 Doctors México — Decision: enter Spain</a:t>
            </a:r>
            <a:endParaRPr lang="en-US" sz="1300" dirty="0"/>
          </a:p>
        </p:txBody>
      </p:sp>
      <p:sp>
        <p:nvSpPr>
          <p:cNvPr id="8" name="Shape 6"/>
          <p:cNvSpPr/>
          <p:nvPr/>
        </p:nvSpPr>
        <p:spPr>
          <a:xfrm>
            <a:off x="502920" y="2432304"/>
            <a:ext cx="54864" cy="201168"/>
          </a:xfrm>
          <a:prstGeom prst="rect">
            <a:avLst/>
          </a:prstGeom>
          <a:solidFill>
            <a:srgbClr val="2D6A9F"/>
          </a:solidFill>
          <a:ln/>
        </p:spPr>
      </p:sp>
      <p:sp>
        <p:nvSpPr>
          <p:cNvPr id="9" name="Text 7"/>
          <p:cNvSpPr/>
          <p:nvPr/>
        </p:nvSpPr>
        <p:spPr>
          <a:xfrm>
            <a:off x="685800" y="2414016"/>
            <a:ext cx="7315200" cy="237744"/>
          </a:xfrm>
          <a:prstGeom prst="rect">
            <a:avLst/>
          </a:prstGeom>
          <a:noFill/>
          <a:ln/>
        </p:spPr>
        <p:txBody>
          <a:bodyPr wrap="square" lIns="0" tIns="0" rIns="0" bIns="0" rtlCol="0" anchor="ctr"/>
          <a:lstStyle/>
          <a:p>
            <a:pPr algn="l" indent="0" marL="0">
              <a:buNone/>
            </a:pPr>
            <a:r>
              <a:rPr lang="en-US" sz="1300" dirty="0">
                <a:solidFill>
                  <a:srgbClr val="C8D8E8"/>
                </a:solidFill>
                <a:latin typeface="Helvetica Neue" pitchFamily="34" charset="0"/>
                <a:ea typeface="Helvetica Neue" pitchFamily="34" charset="-122"/>
                <a:cs typeface="Helvetica Neue" pitchFamily="34" charset="-120"/>
              </a:rPr>
              <a:t>Multi-agent architecture · 6 weeks of work → 90 seconds</a:t>
            </a:r>
            <a:endParaRPr lang="en-US" sz="1300" dirty="0"/>
          </a:p>
        </p:txBody>
      </p:sp>
      <p:sp>
        <p:nvSpPr>
          <p:cNvPr id="10" name="Shape 8"/>
          <p:cNvSpPr/>
          <p:nvPr/>
        </p:nvSpPr>
        <p:spPr>
          <a:xfrm>
            <a:off x="502920" y="2779776"/>
            <a:ext cx="54864" cy="201168"/>
          </a:xfrm>
          <a:prstGeom prst="rect">
            <a:avLst/>
          </a:prstGeom>
          <a:solidFill>
            <a:srgbClr val="2D6A9F"/>
          </a:solidFill>
          <a:ln/>
        </p:spPr>
      </p:sp>
      <p:sp>
        <p:nvSpPr>
          <p:cNvPr id="11" name="Text 9"/>
          <p:cNvSpPr/>
          <p:nvPr/>
        </p:nvSpPr>
        <p:spPr>
          <a:xfrm>
            <a:off x="685800" y="2761488"/>
            <a:ext cx="7315200" cy="237744"/>
          </a:xfrm>
          <a:prstGeom prst="rect">
            <a:avLst/>
          </a:prstGeom>
          <a:noFill/>
          <a:ln/>
        </p:spPr>
        <p:txBody>
          <a:bodyPr wrap="square" lIns="0" tIns="0" rIns="0" bIns="0" rtlCol="0" anchor="ctr"/>
          <a:lstStyle/>
          <a:p>
            <a:pPr algn="l" indent="0" marL="0">
              <a:buNone/>
            </a:pPr>
            <a:r>
              <a:rPr lang="en-US" sz="1300" dirty="0">
                <a:solidFill>
                  <a:srgbClr val="C8D8E8"/>
                </a:solidFill>
                <a:latin typeface="Helvetica Neue" pitchFamily="34" charset="0"/>
                <a:ea typeface="Helvetica Neue" pitchFamily="34" charset="-122"/>
                <a:cs typeface="Helvetica Neue" pitchFamily="34" charset="-120"/>
              </a:rPr>
              <a:t>System verdict: CONDITIONAL GO · Confidence 72% · E[NPV] +€14.2M</a:t>
            </a:r>
            <a:endParaRPr lang="en-US" sz="1300" dirty="0"/>
          </a:p>
        </p:txBody>
      </p:sp>
      <p:sp>
        <p:nvSpPr>
          <p:cNvPr id="12" name="Text 10"/>
          <p:cNvSpPr/>
          <p:nvPr/>
        </p:nvSpPr>
        <p:spPr>
          <a:xfrm>
            <a:off x="502920" y="4617720"/>
            <a:ext cx="7315200" cy="219456"/>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Pablo Cerezal · Adrián Julve   |   Prof. César Moreno Pascual, PhD</a:t>
            </a:r>
            <a:endParaRPr lang="en-US" sz="950" dirty="0"/>
          </a:p>
        </p:txBody>
      </p:sp>
      <p:sp>
        <p:nvSpPr>
          <p:cNvPr id="13" name="Text 11"/>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12064"/>
          </a:xfrm>
          <a:prstGeom prst="rect">
            <a:avLst/>
          </a:prstGeom>
          <a:noFill/>
          <a:ln/>
        </p:spPr>
        <p:txBody>
          <a:bodyPr wrap="square" lIns="0" tIns="0" rIns="0" bIns="0" rtlCol="0" anchor="ctr"/>
          <a:lstStyle/>
          <a:p>
            <a:pPr algn="l" indent="0" marL="0">
              <a:buNone/>
            </a:pPr>
            <a:r>
              <a:rPr lang="en-US" sz="2600" b="1" dirty="0">
                <a:solidFill>
                  <a:srgbClr val="0F3460"/>
                </a:solidFill>
                <a:latin typeface="Helvetica Neue" pitchFamily="34" charset="0"/>
                <a:ea typeface="Helvetica Neue" pitchFamily="34" charset="-122"/>
                <a:cs typeface="Helvetica Neue" pitchFamily="34" charset="-120"/>
              </a:rPr>
              <a:t>Generative AI answers questions. Agentic AI closes decisions.</a:t>
            </a:r>
            <a:endParaRPr lang="en-US" sz="2600" dirty="0"/>
          </a:p>
        </p:txBody>
      </p:sp>
      <p:sp>
        <p:nvSpPr>
          <p:cNvPr id="3" name="Shape 1"/>
          <p:cNvSpPr/>
          <p:nvPr/>
        </p:nvSpPr>
        <p:spPr>
          <a:xfrm>
            <a:off x="457200" y="841248"/>
            <a:ext cx="8229600" cy="0"/>
          </a:xfrm>
          <a:prstGeom prst="line">
            <a:avLst/>
          </a:prstGeom>
          <a:noFill/>
          <a:ln w="12700">
            <a:solidFill>
              <a:srgbClr val="0F3460"/>
            </a:solidFill>
            <a:prstDash val="solid"/>
          </a:ln>
        </p:spPr>
      </p:sp>
      <p:sp>
        <p:nvSpPr>
          <p:cNvPr id="4" name="Shape 2"/>
          <p:cNvSpPr/>
          <p:nvPr/>
        </p:nvSpPr>
        <p:spPr>
          <a:xfrm>
            <a:off x="4617720" y="1005840"/>
            <a:ext cx="0" cy="3474720"/>
          </a:xfrm>
          <a:prstGeom prst="line">
            <a:avLst/>
          </a:prstGeom>
          <a:noFill/>
          <a:ln w="9525">
            <a:solidFill>
              <a:srgbClr val="9AA0A6"/>
            </a:solidFill>
            <a:prstDash val="solid"/>
          </a:ln>
        </p:spPr>
      </p:sp>
      <p:sp>
        <p:nvSpPr>
          <p:cNvPr id="5" name="Text 3"/>
          <p:cNvSpPr/>
          <p:nvPr/>
        </p:nvSpPr>
        <p:spPr>
          <a:xfrm>
            <a:off x="457200" y="1078992"/>
            <a:ext cx="3931920" cy="329184"/>
          </a:xfrm>
          <a:prstGeom prst="rect">
            <a:avLst/>
          </a:prstGeom>
          <a:noFill/>
          <a:ln/>
        </p:spPr>
        <p:txBody>
          <a:bodyPr wrap="square" lIns="0" tIns="0" rIns="0" bIns="0" rtlCol="0" anchor="ctr"/>
          <a:lstStyle/>
          <a:p>
            <a:pPr algn="l" indent="0" marL="0">
              <a:buNone/>
            </a:pPr>
            <a:r>
              <a:rPr lang="en-US" sz="2000" b="1" dirty="0">
                <a:solidFill>
                  <a:srgbClr val="0F3460"/>
                </a:solidFill>
                <a:latin typeface="Helvetica Neue" pitchFamily="34" charset="0"/>
                <a:ea typeface="Helvetica Neue" pitchFamily="34" charset="-122"/>
                <a:cs typeface="Helvetica Neue" pitchFamily="34" charset="-120"/>
              </a:rPr>
              <a:t>GENERATIVE</a:t>
            </a:r>
            <a:endParaRPr lang="en-US" sz="2000" dirty="0"/>
          </a:p>
        </p:txBody>
      </p:sp>
      <p:sp>
        <p:nvSpPr>
          <p:cNvPr id="6" name="Text 4"/>
          <p:cNvSpPr/>
          <p:nvPr/>
        </p:nvSpPr>
        <p:spPr>
          <a:xfrm>
            <a:off x="457200" y="1517904"/>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Stateless · Reactive · Single-shot</a:t>
            </a:r>
            <a:endParaRPr lang="en-US" sz="1300" dirty="0"/>
          </a:p>
        </p:txBody>
      </p:sp>
      <p:sp>
        <p:nvSpPr>
          <p:cNvPr id="7" name="Shape 5"/>
          <p:cNvSpPr/>
          <p:nvPr/>
        </p:nvSpPr>
        <p:spPr>
          <a:xfrm>
            <a:off x="457200" y="1499616"/>
            <a:ext cx="3657600" cy="0"/>
          </a:xfrm>
          <a:prstGeom prst="line">
            <a:avLst/>
          </a:prstGeom>
          <a:noFill/>
          <a:ln w="12700">
            <a:solidFill>
              <a:srgbClr val="E8EAED"/>
            </a:solidFill>
            <a:prstDash val="solid"/>
          </a:ln>
        </p:spPr>
      </p:sp>
      <p:sp>
        <p:nvSpPr>
          <p:cNvPr id="8" name="Text 6"/>
          <p:cNvSpPr/>
          <p:nvPr/>
        </p:nvSpPr>
        <p:spPr>
          <a:xfrm>
            <a:off x="457200" y="1920240"/>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A single-turn oracle: produces text on demand</a:t>
            </a:r>
            <a:endParaRPr lang="en-US" sz="1300" dirty="0"/>
          </a:p>
        </p:txBody>
      </p:sp>
      <p:sp>
        <p:nvSpPr>
          <p:cNvPr id="9" name="Shape 7"/>
          <p:cNvSpPr/>
          <p:nvPr/>
        </p:nvSpPr>
        <p:spPr>
          <a:xfrm>
            <a:off x="457200" y="1901952"/>
            <a:ext cx="3657600" cy="0"/>
          </a:xfrm>
          <a:prstGeom prst="line">
            <a:avLst/>
          </a:prstGeom>
          <a:noFill/>
          <a:ln w="12700">
            <a:solidFill>
              <a:srgbClr val="E8EAED"/>
            </a:solidFill>
            <a:prstDash val="solid"/>
          </a:ln>
        </p:spPr>
      </p:sp>
      <p:sp>
        <p:nvSpPr>
          <p:cNvPr id="10" name="Text 8"/>
          <p:cNvSpPr/>
          <p:nvPr/>
        </p:nvSpPr>
        <p:spPr>
          <a:xfrm>
            <a:off x="457200" y="2322576"/>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No goals, no memory, no follow-through</a:t>
            </a:r>
            <a:endParaRPr lang="en-US" sz="1300" dirty="0"/>
          </a:p>
        </p:txBody>
      </p:sp>
      <p:sp>
        <p:nvSpPr>
          <p:cNvPr id="11" name="Shape 9"/>
          <p:cNvSpPr/>
          <p:nvPr/>
        </p:nvSpPr>
        <p:spPr>
          <a:xfrm>
            <a:off x="457200" y="2304288"/>
            <a:ext cx="3657600" cy="0"/>
          </a:xfrm>
          <a:prstGeom prst="line">
            <a:avLst/>
          </a:prstGeom>
          <a:noFill/>
          <a:ln w="12700">
            <a:solidFill>
              <a:srgbClr val="E8EAED"/>
            </a:solidFill>
            <a:prstDash val="solid"/>
          </a:ln>
        </p:spPr>
      </p:sp>
      <p:sp>
        <p:nvSpPr>
          <p:cNvPr id="12" name="Text 10"/>
          <p:cNvSpPr/>
          <p:nvPr/>
        </p:nvSpPr>
        <p:spPr>
          <a:xfrm>
            <a:off x="457200" y="2724912"/>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Unit of value: the answer</a:t>
            </a:r>
            <a:endParaRPr lang="en-US" sz="1300" dirty="0"/>
          </a:p>
        </p:txBody>
      </p:sp>
      <p:sp>
        <p:nvSpPr>
          <p:cNvPr id="13" name="Shape 11"/>
          <p:cNvSpPr/>
          <p:nvPr/>
        </p:nvSpPr>
        <p:spPr>
          <a:xfrm>
            <a:off x="457200" y="2706624"/>
            <a:ext cx="3657600" cy="0"/>
          </a:xfrm>
          <a:prstGeom prst="line">
            <a:avLst/>
          </a:prstGeom>
          <a:noFill/>
          <a:ln w="12700">
            <a:solidFill>
              <a:srgbClr val="E8EAED"/>
            </a:solidFill>
            <a:prstDash val="solid"/>
          </a:ln>
        </p:spPr>
      </p:sp>
      <p:sp>
        <p:nvSpPr>
          <p:cNvPr id="14" name="Text 12"/>
          <p:cNvSpPr/>
          <p:nvPr/>
        </p:nvSpPr>
        <p:spPr>
          <a:xfrm>
            <a:off x="4892040" y="1078992"/>
            <a:ext cx="3931920" cy="329184"/>
          </a:xfrm>
          <a:prstGeom prst="rect">
            <a:avLst/>
          </a:prstGeom>
          <a:noFill/>
          <a:ln/>
        </p:spPr>
        <p:txBody>
          <a:bodyPr wrap="square" lIns="0" tIns="0" rIns="0" bIns="0" rtlCol="0" anchor="ctr"/>
          <a:lstStyle/>
          <a:p>
            <a:pPr algn="l" indent="0" marL="0">
              <a:buNone/>
            </a:pPr>
            <a:r>
              <a:rPr lang="en-US" sz="2000" b="1" dirty="0">
                <a:solidFill>
                  <a:srgbClr val="0F3460"/>
                </a:solidFill>
                <a:latin typeface="Helvetica Neue" pitchFamily="34" charset="0"/>
                <a:ea typeface="Helvetica Neue" pitchFamily="34" charset="-122"/>
                <a:cs typeface="Helvetica Neue" pitchFamily="34" charset="-120"/>
              </a:rPr>
              <a:t>AGENTIC</a:t>
            </a:r>
            <a:endParaRPr lang="en-US" sz="2000" dirty="0"/>
          </a:p>
        </p:txBody>
      </p:sp>
      <p:sp>
        <p:nvSpPr>
          <p:cNvPr id="15" name="Text 13"/>
          <p:cNvSpPr/>
          <p:nvPr/>
        </p:nvSpPr>
        <p:spPr>
          <a:xfrm>
            <a:off x="4892040" y="1517904"/>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Stateful · Proactive · Multi-step</a:t>
            </a:r>
            <a:endParaRPr lang="en-US" sz="1300" dirty="0"/>
          </a:p>
        </p:txBody>
      </p:sp>
      <p:sp>
        <p:nvSpPr>
          <p:cNvPr id="16" name="Shape 14"/>
          <p:cNvSpPr/>
          <p:nvPr/>
        </p:nvSpPr>
        <p:spPr>
          <a:xfrm>
            <a:off x="4892040" y="1499616"/>
            <a:ext cx="3657600" cy="0"/>
          </a:xfrm>
          <a:prstGeom prst="line">
            <a:avLst/>
          </a:prstGeom>
          <a:noFill/>
          <a:ln w="12700">
            <a:solidFill>
              <a:srgbClr val="E8EAED"/>
            </a:solidFill>
            <a:prstDash val="solid"/>
          </a:ln>
        </p:spPr>
      </p:sp>
      <p:sp>
        <p:nvSpPr>
          <p:cNvPr id="17" name="Text 15"/>
          <p:cNvSpPr/>
          <p:nvPr/>
        </p:nvSpPr>
        <p:spPr>
          <a:xfrm>
            <a:off x="4892040" y="1920240"/>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Goal-directed: plan → act → observe → replan</a:t>
            </a:r>
            <a:endParaRPr lang="en-US" sz="1300" dirty="0"/>
          </a:p>
        </p:txBody>
      </p:sp>
      <p:sp>
        <p:nvSpPr>
          <p:cNvPr id="18" name="Shape 16"/>
          <p:cNvSpPr/>
          <p:nvPr/>
        </p:nvSpPr>
        <p:spPr>
          <a:xfrm>
            <a:off x="4892040" y="1901952"/>
            <a:ext cx="3657600" cy="0"/>
          </a:xfrm>
          <a:prstGeom prst="line">
            <a:avLst/>
          </a:prstGeom>
          <a:noFill/>
          <a:ln w="12700">
            <a:solidFill>
              <a:srgbClr val="E8EAED"/>
            </a:solidFill>
            <a:prstDash val="solid"/>
          </a:ln>
        </p:spPr>
      </p:sp>
      <p:sp>
        <p:nvSpPr>
          <p:cNvPr id="19" name="Text 17"/>
          <p:cNvSpPr/>
          <p:nvPr/>
        </p:nvSpPr>
        <p:spPr>
          <a:xfrm>
            <a:off x="4892040" y="2322576"/>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State persists; tools are invoked; failures trigger retries</a:t>
            </a:r>
            <a:endParaRPr lang="en-US" sz="1300" dirty="0"/>
          </a:p>
        </p:txBody>
      </p:sp>
      <p:sp>
        <p:nvSpPr>
          <p:cNvPr id="20" name="Shape 18"/>
          <p:cNvSpPr/>
          <p:nvPr/>
        </p:nvSpPr>
        <p:spPr>
          <a:xfrm>
            <a:off x="4892040" y="2304288"/>
            <a:ext cx="3657600" cy="0"/>
          </a:xfrm>
          <a:prstGeom prst="line">
            <a:avLst/>
          </a:prstGeom>
          <a:noFill/>
          <a:ln w="12700">
            <a:solidFill>
              <a:srgbClr val="E8EAED"/>
            </a:solidFill>
            <a:prstDash val="solid"/>
          </a:ln>
        </p:spPr>
      </p:sp>
      <p:sp>
        <p:nvSpPr>
          <p:cNvPr id="21" name="Text 19"/>
          <p:cNvSpPr/>
          <p:nvPr/>
        </p:nvSpPr>
        <p:spPr>
          <a:xfrm>
            <a:off x="4892040" y="2724912"/>
            <a:ext cx="3931920" cy="347472"/>
          </a:xfrm>
          <a:prstGeom prst="rect">
            <a:avLst/>
          </a:prstGeom>
          <a:noFill/>
          <a:ln/>
        </p:spPr>
        <p:txBody>
          <a:bodyPr wrap="square" lIns="0" tIns="0" rIns="0" bIns="0" rtlCol="0" anchor="ctr"/>
          <a:lstStyle/>
          <a:p>
            <a:pPr algn="l" indent="0" marL="0">
              <a:buNone/>
            </a:pPr>
            <a:r>
              <a:rPr lang="en-US" sz="1300" dirty="0">
                <a:solidFill>
                  <a:srgbClr val="0B0B0F"/>
                </a:solidFill>
                <a:latin typeface="Helvetica Neue" pitchFamily="34" charset="0"/>
                <a:ea typeface="Helvetica Neue" pitchFamily="34" charset="-122"/>
                <a:cs typeface="Helvetica Neue" pitchFamily="34" charset="-120"/>
              </a:rPr>
              <a:t>Unit of value: the resolved decision</a:t>
            </a:r>
            <a:endParaRPr lang="en-US" sz="1300" dirty="0"/>
          </a:p>
        </p:txBody>
      </p:sp>
      <p:sp>
        <p:nvSpPr>
          <p:cNvPr id="22" name="Shape 20"/>
          <p:cNvSpPr/>
          <p:nvPr/>
        </p:nvSpPr>
        <p:spPr>
          <a:xfrm>
            <a:off x="4892040" y="2706624"/>
            <a:ext cx="3657600" cy="0"/>
          </a:xfrm>
          <a:prstGeom prst="line">
            <a:avLst/>
          </a:prstGeom>
          <a:noFill/>
          <a:ln w="12700">
            <a:solidFill>
              <a:srgbClr val="E8EAED"/>
            </a:solidFill>
            <a:prstDash val="solid"/>
          </a:ln>
        </p:spPr>
      </p:sp>
      <p:sp>
        <p:nvSpPr>
          <p:cNvPr id="23" name="Shape 21"/>
          <p:cNvSpPr/>
          <p:nvPr/>
        </p:nvSpPr>
        <p:spPr>
          <a:xfrm>
            <a:off x="457200" y="4572000"/>
            <a:ext cx="8229600" cy="256032"/>
          </a:xfrm>
          <a:prstGeom prst="rect">
            <a:avLst/>
          </a:prstGeom>
          <a:solidFill>
            <a:srgbClr val="0F3460"/>
          </a:solidFill>
          <a:ln/>
        </p:spPr>
      </p:sp>
      <p:sp>
        <p:nvSpPr>
          <p:cNvPr id="24" name="Text 22"/>
          <p:cNvSpPr/>
          <p:nvPr/>
        </p:nvSpPr>
        <p:spPr>
          <a:xfrm>
            <a:off x="457200" y="4572000"/>
            <a:ext cx="82296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Neue" pitchFamily="34" charset="0"/>
                <a:ea typeface="Helvetica Neue" pitchFamily="34" charset="-122"/>
                <a:cs typeface="Helvetica Neue" pitchFamily="34" charset="-120"/>
              </a:rPr>
              <a:t>The model is the engine. The agent is the vehicle.</a:t>
            </a:r>
            <a:endParaRPr lang="en-US" sz="1300" dirty="0"/>
          </a:p>
        </p:txBody>
      </p:sp>
      <p:sp>
        <p:nvSpPr>
          <p:cNvPr id="25" name="Text 23"/>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THE COMPANY</a:t>
            </a:r>
            <a:endParaRPr lang="en-US" sz="750" dirty="0"/>
          </a:p>
        </p:txBody>
      </p:sp>
      <p:sp>
        <p:nvSpPr>
          <p:cNvPr id="4" name="Text 2"/>
          <p:cNvSpPr/>
          <p:nvPr/>
        </p:nvSpPr>
        <p:spPr>
          <a:xfrm>
            <a:off x="457200" y="493776"/>
            <a:ext cx="8229600" cy="457200"/>
          </a:xfrm>
          <a:prstGeom prst="rect">
            <a:avLst/>
          </a:prstGeom>
          <a:noFill/>
          <a:ln/>
        </p:spPr>
        <p:txBody>
          <a:bodyPr wrap="square" lIns="0" tIns="0" rIns="0" bIns="0" rtlCol="0" anchor="ctr"/>
          <a:lstStyle/>
          <a:p>
            <a:pPr algn="l" indent="0" marL="0">
              <a:buNone/>
            </a:pPr>
            <a:r>
              <a:rPr lang="en-US" sz="2600" b="1" dirty="0">
                <a:solidFill>
                  <a:srgbClr val="0F3460"/>
                </a:solidFill>
                <a:latin typeface="Helvetica Neue" pitchFamily="34" charset="0"/>
                <a:ea typeface="Helvetica Neue" pitchFamily="34" charset="-122"/>
                <a:cs typeface="Helvetica Neue" pitchFamily="34" charset="-120"/>
              </a:rPr>
              <a:t>50 Doctors México — The Expansion Decision</a:t>
            </a:r>
            <a:endParaRPr lang="en-US" sz="2600" dirty="0"/>
          </a:p>
        </p:txBody>
      </p:sp>
      <p:sp>
        <p:nvSpPr>
          <p:cNvPr id="5" name="Shape 3"/>
          <p:cNvSpPr/>
          <p:nvPr/>
        </p:nvSpPr>
        <p:spPr>
          <a:xfrm>
            <a:off x="457200" y="1005840"/>
            <a:ext cx="8229600" cy="0"/>
          </a:xfrm>
          <a:prstGeom prst="line">
            <a:avLst/>
          </a:prstGeom>
          <a:noFill/>
          <a:ln w="12700">
            <a:solidFill>
              <a:srgbClr val="0F3460"/>
            </a:solidFill>
            <a:prstDash val="solid"/>
          </a:ln>
        </p:spPr>
      </p:sp>
      <p:sp>
        <p:nvSpPr>
          <p:cNvPr id="6" name="Text 4"/>
          <p:cNvSpPr/>
          <p:nvPr/>
        </p:nvSpPr>
        <p:spPr>
          <a:xfrm>
            <a:off x="457200" y="1133856"/>
            <a:ext cx="4114800" cy="256032"/>
          </a:xfrm>
          <a:prstGeom prst="rect">
            <a:avLst/>
          </a:prstGeom>
          <a:noFill/>
          <a:ln/>
        </p:spPr>
        <p:txBody>
          <a:bodyPr wrap="square" lIns="0" tIns="0" rIns="0" bIns="0" rtlCol="0" anchor="ctr"/>
          <a:lstStyle/>
          <a:p>
            <a:pPr algn="l" indent="0" marL="0">
              <a:buNone/>
            </a:pPr>
            <a:r>
              <a:rPr lang="en-US" sz="1400" b="1" dirty="0">
                <a:solidFill>
                  <a:srgbClr val="0F3460"/>
                </a:solidFill>
                <a:latin typeface="Helvetica Neue" pitchFamily="34" charset="0"/>
                <a:ea typeface="Helvetica Neue" pitchFamily="34" charset="-122"/>
                <a:cs typeface="Helvetica Neue" pitchFamily="34" charset="-120"/>
              </a:rPr>
              <a:t>The Business Model</a:t>
            </a:r>
            <a:endParaRPr lang="en-US" sz="1400" dirty="0"/>
          </a:p>
        </p:txBody>
      </p:sp>
      <p:sp>
        <p:nvSpPr>
          <p:cNvPr id="7" name="Shape 5"/>
          <p:cNvSpPr/>
          <p:nvPr/>
        </p:nvSpPr>
        <p:spPr>
          <a:xfrm>
            <a:off x="457200" y="1481328"/>
            <a:ext cx="45720" cy="182880"/>
          </a:xfrm>
          <a:prstGeom prst="rect">
            <a:avLst/>
          </a:prstGeom>
          <a:solidFill>
            <a:srgbClr val="0F3460"/>
          </a:solidFill>
          <a:ln/>
        </p:spPr>
      </p:sp>
      <p:sp>
        <p:nvSpPr>
          <p:cNvPr id="8" name="Text 6"/>
          <p:cNvSpPr/>
          <p:nvPr/>
        </p:nvSpPr>
        <p:spPr>
          <a:xfrm>
            <a:off x="640080" y="1463040"/>
            <a:ext cx="3749040" cy="219456"/>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50 top specialists per city are co-owners (50% capital)</a:t>
            </a:r>
            <a:endParaRPr lang="en-US" sz="1150" dirty="0"/>
          </a:p>
        </p:txBody>
      </p:sp>
      <p:sp>
        <p:nvSpPr>
          <p:cNvPr id="9" name="Shape 7"/>
          <p:cNvSpPr/>
          <p:nvPr/>
        </p:nvSpPr>
        <p:spPr>
          <a:xfrm>
            <a:off x="457200" y="1865376"/>
            <a:ext cx="45720" cy="182880"/>
          </a:xfrm>
          <a:prstGeom prst="rect">
            <a:avLst/>
          </a:prstGeom>
          <a:solidFill>
            <a:srgbClr val="0F3460"/>
          </a:solidFill>
          <a:ln/>
        </p:spPr>
      </p:sp>
      <p:sp>
        <p:nvSpPr>
          <p:cNvPr id="10" name="Text 8"/>
          <p:cNvSpPr/>
          <p:nvPr/>
        </p:nvSpPr>
        <p:spPr>
          <a:xfrm>
            <a:off x="640080" y="1847088"/>
            <a:ext cx="3749040" cy="219456"/>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Luxury hospital infrastructure at accessible price point</a:t>
            </a:r>
            <a:endParaRPr lang="en-US" sz="1150" dirty="0"/>
          </a:p>
        </p:txBody>
      </p:sp>
      <p:sp>
        <p:nvSpPr>
          <p:cNvPr id="11" name="Shape 9"/>
          <p:cNvSpPr/>
          <p:nvPr/>
        </p:nvSpPr>
        <p:spPr>
          <a:xfrm>
            <a:off x="457200" y="2249424"/>
            <a:ext cx="45720" cy="182880"/>
          </a:xfrm>
          <a:prstGeom prst="rect">
            <a:avLst/>
          </a:prstGeom>
          <a:solidFill>
            <a:srgbClr val="0F3460"/>
          </a:solidFill>
          <a:ln/>
        </p:spPr>
      </p:sp>
      <p:sp>
        <p:nvSpPr>
          <p:cNvPr id="12" name="Text 10"/>
          <p:cNvSpPr/>
          <p:nvPr/>
        </p:nvSpPr>
        <p:spPr>
          <a:xfrm>
            <a:off x="640080" y="2231136"/>
            <a:ext cx="3749040" cy="219456"/>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Aligns incentives: doctor earns when hospital earns</a:t>
            </a:r>
            <a:endParaRPr lang="en-US" sz="1150" dirty="0"/>
          </a:p>
        </p:txBody>
      </p:sp>
      <p:sp>
        <p:nvSpPr>
          <p:cNvPr id="13" name="Shape 11"/>
          <p:cNvSpPr/>
          <p:nvPr/>
        </p:nvSpPr>
        <p:spPr>
          <a:xfrm>
            <a:off x="457200" y="2633472"/>
            <a:ext cx="45720" cy="182880"/>
          </a:xfrm>
          <a:prstGeom prst="rect">
            <a:avLst/>
          </a:prstGeom>
          <a:solidFill>
            <a:srgbClr val="0F3460"/>
          </a:solidFill>
          <a:ln/>
        </p:spPr>
      </p:sp>
      <p:sp>
        <p:nvSpPr>
          <p:cNvPr id="14" name="Text 12"/>
          <p:cNvSpPr/>
          <p:nvPr/>
        </p:nvSpPr>
        <p:spPr>
          <a:xfrm>
            <a:off x="640080" y="2615184"/>
            <a:ext cx="3749040" cy="219456"/>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Patients guaranteed from Day 1 — no marketing needed</a:t>
            </a:r>
            <a:endParaRPr lang="en-US" sz="1150" dirty="0"/>
          </a:p>
        </p:txBody>
      </p:sp>
      <p:sp>
        <p:nvSpPr>
          <p:cNvPr id="15" name="Shape 13"/>
          <p:cNvSpPr/>
          <p:nvPr/>
        </p:nvSpPr>
        <p:spPr>
          <a:xfrm>
            <a:off x="457200" y="3017520"/>
            <a:ext cx="45720" cy="182880"/>
          </a:xfrm>
          <a:prstGeom prst="rect">
            <a:avLst/>
          </a:prstGeom>
          <a:solidFill>
            <a:srgbClr val="0F3460"/>
          </a:solidFill>
          <a:ln/>
        </p:spPr>
      </p:sp>
      <p:sp>
        <p:nvSpPr>
          <p:cNvPr id="16" name="Text 14"/>
          <p:cNvSpPr/>
          <p:nvPr/>
        </p:nvSpPr>
        <p:spPr>
          <a:xfrm>
            <a:off x="640080" y="2999232"/>
            <a:ext cx="3749040" cy="219456"/>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Short-stay, minimally invasive surgery focus</a:t>
            </a:r>
            <a:endParaRPr lang="en-US" sz="1150" dirty="0"/>
          </a:p>
        </p:txBody>
      </p:sp>
      <p:sp>
        <p:nvSpPr>
          <p:cNvPr id="17" name="Shape 15"/>
          <p:cNvSpPr/>
          <p:nvPr/>
        </p:nvSpPr>
        <p:spPr>
          <a:xfrm>
            <a:off x="4663440" y="1042416"/>
            <a:ext cx="0" cy="3657600"/>
          </a:xfrm>
          <a:prstGeom prst="line">
            <a:avLst/>
          </a:prstGeom>
          <a:noFill/>
          <a:ln w="9525">
            <a:solidFill>
              <a:srgbClr val="9AA0A6"/>
            </a:solidFill>
            <a:prstDash val="solid"/>
          </a:ln>
        </p:spPr>
      </p:sp>
      <p:sp>
        <p:nvSpPr>
          <p:cNvPr id="18" name="Text 16"/>
          <p:cNvSpPr/>
          <p:nvPr/>
        </p:nvSpPr>
        <p:spPr>
          <a:xfrm>
            <a:off x="4846320" y="1133856"/>
            <a:ext cx="3931920" cy="256032"/>
          </a:xfrm>
          <a:prstGeom prst="rect">
            <a:avLst/>
          </a:prstGeom>
          <a:noFill/>
          <a:ln/>
        </p:spPr>
        <p:txBody>
          <a:bodyPr wrap="square" lIns="0" tIns="0" rIns="0" bIns="0" rtlCol="0" anchor="ctr"/>
          <a:lstStyle/>
          <a:p>
            <a:pPr algn="l" indent="0" marL="0">
              <a:buNone/>
            </a:pPr>
            <a:r>
              <a:rPr lang="en-US" sz="1400" b="1" dirty="0">
                <a:solidFill>
                  <a:srgbClr val="0F3460"/>
                </a:solidFill>
                <a:latin typeface="Helvetica Neue" pitchFamily="34" charset="0"/>
                <a:ea typeface="Helvetica Neue" pitchFamily="34" charset="-122"/>
                <a:cs typeface="Helvetica Neue" pitchFamily="34" charset="-120"/>
              </a:rPr>
              <a:t>Current Footprint &amp; Goal</a:t>
            </a:r>
            <a:endParaRPr lang="en-US" sz="1400" dirty="0"/>
          </a:p>
        </p:txBody>
      </p:sp>
      <p:sp>
        <p:nvSpPr>
          <p:cNvPr id="19" name="Shape 17"/>
          <p:cNvSpPr/>
          <p:nvPr/>
        </p:nvSpPr>
        <p:spPr>
          <a:xfrm>
            <a:off x="4846320" y="1463040"/>
            <a:ext cx="3931920" cy="347472"/>
          </a:xfrm>
          <a:prstGeom prst="rect">
            <a:avLst/>
          </a:prstGeom>
          <a:solidFill>
            <a:srgbClr val="E8EAED"/>
          </a:solidFill>
          <a:ln/>
        </p:spPr>
      </p:sp>
      <p:sp>
        <p:nvSpPr>
          <p:cNvPr id="20" name="Text 18"/>
          <p:cNvSpPr/>
          <p:nvPr/>
        </p:nvSpPr>
        <p:spPr>
          <a:xfrm>
            <a:off x="4919472" y="1481328"/>
            <a:ext cx="2743200" cy="292608"/>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Puebla (×2), Torreón, La Paz, Cancún</a:t>
            </a:r>
            <a:endParaRPr lang="en-US" sz="1100" dirty="0"/>
          </a:p>
        </p:txBody>
      </p:sp>
      <p:sp>
        <p:nvSpPr>
          <p:cNvPr id="21" name="Text 19"/>
          <p:cNvSpPr/>
          <p:nvPr/>
        </p:nvSpPr>
        <p:spPr>
          <a:xfrm>
            <a:off x="7680960" y="1481328"/>
            <a:ext cx="1005840" cy="292608"/>
          </a:xfrm>
          <a:prstGeom prst="rect">
            <a:avLst/>
          </a:prstGeom>
          <a:noFill/>
          <a:ln/>
        </p:spPr>
        <p:txBody>
          <a:bodyPr wrap="square" lIns="0" tIns="0" rIns="0" bIns="0" rtlCol="0" anchor="ctr"/>
          <a:lstStyle/>
          <a:p>
            <a:pPr algn="r" indent="0" marL="0">
              <a:buNone/>
            </a:pPr>
            <a:r>
              <a:rPr lang="en-US" sz="1000" b="1" dirty="0">
                <a:solidFill>
                  <a:srgbClr val="0F3460"/>
                </a:solidFill>
                <a:latin typeface="Helvetica Neue" pitchFamily="34" charset="0"/>
                <a:ea typeface="Helvetica Neue" pitchFamily="34" charset="-122"/>
                <a:cs typeface="Helvetica Neue" pitchFamily="34" charset="-120"/>
              </a:rPr>
              <a:t>Active</a:t>
            </a:r>
            <a:endParaRPr lang="en-US" sz="1000" dirty="0"/>
          </a:p>
        </p:txBody>
      </p:sp>
      <p:sp>
        <p:nvSpPr>
          <p:cNvPr id="22" name="Shape 20"/>
          <p:cNvSpPr/>
          <p:nvPr/>
        </p:nvSpPr>
        <p:spPr>
          <a:xfrm>
            <a:off x="4846320" y="1865376"/>
            <a:ext cx="3931920" cy="347472"/>
          </a:xfrm>
          <a:prstGeom prst="rect">
            <a:avLst/>
          </a:prstGeom>
          <a:solidFill>
            <a:srgbClr val="FFFFFF"/>
          </a:solidFill>
          <a:ln/>
        </p:spPr>
      </p:sp>
      <p:sp>
        <p:nvSpPr>
          <p:cNvPr id="23" name="Text 21"/>
          <p:cNvSpPr/>
          <p:nvPr/>
        </p:nvSpPr>
        <p:spPr>
          <a:xfrm>
            <a:off x="4919472" y="1883664"/>
            <a:ext cx="2743200" cy="292608"/>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14 hospitals in development</a:t>
            </a:r>
            <a:endParaRPr lang="en-US" sz="1100" dirty="0"/>
          </a:p>
        </p:txBody>
      </p:sp>
      <p:sp>
        <p:nvSpPr>
          <p:cNvPr id="24" name="Text 22"/>
          <p:cNvSpPr/>
          <p:nvPr/>
        </p:nvSpPr>
        <p:spPr>
          <a:xfrm>
            <a:off x="7680960" y="1883664"/>
            <a:ext cx="1005840" cy="292608"/>
          </a:xfrm>
          <a:prstGeom prst="rect">
            <a:avLst/>
          </a:prstGeom>
          <a:noFill/>
          <a:ln/>
        </p:spPr>
        <p:txBody>
          <a:bodyPr wrap="square" lIns="0" tIns="0" rIns="0" bIns="0" rtlCol="0" anchor="ctr"/>
          <a:lstStyle/>
          <a:p>
            <a:pPr algn="r" indent="0" marL="0">
              <a:buNone/>
            </a:pPr>
            <a:r>
              <a:rPr lang="en-US" sz="1000" b="1" dirty="0">
                <a:solidFill>
                  <a:srgbClr val="0F3460"/>
                </a:solidFill>
                <a:latin typeface="Helvetica Neue" pitchFamily="34" charset="0"/>
                <a:ea typeface="Helvetica Neue" pitchFamily="34" charset="-122"/>
                <a:cs typeface="Helvetica Neue" pitchFamily="34" charset="-120"/>
              </a:rPr>
              <a:t>2026</a:t>
            </a:r>
            <a:endParaRPr lang="en-US" sz="1000" dirty="0"/>
          </a:p>
        </p:txBody>
      </p:sp>
      <p:sp>
        <p:nvSpPr>
          <p:cNvPr id="25" name="Shape 23"/>
          <p:cNvSpPr/>
          <p:nvPr/>
        </p:nvSpPr>
        <p:spPr>
          <a:xfrm>
            <a:off x="4846320" y="2267712"/>
            <a:ext cx="3931920" cy="347472"/>
          </a:xfrm>
          <a:prstGeom prst="rect">
            <a:avLst/>
          </a:prstGeom>
          <a:solidFill>
            <a:srgbClr val="E8EAED"/>
          </a:solidFill>
          <a:ln/>
        </p:spPr>
      </p:sp>
      <p:sp>
        <p:nvSpPr>
          <p:cNvPr id="26" name="Text 24"/>
          <p:cNvSpPr/>
          <p:nvPr/>
        </p:nvSpPr>
        <p:spPr>
          <a:xfrm>
            <a:off x="4919472" y="2286000"/>
            <a:ext cx="2743200" cy="292608"/>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Madrid · Barcelona · La Coruña · Málaga</a:t>
            </a:r>
            <a:endParaRPr lang="en-US" sz="1100" dirty="0"/>
          </a:p>
        </p:txBody>
      </p:sp>
      <p:sp>
        <p:nvSpPr>
          <p:cNvPr id="27" name="Text 25"/>
          <p:cNvSpPr/>
          <p:nvPr/>
        </p:nvSpPr>
        <p:spPr>
          <a:xfrm>
            <a:off x="7680960" y="2286000"/>
            <a:ext cx="1005840" cy="292608"/>
          </a:xfrm>
          <a:prstGeom prst="rect">
            <a:avLst/>
          </a:prstGeom>
          <a:noFill/>
          <a:ln/>
        </p:spPr>
        <p:txBody>
          <a:bodyPr wrap="square" lIns="0" tIns="0" rIns="0" bIns="0" rtlCol="0" anchor="ctr"/>
          <a:lstStyle/>
          <a:p>
            <a:pPr algn="r" indent="0" marL="0">
              <a:buNone/>
            </a:pPr>
            <a:r>
              <a:rPr lang="en-US" sz="1000" b="1" dirty="0">
                <a:solidFill>
                  <a:srgbClr val="0F3460"/>
                </a:solidFill>
                <a:latin typeface="Helvetica Neue" pitchFamily="34" charset="0"/>
                <a:ea typeface="Helvetica Neue" pitchFamily="34" charset="-122"/>
                <a:cs typeface="Helvetica Neue" pitchFamily="34" charset="-120"/>
              </a:rPr>
              <a:t>Target ~2027-28</a:t>
            </a:r>
            <a:endParaRPr lang="en-US" sz="1000" dirty="0"/>
          </a:p>
        </p:txBody>
      </p:sp>
      <p:sp>
        <p:nvSpPr>
          <p:cNvPr id="28" name="Shape 26"/>
          <p:cNvSpPr/>
          <p:nvPr/>
        </p:nvSpPr>
        <p:spPr>
          <a:xfrm>
            <a:off x="4846320" y="2670048"/>
            <a:ext cx="3931920" cy="347472"/>
          </a:xfrm>
          <a:prstGeom prst="rect">
            <a:avLst/>
          </a:prstGeom>
          <a:solidFill>
            <a:srgbClr val="FFFFFF"/>
          </a:solidFill>
          <a:ln/>
        </p:spPr>
      </p:sp>
      <p:sp>
        <p:nvSpPr>
          <p:cNvPr id="29" name="Text 27"/>
          <p:cNvSpPr/>
          <p:nvPr/>
        </p:nvSpPr>
        <p:spPr>
          <a:xfrm>
            <a:off x="4919472" y="2688336"/>
            <a:ext cx="2743200" cy="292608"/>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50 hospitals in Mexico</a:t>
            </a:r>
            <a:endParaRPr lang="en-US" sz="1100" dirty="0"/>
          </a:p>
        </p:txBody>
      </p:sp>
      <p:sp>
        <p:nvSpPr>
          <p:cNvPr id="30" name="Text 28"/>
          <p:cNvSpPr/>
          <p:nvPr/>
        </p:nvSpPr>
        <p:spPr>
          <a:xfrm>
            <a:off x="7680960" y="2688336"/>
            <a:ext cx="1005840" cy="292608"/>
          </a:xfrm>
          <a:prstGeom prst="rect">
            <a:avLst/>
          </a:prstGeom>
          <a:noFill/>
          <a:ln/>
        </p:spPr>
        <p:txBody>
          <a:bodyPr wrap="square" lIns="0" tIns="0" rIns="0" bIns="0" rtlCol="0" anchor="ctr"/>
          <a:lstStyle/>
          <a:p>
            <a:pPr algn="r" indent="0" marL="0">
              <a:buNone/>
            </a:pPr>
            <a:r>
              <a:rPr lang="en-US" sz="1000" b="1" dirty="0">
                <a:solidFill>
                  <a:srgbClr val="0F3460"/>
                </a:solidFill>
                <a:latin typeface="Helvetica Neue" pitchFamily="34" charset="0"/>
                <a:ea typeface="Helvetica Neue" pitchFamily="34" charset="-122"/>
                <a:cs typeface="Helvetica Neue" pitchFamily="34" charset="-120"/>
              </a:rPr>
              <a:t>3-year goal</a:t>
            </a:r>
            <a:endParaRPr lang="en-US" sz="1000" dirty="0"/>
          </a:p>
        </p:txBody>
      </p:sp>
      <p:sp>
        <p:nvSpPr>
          <p:cNvPr id="31" name="Shape 29"/>
          <p:cNvSpPr/>
          <p:nvPr/>
        </p:nvSpPr>
        <p:spPr>
          <a:xfrm>
            <a:off x="4846320" y="3182112"/>
            <a:ext cx="3931920" cy="868680"/>
          </a:xfrm>
          <a:prstGeom prst="rect">
            <a:avLst/>
          </a:prstGeom>
          <a:solidFill>
            <a:srgbClr val="0F3460"/>
          </a:solidFill>
          <a:ln/>
        </p:spPr>
      </p:sp>
      <p:sp>
        <p:nvSpPr>
          <p:cNvPr id="32" name="Text 30"/>
          <p:cNvSpPr/>
          <p:nvPr/>
        </p:nvSpPr>
        <p:spPr>
          <a:xfrm>
            <a:off x="4937760" y="3236976"/>
            <a:ext cx="3749040" cy="219456"/>
          </a:xfrm>
          <a:prstGeom prst="rect">
            <a:avLst/>
          </a:prstGeom>
          <a:noFill/>
          <a:ln/>
        </p:spPr>
        <p:txBody>
          <a:bodyPr wrap="square" lIns="0" tIns="0" rIns="0" bIns="0" rtlCol="0" anchor="ctr"/>
          <a:lstStyle/>
          <a:p>
            <a:pPr algn="l" indent="0" marL="0">
              <a:buNone/>
            </a:pPr>
            <a:r>
              <a:rPr lang="en-US" sz="1100" b="1" dirty="0">
                <a:solidFill>
                  <a:srgbClr val="7DB0D4"/>
                </a:solidFill>
                <a:latin typeface="Helvetica Neue" pitchFamily="34" charset="0"/>
                <a:ea typeface="Helvetica Neue" pitchFamily="34" charset="-122"/>
                <a:cs typeface="Helvetica Neue" pitchFamily="34" charset="-120"/>
              </a:rPr>
              <a:t>The Question</a:t>
            </a:r>
            <a:endParaRPr lang="en-US" sz="1100" dirty="0"/>
          </a:p>
        </p:txBody>
      </p:sp>
      <p:sp>
        <p:nvSpPr>
          <p:cNvPr id="33" name="Text 31"/>
          <p:cNvSpPr/>
          <p:nvPr/>
        </p:nvSpPr>
        <p:spPr>
          <a:xfrm>
            <a:off x="4937760" y="3438144"/>
            <a:ext cx="3749040" cy="512064"/>
          </a:xfrm>
          <a:prstGeom prst="rect">
            <a:avLst/>
          </a:prstGeom>
          <a:noFill/>
          <a:ln/>
        </p:spPr>
        <p:txBody>
          <a:bodyPr wrap="square" lIns="0" tIns="0" rIns="0" bIns="0" rtlCol="0" anchor="ctr"/>
          <a:lstStyle/>
          <a:p>
            <a:pPr algn="l" indent="0" marL="0">
              <a:buNone/>
            </a:pPr>
            <a:r>
              <a:rPr lang="en-US" sz="1150" dirty="0">
                <a:solidFill>
                  <a:srgbClr val="FFFFFF"/>
                </a:solidFill>
                <a:latin typeface="Helvetica Neue" pitchFamily="34" charset="0"/>
                <a:ea typeface="Helvetica Neue" pitchFamily="34" charset="-122"/>
                <a:cs typeface="Helvetica Neue" pitchFamily="34" charset="-120"/>
              </a:rPr>
              <a:t>Who to partner with in Spain?</a:t>
            </a:r>
            <a:endParaRPr lang="en-US" sz="1150" dirty="0"/>
          </a:p>
          <a:p>
            <a:pPr algn="l" indent="0" marL="0">
              <a:buNone/>
            </a:pPr>
            <a:r>
              <a:rPr lang="en-US" sz="1150" dirty="0">
                <a:solidFill>
                  <a:srgbClr val="FFFFFF"/>
                </a:solidFill>
                <a:latin typeface="Helvetica Neue" pitchFamily="34" charset="0"/>
                <a:ea typeface="Helvetica Neue" pitchFamily="34" charset="-122"/>
                <a:cs typeface="Helvetica Neue" pitchFamily="34" charset="-120"/>
              </a:rPr>
              <a:t>Sanitas/BUPA · Adeslas · Asisa · or direct entry?</a:t>
            </a:r>
            <a:endParaRPr lang="en-US" sz="1150" dirty="0"/>
          </a:p>
        </p:txBody>
      </p:sp>
      <p:sp>
        <p:nvSpPr>
          <p:cNvPr id="34" name="Text 32"/>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1 · BLIND SPOT ANALYSIS</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Five Blind Spots That Could Destroy the Spain Entry</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Shape 4"/>
          <p:cNvSpPr/>
          <p:nvPr/>
        </p:nvSpPr>
        <p:spPr>
          <a:xfrm>
            <a:off x="457200" y="1005840"/>
            <a:ext cx="8229600" cy="292608"/>
          </a:xfrm>
          <a:prstGeom prst="rect">
            <a:avLst/>
          </a:prstGeom>
          <a:solidFill>
            <a:srgbClr val="0F3460"/>
          </a:solidFill>
          <a:ln/>
        </p:spPr>
      </p:sp>
      <p:sp>
        <p:nvSpPr>
          <p:cNvPr id="7" name="Text 5"/>
          <p:cNvSpPr/>
          <p:nvPr/>
        </p:nvSpPr>
        <p:spPr>
          <a:xfrm>
            <a:off x="512064" y="1005840"/>
            <a:ext cx="21945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Blind Spot</a:t>
            </a:r>
            <a:endParaRPr lang="en-US" sz="1000" dirty="0"/>
          </a:p>
        </p:txBody>
      </p:sp>
      <p:sp>
        <p:nvSpPr>
          <p:cNvPr id="8" name="Text 6"/>
          <p:cNvSpPr/>
          <p:nvPr/>
        </p:nvSpPr>
        <p:spPr>
          <a:xfrm>
            <a:off x="2798064" y="1005840"/>
            <a:ext cx="246888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Type</a:t>
            </a:r>
            <a:endParaRPr lang="en-US" sz="1000" dirty="0"/>
          </a:p>
        </p:txBody>
      </p:sp>
      <p:sp>
        <p:nvSpPr>
          <p:cNvPr id="9" name="Text 7"/>
          <p:cNvSpPr/>
          <p:nvPr/>
        </p:nvSpPr>
        <p:spPr>
          <a:xfrm>
            <a:off x="5358384" y="10058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Impact</a:t>
            </a:r>
            <a:endParaRPr lang="en-US" sz="1000" dirty="0"/>
          </a:p>
        </p:txBody>
      </p:sp>
      <p:sp>
        <p:nvSpPr>
          <p:cNvPr id="10" name="Text 8"/>
          <p:cNvSpPr/>
          <p:nvPr/>
        </p:nvSpPr>
        <p:spPr>
          <a:xfrm>
            <a:off x="7187184" y="1005840"/>
            <a:ext cx="182880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Failure Scenario</a:t>
            </a:r>
            <a:endParaRPr lang="en-US" sz="1000" dirty="0"/>
          </a:p>
        </p:txBody>
      </p:sp>
      <p:sp>
        <p:nvSpPr>
          <p:cNvPr id="11" name="Shape 9"/>
          <p:cNvSpPr/>
          <p:nvPr/>
        </p:nvSpPr>
        <p:spPr>
          <a:xfrm>
            <a:off x="457200" y="1316736"/>
            <a:ext cx="8229600" cy="594360"/>
          </a:xfrm>
          <a:prstGeom prst="rect">
            <a:avLst/>
          </a:prstGeom>
          <a:solidFill>
            <a:srgbClr val="FAFAFA"/>
          </a:solidFill>
          <a:ln/>
        </p:spPr>
      </p:sp>
      <p:sp>
        <p:nvSpPr>
          <p:cNvPr id="12" name="Text 10"/>
          <p:cNvSpPr/>
          <p:nvPr/>
        </p:nvSpPr>
        <p:spPr>
          <a:xfrm>
            <a:off x="512064" y="1335024"/>
            <a:ext cx="2194560" cy="530352"/>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BS-1 · Médico-socio model not transferable</a:t>
            </a:r>
            <a:endParaRPr lang="en-US" sz="1000" dirty="0"/>
          </a:p>
        </p:txBody>
      </p:sp>
      <p:sp>
        <p:nvSpPr>
          <p:cNvPr id="13" name="Text 11"/>
          <p:cNvSpPr/>
          <p:nvPr/>
        </p:nvSpPr>
        <p:spPr>
          <a:xfrm>
            <a:off x="2798064" y="1335024"/>
            <a:ext cx="2468880" cy="530352"/>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Structural + Cultural</a:t>
            </a:r>
            <a:endParaRPr lang="en-US" sz="1000" dirty="0"/>
          </a:p>
        </p:txBody>
      </p:sp>
      <p:sp>
        <p:nvSpPr>
          <p:cNvPr id="14" name="Text 12"/>
          <p:cNvSpPr/>
          <p:nvPr/>
        </p:nvSpPr>
        <p:spPr>
          <a:xfrm>
            <a:off x="5358384" y="1335024"/>
            <a:ext cx="1737360" cy="530352"/>
          </a:xfrm>
          <a:prstGeom prst="rect">
            <a:avLst/>
          </a:prstGeom>
          <a:noFill/>
          <a:ln/>
        </p:spPr>
        <p:txBody>
          <a:bodyPr wrap="square" lIns="0" tIns="0" rIns="0" bIns="0" rtlCol="0" anchor="ctr"/>
          <a:lstStyle/>
          <a:p>
            <a:pPr algn="l" indent="0" marL="0">
              <a:buNone/>
            </a:pPr>
            <a:r>
              <a:rPr lang="en-US" sz="1000" b="1" dirty="0">
                <a:solidFill>
                  <a:srgbClr val="C0392B"/>
                </a:solidFill>
                <a:latin typeface="Helvetica Neue" pitchFamily="34" charset="0"/>
                <a:ea typeface="Helvetica Neue" pitchFamily="34" charset="-122"/>
                <a:cs typeface="Helvetica Neue" pitchFamily="34" charset="-120"/>
              </a:rPr>
              <a:t>CRITICAL</a:t>
            </a:r>
            <a:endParaRPr lang="en-US" sz="1000" dirty="0"/>
          </a:p>
        </p:txBody>
      </p:sp>
      <p:sp>
        <p:nvSpPr>
          <p:cNvPr id="15" name="Text 13"/>
          <p:cNvSpPr/>
          <p:nvPr/>
        </p:nvSpPr>
        <p:spPr>
          <a:xfrm>
            <a:off x="7187184" y="1335024"/>
            <a:ext cx="1737360" cy="530352"/>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Hospital opens with 2nd-tier doctors → no patient flow</a:t>
            </a:r>
            <a:endParaRPr lang="en-US" sz="900" dirty="0"/>
          </a:p>
        </p:txBody>
      </p:sp>
      <p:sp>
        <p:nvSpPr>
          <p:cNvPr id="16" name="Shape 14"/>
          <p:cNvSpPr/>
          <p:nvPr/>
        </p:nvSpPr>
        <p:spPr>
          <a:xfrm>
            <a:off x="457200" y="1956816"/>
            <a:ext cx="8229600" cy="594360"/>
          </a:xfrm>
          <a:prstGeom prst="rect">
            <a:avLst/>
          </a:prstGeom>
          <a:solidFill>
            <a:srgbClr val="FFFFFF"/>
          </a:solidFill>
          <a:ln/>
        </p:spPr>
      </p:sp>
      <p:sp>
        <p:nvSpPr>
          <p:cNvPr id="17" name="Text 15"/>
          <p:cNvSpPr/>
          <p:nvPr/>
        </p:nvSpPr>
        <p:spPr>
          <a:xfrm>
            <a:off x="512064" y="1975104"/>
            <a:ext cx="2194560" cy="530352"/>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BS-2 · Undervaluing Quirónsalud integration</a:t>
            </a:r>
            <a:endParaRPr lang="en-US" sz="1000" dirty="0"/>
          </a:p>
        </p:txBody>
      </p:sp>
      <p:sp>
        <p:nvSpPr>
          <p:cNvPr id="18" name="Text 16"/>
          <p:cNvSpPr/>
          <p:nvPr/>
        </p:nvSpPr>
        <p:spPr>
          <a:xfrm>
            <a:off x="2798064" y="1975104"/>
            <a:ext cx="2468880" cy="530352"/>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Cognitive</a:t>
            </a:r>
            <a:endParaRPr lang="en-US" sz="1000" dirty="0"/>
          </a:p>
        </p:txBody>
      </p:sp>
      <p:sp>
        <p:nvSpPr>
          <p:cNvPr id="19" name="Text 17"/>
          <p:cNvSpPr/>
          <p:nvPr/>
        </p:nvSpPr>
        <p:spPr>
          <a:xfrm>
            <a:off x="5358384" y="1975104"/>
            <a:ext cx="1737360" cy="530352"/>
          </a:xfrm>
          <a:prstGeom prst="rect">
            <a:avLst/>
          </a:prstGeom>
          <a:noFill/>
          <a:ln/>
        </p:spPr>
        <p:txBody>
          <a:bodyPr wrap="square" lIns="0" tIns="0" rIns="0" bIns="0" rtlCol="0" anchor="ctr"/>
          <a:lstStyle/>
          <a:p>
            <a:pPr algn="l" indent="0" marL="0">
              <a:buNone/>
            </a:pPr>
            <a:r>
              <a:rPr lang="en-US" sz="1000" b="1" dirty="0">
                <a:solidFill>
                  <a:srgbClr val="E67E22"/>
                </a:solidFill>
                <a:latin typeface="Helvetica Neue" pitchFamily="34" charset="0"/>
                <a:ea typeface="Helvetica Neue" pitchFamily="34" charset="-122"/>
                <a:cs typeface="Helvetica Neue" pitchFamily="34" charset="-120"/>
              </a:rPr>
              <a:t>VERY HIGH</a:t>
            </a:r>
            <a:endParaRPr lang="en-US" sz="1000" dirty="0"/>
          </a:p>
        </p:txBody>
      </p:sp>
      <p:sp>
        <p:nvSpPr>
          <p:cNvPr id="20" name="Text 18"/>
          <p:cNvSpPr/>
          <p:nvPr/>
        </p:nvSpPr>
        <p:spPr>
          <a:xfrm>
            <a:off x="7187184" y="1975104"/>
            <a:ext cx="1737360" cy="530352"/>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No insurer deal → CapEx not covered by volume</a:t>
            </a:r>
            <a:endParaRPr lang="en-US" sz="900" dirty="0"/>
          </a:p>
        </p:txBody>
      </p:sp>
      <p:sp>
        <p:nvSpPr>
          <p:cNvPr id="21" name="Shape 19"/>
          <p:cNvSpPr/>
          <p:nvPr/>
        </p:nvSpPr>
        <p:spPr>
          <a:xfrm>
            <a:off x="457200" y="2596896"/>
            <a:ext cx="8229600" cy="594360"/>
          </a:xfrm>
          <a:prstGeom prst="rect">
            <a:avLst/>
          </a:prstGeom>
          <a:solidFill>
            <a:srgbClr val="FAFAFA"/>
          </a:solidFill>
          <a:ln/>
        </p:spPr>
      </p:sp>
      <p:sp>
        <p:nvSpPr>
          <p:cNvPr id="22" name="Text 20"/>
          <p:cNvSpPr/>
          <p:nvPr/>
        </p:nvSpPr>
        <p:spPr>
          <a:xfrm>
            <a:off x="512064" y="2615184"/>
            <a:ext cx="2194560" cy="530352"/>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BS-3 · Licensing cycle 24-36 months</a:t>
            </a:r>
            <a:endParaRPr lang="en-US" sz="1000" dirty="0"/>
          </a:p>
        </p:txBody>
      </p:sp>
      <p:sp>
        <p:nvSpPr>
          <p:cNvPr id="23" name="Text 21"/>
          <p:cNvSpPr/>
          <p:nvPr/>
        </p:nvSpPr>
        <p:spPr>
          <a:xfrm>
            <a:off x="2798064" y="2615184"/>
            <a:ext cx="2468880" cy="530352"/>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Structural</a:t>
            </a:r>
            <a:endParaRPr lang="en-US" sz="1000" dirty="0"/>
          </a:p>
        </p:txBody>
      </p:sp>
      <p:sp>
        <p:nvSpPr>
          <p:cNvPr id="24" name="Text 22"/>
          <p:cNvSpPr/>
          <p:nvPr/>
        </p:nvSpPr>
        <p:spPr>
          <a:xfrm>
            <a:off x="5358384" y="2615184"/>
            <a:ext cx="1737360" cy="530352"/>
          </a:xfrm>
          <a:prstGeom prst="rect">
            <a:avLst/>
          </a:prstGeom>
          <a:noFill/>
          <a:ln/>
        </p:spPr>
        <p:txBody>
          <a:bodyPr wrap="square" lIns="0" tIns="0" rIns="0" bIns="0" rtlCol="0" anchor="ctr"/>
          <a:lstStyle/>
          <a:p>
            <a:pPr algn="l" indent="0" marL="0">
              <a:buNone/>
            </a:pPr>
            <a:r>
              <a:rPr lang="en-US" sz="1000" b="1" dirty="0">
                <a:solidFill>
                  <a:srgbClr val="B7791F"/>
                </a:solidFill>
                <a:latin typeface="Helvetica Neue" pitchFamily="34" charset="0"/>
                <a:ea typeface="Helvetica Neue" pitchFamily="34" charset="-122"/>
                <a:cs typeface="Helvetica Neue" pitchFamily="34" charset="-120"/>
              </a:rPr>
              <a:t>HIGH</a:t>
            </a:r>
            <a:endParaRPr lang="en-US" sz="1000" dirty="0"/>
          </a:p>
        </p:txBody>
      </p:sp>
      <p:sp>
        <p:nvSpPr>
          <p:cNvPr id="25" name="Text 23"/>
          <p:cNvSpPr/>
          <p:nvPr/>
        </p:nvSpPr>
        <p:spPr>
          <a:xfrm>
            <a:off x="7187184" y="2615184"/>
            <a:ext cx="1737360" cy="530352"/>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Cash burn before opening → investor confidence loss</a:t>
            </a:r>
            <a:endParaRPr lang="en-US" sz="900" dirty="0"/>
          </a:p>
        </p:txBody>
      </p:sp>
      <p:sp>
        <p:nvSpPr>
          <p:cNvPr id="26" name="Shape 24"/>
          <p:cNvSpPr/>
          <p:nvPr/>
        </p:nvSpPr>
        <p:spPr>
          <a:xfrm>
            <a:off x="457200" y="3236976"/>
            <a:ext cx="8229600" cy="594360"/>
          </a:xfrm>
          <a:prstGeom prst="rect">
            <a:avLst/>
          </a:prstGeom>
          <a:solidFill>
            <a:srgbClr val="FFFFFF"/>
          </a:solidFill>
          <a:ln/>
        </p:spPr>
      </p:sp>
      <p:sp>
        <p:nvSpPr>
          <p:cNvPr id="27" name="Text 25"/>
          <p:cNvSpPr/>
          <p:nvPr/>
        </p:nvSpPr>
        <p:spPr>
          <a:xfrm>
            <a:off x="512064" y="3255264"/>
            <a:ext cx="2194560" cy="530352"/>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BS-4 · 'Puebla works → Madrid works'</a:t>
            </a:r>
            <a:endParaRPr lang="en-US" sz="1000" dirty="0"/>
          </a:p>
        </p:txBody>
      </p:sp>
      <p:sp>
        <p:nvSpPr>
          <p:cNvPr id="28" name="Text 26"/>
          <p:cNvSpPr/>
          <p:nvPr/>
        </p:nvSpPr>
        <p:spPr>
          <a:xfrm>
            <a:off x="2798064" y="3255264"/>
            <a:ext cx="2468880" cy="530352"/>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Cognitive</a:t>
            </a:r>
            <a:endParaRPr lang="en-US" sz="1000" dirty="0"/>
          </a:p>
        </p:txBody>
      </p:sp>
      <p:sp>
        <p:nvSpPr>
          <p:cNvPr id="29" name="Text 27"/>
          <p:cNvSpPr/>
          <p:nvPr/>
        </p:nvSpPr>
        <p:spPr>
          <a:xfrm>
            <a:off x="5358384" y="3255264"/>
            <a:ext cx="1737360" cy="530352"/>
          </a:xfrm>
          <a:prstGeom prst="rect">
            <a:avLst/>
          </a:prstGeom>
          <a:noFill/>
          <a:ln/>
        </p:spPr>
        <p:txBody>
          <a:bodyPr wrap="square" lIns="0" tIns="0" rIns="0" bIns="0" rtlCol="0" anchor="ctr"/>
          <a:lstStyle/>
          <a:p>
            <a:pPr algn="l" indent="0" marL="0">
              <a:buNone/>
            </a:pPr>
            <a:r>
              <a:rPr lang="en-US" sz="1000" b="1" dirty="0">
                <a:solidFill>
                  <a:srgbClr val="B7791F"/>
                </a:solidFill>
                <a:latin typeface="Helvetica Neue" pitchFamily="34" charset="0"/>
                <a:ea typeface="Helvetica Neue" pitchFamily="34" charset="-122"/>
                <a:cs typeface="Helvetica Neue" pitchFamily="34" charset="-120"/>
              </a:rPr>
              <a:t>HIGH</a:t>
            </a:r>
            <a:endParaRPr lang="en-US" sz="1000" dirty="0"/>
          </a:p>
        </p:txBody>
      </p:sp>
      <p:sp>
        <p:nvSpPr>
          <p:cNvPr id="30" name="Text 28"/>
          <p:cNvSpPr/>
          <p:nvPr/>
        </p:nvSpPr>
        <p:spPr>
          <a:xfrm>
            <a:off x="7187184" y="3255264"/>
            <a:ext cx="1737360" cy="530352"/>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CAC 3-5× projected → margin destroyed</a:t>
            </a:r>
            <a:endParaRPr lang="en-US" sz="900" dirty="0"/>
          </a:p>
        </p:txBody>
      </p:sp>
      <p:sp>
        <p:nvSpPr>
          <p:cNvPr id="31" name="Shape 29"/>
          <p:cNvSpPr/>
          <p:nvPr/>
        </p:nvSpPr>
        <p:spPr>
          <a:xfrm>
            <a:off x="457200" y="3877056"/>
            <a:ext cx="8229600" cy="594360"/>
          </a:xfrm>
          <a:prstGeom prst="rect">
            <a:avLst/>
          </a:prstGeom>
          <a:solidFill>
            <a:srgbClr val="FAFAFA"/>
          </a:solidFill>
          <a:ln/>
        </p:spPr>
      </p:sp>
      <p:sp>
        <p:nvSpPr>
          <p:cNvPr id="32" name="Text 30"/>
          <p:cNvSpPr/>
          <p:nvPr/>
        </p:nvSpPr>
        <p:spPr>
          <a:xfrm>
            <a:off x="512064" y="3895344"/>
            <a:ext cx="2194560" cy="530352"/>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BS-5 · Over-extension Mexico + Spain</a:t>
            </a:r>
            <a:endParaRPr lang="en-US" sz="1000" dirty="0"/>
          </a:p>
        </p:txBody>
      </p:sp>
      <p:sp>
        <p:nvSpPr>
          <p:cNvPr id="33" name="Text 31"/>
          <p:cNvSpPr/>
          <p:nvPr/>
        </p:nvSpPr>
        <p:spPr>
          <a:xfrm>
            <a:off x="2798064" y="3895344"/>
            <a:ext cx="2468880" cy="530352"/>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Structural</a:t>
            </a:r>
            <a:endParaRPr lang="en-US" sz="1000" dirty="0"/>
          </a:p>
        </p:txBody>
      </p:sp>
      <p:sp>
        <p:nvSpPr>
          <p:cNvPr id="34" name="Text 32"/>
          <p:cNvSpPr/>
          <p:nvPr/>
        </p:nvSpPr>
        <p:spPr>
          <a:xfrm>
            <a:off x="5358384" y="3895344"/>
            <a:ext cx="1737360" cy="530352"/>
          </a:xfrm>
          <a:prstGeom prst="rect">
            <a:avLst/>
          </a:prstGeom>
          <a:noFill/>
          <a:ln/>
        </p:spPr>
        <p:txBody>
          <a:bodyPr wrap="square" lIns="0" tIns="0" rIns="0" bIns="0" rtlCol="0" anchor="ctr"/>
          <a:lstStyle/>
          <a:p>
            <a:pPr algn="l" indent="0" marL="0">
              <a:buNone/>
            </a:pPr>
            <a:r>
              <a:rPr lang="en-US" sz="1000" b="1" dirty="0">
                <a:solidFill>
                  <a:srgbClr val="B7791F"/>
                </a:solidFill>
                <a:latin typeface="Helvetica Neue" pitchFamily="34" charset="0"/>
                <a:ea typeface="Helvetica Neue" pitchFamily="34" charset="-122"/>
                <a:cs typeface="Helvetica Neue" pitchFamily="34" charset="-120"/>
              </a:rPr>
              <a:t>HIGH</a:t>
            </a:r>
            <a:endParaRPr lang="en-US" sz="1000" dirty="0"/>
          </a:p>
        </p:txBody>
      </p:sp>
      <p:sp>
        <p:nvSpPr>
          <p:cNvPr id="35" name="Text 33"/>
          <p:cNvSpPr/>
          <p:nvPr/>
        </p:nvSpPr>
        <p:spPr>
          <a:xfrm>
            <a:off x="7187184" y="3895344"/>
            <a:ext cx="1737360" cy="530352"/>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Management dilution → quality failure in both markets</a:t>
            </a:r>
            <a:endParaRPr lang="en-US" sz="900" dirty="0"/>
          </a:p>
        </p:txBody>
      </p:sp>
      <p:sp>
        <p:nvSpPr>
          <p:cNvPr id="36" name="Text 34"/>
          <p:cNvSpPr/>
          <p:nvPr/>
        </p:nvSpPr>
        <p:spPr>
          <a:xfrm>
            <a:off x="457200" y="4809744"/>
            <a:ext cx="8229600" cy="201168"/>
          </a:xfrm>
          <a:prstGeom prst="rect">
            <a:avLst/>
          </a:prstGeom>
          <a:noFill/>
          <a:ln/>
        </p:spPr>
        <p:txBody>
          <a:bodyPr wrap="square" lIns="0" tIns="0" rIns="0" bIns="0" rtlCol="0" anchor="ctr"/>
          <a:lstStyle/>
          <a:p>
            <a:pPr algn="l" indent="0" marL="0">
              <a:buNone/>
            </a:pPr>
            <a:r>
              <a:rPr lang="en-US" sz="850" dirty="0">
                <a:solidFill>
                  <a:srgbClr val="9AA0A6"/>
                </a:solidFill>
                <a:latin typeface="Helvetica Neue" pitchFamily="34" charset="0"/>
                <a:ea typeface="Helvetica Neue" pitchFamily="34" charset="-122"/>
                <a:cs typeface="Helvetica Neue" pitchFamily="34" charset="-120"/>
              </a:rPr>
              <a:t>Framework: Zahra &amp; Chaples (1993) · TN03   |   Pre-Mortem (Klein): 5 root causes of failure identified</a:t>
            </a:r>
            <a:endParaRPr lang="en-US" sz="850" dirty="0"/>
          </a:p>
        </p:txBody>
      </p:sp>
      <p:sp>
        <p:nvSpPr>
          <p:cNvPr id="37" name="Text 35"/>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2 · COMPETITIVE INTELLIGENCE</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AMC Analysis: Who Reacts, How, and When?</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Text 4"/>
          <p:cNvSpPr/>
          <p:nvPr/>
        </p:nvSpPr>
        <p:spPr>
          <a:xfrm>
            <a:off x="457200" y="1078992"/>
            <a:ext cx="3291840" cy="256032"/>
          </a:xfrm>
          <a:prstGeom prst="rect">
            <a:avLst/>
          </a:prstGeom>
          <a:noFill/>
          <a:ln/>
        </p:spPr>
        <p:txBody>
          <a:bodyPr wrap="square" lIns="0" tIns="0" rIns="0" bIns="0" rtlCol="0" anchor="ctr"/>
          <a:lstStyle/>
          <a:p>
            <a:pPr algn="l" indent="0" marL="0">
              <a:buNone/>
            </a:pPr>
            <a:r>
              <a:rPr lang="en-US" sz="1300" b="1" dirty="0">
                <a:solidFill>
                  <a:srgbClr val="0F3460"/>
                </a:solidFill>
                <a:latin typeface="Helvetica Neue" pitchFamily="34" charset="0"/>
                <a:ea typeface="Helvetica Neue" pitchFamily="34" charset="-122"/>
                <a:cs typeface="Helvetica Neue" pitchFamily="34" charset="-120"/>
              </a:rPr>
              <a:t>4-Agent Architecture</a:t>
            </a:r>
            <a:endParaRPr lang="en-US" sz="1300" dirty="0"/>
          </a:p>
        </p:txBody>
      </p:sp>
      <p:sp>
        <p:nvSpPr>
          <p:cNvPr id="7" name="Shape 5"/>
          <p:cNvSpPr/>
          <p:nvPr/>
        </p:nvSpPr>
        <p:spPr>
          <a:xfrm>
            <a:off x="457200" y="1408176"/>
            <a:ext cx="3200400" cy="512064"/>
          </a:xfrm>
          <a:prstGeom prst="rect">
            <a:avLst/>
          </a:prstGeom>
          <a:solidFill>
            <a:srgbClr val="0F3460"/>
          </a:solidFill>
          <a:ln/>
        </p:spPr>
      </p:sp>
      <p:sp>
        <p:nvSpPr>
          <p:cNvPr id="8" name="Text 6"/>
          <p:cNvSpPr/>
          <p:nvPr/>
        </p:nvSpPr>
        <p:spPr>
          <a:xfrm>
            <a:off x="548640" y="1435608"/>
            <a:ext cx="3017520" cy="219456"/>
          </a:xfrm>
          <a:prstGeom prst="rect">
            <a:avLst/>
          </a:prstGeom>
          <a:noFill/>
          <a:ln/>
        </p:spPr>
        <p:txBody>
          <a:bodyPr wrap="square" lIns="0" tIns="0" rIns="0" bIns="0" rtlCol="0" anchor="ctr"/>
          <a:lstStyle/>
          <a:p>
            <a:pPr algn="l" indent="0" marL="0">
              <a:buNone/>
            </a:pPr>
            <a:r>
              <a:rPr lang="en-US" sz="1100" b="1" dirty="0">
                <a:solidFill>
                  <a:srgbClr val="FFFFFF"/>
                </a:solidFill>
                <a:latin typeface="Helvetica Neue" pitchFamily="34" charset="0"/>
                <a:ea typeface="Helvetica Neue" pitchFamily="34" charset="-122"/>
                <a:cs typeface="Helvetica Neue" pitchFamily="34" charset="-120"/>
              </a:rPr>
              <a:t>OSINT Agent</a:t>
            </a:r>
            <a:endParaRPr lang="en-US" sz="1100" dirty="0"/>
          </a:p>
        </p:txBody>
      </p:sp>
      <p:sp>
        <p:nvSpPr>
          <p:cNvPr id="9" name="Text 7"/>
          <p:cNvSpPr/>
          <p:nvPr/>
        </p:nvSpPr>
        <p:spPr>
          <a:xfrm>
            <a:off x="548640" y="1627632"/>
            <a:ext cx="3017520" cy="219456"/>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Public sources: filings, websites, regulators</a:t>
            </a:r>
            <a:endParaRPr lang="en-US" sz="950" dirty="0"/>
          </a:p>
        </p:txBody>
      </p:sp>
      <p:sp>
        <p:nvSpPr>
          <p:cNvPr id="10" name="Shape 8"/>
          <p:cNvSpPr/>
          <p:nvPr/>
        </p:nvSpPr>
        <p:spPr>
          <a:xfrm>
            <a:off x="457200" y="2011680"/>
            <a:ext cx="3200400" cy="512064"/>
          </a:xfrm>
          <a:prstGeom prst="rect">
            <a:avLst/>
          </a:prstGeom>
          <a:solidFill>
            <a:srgbClr val="1A5276"/>
          </a:solidFill>
          <a:ln/>
        </p:spPr>
      </p:sp>
      <p:sp>
        <p:nvSpPr>
          <p:cNvPr id="11" name="Text 9"/>
          <p:cNvSpPr/>
          <p:nvPr/>
        </p:nvSpPr>
        <p:spPr>
          <a:xfrm>
            <a:off x="548640" y="2039112"/>
            <a:ext cx="3017520" cy="219456"/>
          </a:xfrm>
          <a:prstGeom prst="rect">
            <a:avLst/>
          </a:prstGeom>
          <a:noFill/>
          <a:ln/>
        </p:spPr>
        <p:txBody>
          <a:bodyPr wrap="square" lIns="0" tIns="0" rIns="0" bIns="0" rtlCol="0" anchor="ctr"/>
          <a:lstStyle/>
          <a:p>
            <a:pPr algn="l" indent="0" marL="0">
              <a:buNone/>
            </a:pPr>
            <a:r>
              <a:rPr lang="en-US" sz="1100" b="1" dirty="0">
                <a:solidFill>
                  <a:srgbClr val="FFFFFF"/>
                </a:solidFill>
                <a:latin typeface="Helvetica Neue" pitchFamily="34" charset="0"/>
                <a:ea typeface="Helvetica Neue" pitchFamily="34" charset="-122"/>
                <a:cs typeface="Helvetica Neue" pitchFamily="34" charset="-120"/>
              </a:rPr>
              <a:t>Alt.Data Agent</a:t>
            </a:r>
            <a:endParaRPr lang="en-US" sz="1100" dirty="0"/>
          </a:p>
        </p:txBody>
      </p:sp>
      <p:sp>
        <p:nvSpPr>
          <p:cNvPr id="12" name="Text 10"/>
          <p:cNvSpPr/>
          <p:nvPr/>
        </p:nvSpPr>
        <p:spPr>
          <a:xfrm>
            <a:off x="548640" y="2231136"/>
            <a:ext cx="3017520" cy="219456"/>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M&amp;A tracking, hiring signals, news</a:t>
            </a:r>
            <a:endParaRPr lang="en-US" sz="950" dirty="0"/>
          </a:p>
        </p:txBody>
      </p:sp>
      <p:sp>
        <p:nvSpPr>
          <p:cNvPr id="13" name="Shape 11"/>
          <p:cNvSpPr/>
          <p:nvPr/>
        </p:nvSpPr>
        <p:spPr>
          <a:xfrm>
            <a:off x="457200" y="2615184"/>
            <a:ext cx="3200400" cy="512064"/>
          </a:xfrm>
          <a:prstGeom prst="rect">
            <a:avLst/>
          </a:prstGeom>
          <a:solidFill>
            <a:srgbClr val="0F3460"/>
          </a:solidFill>
          <a:ln/>
        </p:spPr>
      </p:sp>
      <p:sp>
        <p:nvSpPr>
          <p:cNvPr id="14" name="Text 12"/>
          <p:cNvSpPr/>
          <p:nvPr/>
        </p:nvSpPr>
        <p:spPr>
          <a:xfrm>
            <a:off x="548640" y="2642616"/>
            <a:ext cx="3017520" cy="219456"/>
          </a:xfrm>
          <a:prstGeom prst="rect">
            <a:avLst/>
          </a:prstGeom>
          <a:noFill/>
          <a:ln/>
        </p:spPr>
        <p:txBody>
          <a:bodyPr wrap="square" lIns="0" tIns="0" rIns="0" bIns="0" rtlCol="0" anchor="ctr"/>
          <a:lstStyle/>
          <a:p>
            <a:pPr algn="l" indent="0" marL="0">
              <a:buNone/>
            </a:pPr>
            <a:r>
              <a:rPr lang="en-US" sz="1100" b="1" dirty="0">
                <a:solidFill>
                  <a:srgbClr val="FFFFFF"/>
                </a:solidFill>
                <a:latin typeface="Helvetica Neue" pitchFamily="34" charset="0"/>
                <a:ea typeface="Helvetica Neue" pitchFamily="34" charset="-122"/>
                <a:cs typeface="Helvetica Neue" pitchFamily="34" charset="-120"/>
              </a:rPr>
              <a:t>AMC Agent</a:t>
            </a:r>
            <a:endParaRPr lang="en-US" sz="1100" dirty="0"/>
          </a:p>
        </p:txBody>
      </p:sp>
      <p:sp>
        <p:nvSpPr>
          <p:cNvPr id="15" name="Text 13"/>
          <p:cNvSpPr/>
          <p:nvPr/>
        </p:nvSpPr>
        <p:spPr>
          <a:xfrm>
            <a:off x="548640" y="2834640"/>
            <a:ext cx="3017520" cy="219456"/>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Awareness · Motivation · Capability scoring</a:t>
            </a:r>
            <a:endParaRPr lang="en-US" sz="950" dirty="0"/>
          </a:p>
        </p:txBody>
      </p:sp>
      <p:sp>
        <p:nvSpPr>
          <p:cNvPr id="16" name="Shape 14"/>
          <p:cNvSpPr/>
          <p:nvPr/>
        </p:nvSpPr>
        <p:spPr>
          <a:xfrm>
            <a:off x="457200" y="3218688"/>
            <a:ext cx="3200400" cy="512064"/>
          </a:xfrm>
          <a:prstGeom prst="rect">
            <a:avLst/>
          </a:prstGeom>
          <a:solidFill>
            <a:srgbClr val="1A5276"/>
          </a:solidFill>
          <a:ln/>
        </p:spPr>
      </p:sp>
      <p:sp>
        <p:nvSpPr>
          <p:cNvPr id="17" name="Text 15"/>
          <p:cNvSpPr/>
          <p:nvPr/>
        </p:nvSpPr>
        <p:spPr>
          <a:xfrm>
            <a:off x="548640" y="3246120"/>
            <a:ext cx="3017520" cy="219456"/>
          </a:xfrm>
          <a:prstGeom prst="rect">
            <a:avLst/>
          </a:prstGeom>
          <a:noFill/>
          <a:ln/>
        </p:spPr>
        <p:txBody>
          <a:bodyPr wrap="square" lIns="0" tIns="0" rIns="0" bIns="0" rtlCol="0" anchor="ctr"/>
          <a:lstStyle/>
          <a:p>
            <a:pPr algn="l" indent="0" marL="0">
              <a:buNone/>
            </a:pPr>
            <a:r>
              <a:rPr lang="en-US" sz="1100" b="1" dirty="0">
                <a:solidFill>
                  <a:srgbClr val="FFFFFF"/>
                </a:solidFill>
                <a:latin typeface="Helvetica Neue" pitchFamily="34" charset="0"/>
                <a:ea typeface="Helvetica Neue" pitchFamily="34" charset="-122"/>
                <a:cs typeface="Helvetica Neue" pitchFamily="34" charset="-120"/>
              </a:rPr>
              <a:t>Synthesis Agent</a:t>
            </a:r>
            <a:endParaRPr lang="en-US" sz="1100" dirty="0"/>
          </a:p>
        </p:txBody>
      </p:sp>
      <p:sp>
        <p:nvSpPr>
          <p:cNvPr id="18" name="Text 16"/>
          <p:cNvSpPr/>
          <p:nvPr/>
        </p:nvSpPr>
        <p:spPr>
          <a:xfrm>
            <a:off x="548640" y="3438144"/>
            <a:ext cx="3017520" cy="219456"/>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Integrated report + strategic recommendations</a:t>
            </a:r>
            <a:endParaRPr lang="en-US" sz="950" dirty="0"/>
          </a:p>
        </p:txBody>
      </p:sp>
      <p:sp>
        <p:nvSpPr>
          <p:cNvPr id="19" name="Text 17"/>
          <p:cNvSpPr/>
          <p:nvPr/>
        </p:nvSpPr>
        <p:spPr>
          <a:xfrm>
            <a:off x="457200" y="3858768"/>
            <a:ext cx="3291840" cy="256032"/>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12 verified sources · GDPR compliant · 90-second runtime</a:t>
            </a:r>
            <a:endParaRPr lang="en-US" sz="900" dirty="0"/>
          </a:p>
        </p:txBody>
      </p:sp>
      <p:sp>
        <p:nvSpPr>
          <p:cNvPr id="20" name="Shape 18"/>
          <p:cNvSpPr/>
          <p:nvPr/>
        </p:nvSpPr>
        <p:spPr>
          <a:xfrm>
            <a:off x="3840480" y="1005840"/>
            <a:ext cx="0" cy="3657600"/>
          </a:xfrm>
          <a:prstGeom prst="line">
            <a:avLst/>
          </a:prstGeom>
          <a:noFill/>
          <a:ln w="9525">
            <a:solidFill>
              <a:srgbClr val="9AA0A6"/>
            </a:solidFill>
            <a:prstDash val="solid"/>
          </a:ln>
        </p:spPr>
      </p:sp>
      <p:sp>
        <p:nvSpPr>
          <p:cNvPr id="21" name="Text 19"/>
          <p:cNvSpPr/>
          <p:nvPr/>
        </p:nvSpPr>
        <p:spPr>
          <a:xfrm>
            <a:off x="4023360" y="1078992"/>
            <a:ext cx="4663440" cy="256032"/>
          </a:xfrm>
          <a:prstGeom prst="rect">
            <a:avLst/>
          </a:prstGeom>
          <a:noFill/>
          <a:ln/>
        </p:spPr>
        <p:txBody>
          <a:bodyPr wrap="square" lIns="0" tIns="0" rIns="0" bIns="0" rtlCol="0" anchor="ctr"/>
          <a:lstStyle/>
          <a:p>
            <a:pPr algn="l" indent="0" marL="0">
              <a:buNone/>
            </a:pPr>
            <a:r>
              <a:rPr lang="en-US" sz="1300" b="1" dirty="0">
                <a:solidFill>
                  <a:srgbClr val="0F3460"/>
                </a:solidFill>
                <a:latin typeface="Helvetica Neue" pitchFamily="34" charset="0"/>
                <a:ea typeface="Helvetica Neue" pitchFamily="34" charset="-122"/>
                <a:cs typeface="Helvetica Neue" pitchFamily="34" charset="-120"/>
              </a:rPr>
              <a:t>AMC Scores &amp; Response Probability</a:t>
            </a:r>
            <a:endParaRPr lang="en-US" sz="1300" dirty="0"/>
          </a:p>
        </p:txBody>
      </p:sp>
      <p:sp>
        <p:nvSpPr>
          <p:cNvPr id="22" name="Shape 20"/>
          <p:cNvSpPr/>
          <p:nvPr/>
        </p:nvSpPr>
        <p:spPr>
          <a:xfrm>
            <a:off x="4023360" y="1389888"/>
            <a:ext cx="4663440" cy="274320"/>
          </a:xfrm>
          <a:prstGeom prst="rect">
            <a:avLst/>
          </a:prstGeom>
          <a:solidFill>
            <a:srgbClr val="0F3460"/>
          </a:solidFill>
          <a:ln/>
        </p:spPr>
      </p:sp>
      <p:sp>
        <p:nvSpPr>
          <p:cNvPr id="23" name="Text 21"/>
          <p:cNvSpPr/>
          <p:nvPr/>
        </p:nvSpPr>
        <p:spPr>
          <a:xfrm>
            <a:off x="4023360" y="1389888"/>
            <a:ext cx="1417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Competitor</a:t>
            </a:r>
            <a:endParaRPr lang="en-US" sz="900" dirty="0"/>
          </a:p>
        </p:txBody>
      </p:sp>
      <p:sp>
        <p:nvSpPr>
          <p:cNvPr id="24" name="Text 22"/>
          <p:cNvSpPr/>
          <p:nvPr/>
        </p:nvSpPr>
        <p:spPr>
          <a:xfrm>
            <a:off x="5486400" y="1389888"/>
            <a:ext cx="4572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A</a:t>
            </a:r>
            <a:endParaRPr lang="en-US" sz="900" dirty="0"/>
          </a:p>
        </p:txBody>
      </p:sp>
      <p:sp>
        <p:nvSpPr>
          <p:cNvPr id="25" name="Text 23"/>
          <p:cNvSpPr/>
          <p:nvPr/>
        </p:nvSpPr>
        <p:spPr>
          <a:xfrm>
            <a:off x="5989320" y="1389888"/>
            <a:ext cx="4572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M</a:t>
            </a:r>
            <a:endParaRPr lang="en-US" sz="900" dirty="0"/>
          </a:p>
        </p:txBody>
      </p:sp>
      <p:sp>
        <p:nvSpPr>
          <p:cNvPr id="26" name="Text 24"/>
          <p:cNvSpPr/>
          <p:nvPr/>
        </p:nvSpPr>
        <p:spPr>
          <a:xfrm>
            <a:off x="6492240" y="1389888"/>
            <a:ext cx="4572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C</a:t>
            </a:r>
            <a:endParaRPr lang="en-US" sz="900" dirty="0"/>
          </a:p>
        </p:txBody>
      </p:sp>
      <p:sp>
        <p:nvSpPr>
          <p:cNvPr id="27" name="Text 25"/>
          <p:cNvSpPr/>
          <p:nvPr/>
        </p:nvSpPr>
        <p:spPr>
          <a:xfrm>
            <a:off x="6995160" y="1389888"/>
            <a:ext cx="10058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P(response)</a:t>
            </a:r>
            <a:endParaRPr lang="en-US" sz="900" dirty="0"/>
          </a:p>
        </p:txBody>
      </p:sp>
      <p:sp>
        <p:nvSpPr>
          <p:cNvPr id="28" name="Text 26"/>
          <p:cNvSpPr/>
          <p:nvPr/>
        </p:nvSpPr>
        <p:spPr>
          <a:xfrm>
            <a:off x="8046720" y="1389888"/>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Timeline</a:t>
            </a:r>
            <a:endParaRPr lang="en-US" sz="900" dirty="0"/>
          </a:p>
        </p:txBody>
      </p:sp>
      <p:sp>
        <p:nvSpPr>
          <p:cNvPr id="29" name="Shape 27"/>
          <p:cNvSpPr/>
          <p:nvPr/>
        </p:nvSpPr>
        <p:spPr>
          <a:xfrm>
            <a:off x="4023360" y="1682496"/>
            <a:ext cx="4663440" cy="475488"/>
          </a:xfrm>
          <a:prstGeom prst="rect">
            <a:avLst/>
          </a:prstGeom>
          <a:solidFill>
            <a:srgbClr val="FFFFFF"/>
          </a:solidFill>
          <a:ln/>
        </p:spPr>
      </p:sp>
      <p:sp>
        <p:nvSpPr>
          <p:cNvPr id="30" name="Text 28"/>
          <p:cNvSpPr/>
          <p:nvPr/>
        </p:nvSpPr>
        <p:spPr>
          <a:xfrm>
            <a:off x="4023360" y="1700784"/>
            <a:ext cx="1417320" cy="420624"/>
          </a:xfrm>
          <a:prstGeom prst="rect">
            <a:avLst/>
          </a:prstGeom>
          <a:noFill/>
          <a:ln/>
        </p:spPr>
        <p:txBody>
          <a:bodyPr wrap="square" lIns="0" tIns="0" rIns="0" bIns="0" rtlCol="0" anchor="ctr"/>
          <a:lstStyle/>
          <a:p>
            <a:pPr algn="ctr" indent="0" marL="0">
              <a:buNone/>
            </a:pPr>
            <a:r>
              <a:rPr lang="en-US" sz="1100" b="1" dirty="0">
                <a:solidFill>
                  <a:srgbClr val="0F3460"/>
                </a:solidFill>
                <a:latin typeface="Helvetica Neue" pitchFamily="34" charset="0"/>
                <a:ea typeface="Helvetica Neue" pitchFamily="34" charset="-122"/>
                <a:cs typeface="Helvetica Neue" pitchFamily="34" charset="-120"/>
              </a:rPr>
              <a:t>Sanitas/BUPA</a:t>
            </a:r>
            <a:endParaRPr lang="en-US" sz="1100" dirty="0"/>
          </a:p>
        </p:txBody>
      </p:sp>
      <p:sp>
        <p:nvSpPr>
          <p:cNvPr id="31" name="Text 29"/>
          <p:cNvSpPr/>
          <p:nvPr/>
        </p:nvSpPr>
        <p:spPr>
          <a:xfrm>
            <a:off x="5486400" y="1700784"/>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5/5</a:t>
            </a:r>
            <a:endParaRPr lang="en-US" sz="1200" dirty="0"/>
          </a:p>
        </p:txBody>
      </p:sp>
      <p:sp>
        <p:nvSpPr>
          <p:cNvPr id="32" name="Text 30"/>
          <p:cNvSpPr/>
          <p:nvPr/>
        </p:nvSpPr>
        <p:spPr>
          <a:xfrm>
            <a:off x="5989320" y="1700784"/>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4/5</a:t>
            </a:r>
            <a:endParaRPr lang="en-US" sz="1200" dirty="0"/>
          </a:p>
        </p:txBody>
      </p:sp>
      <p:sp>
        <p:nvSpPr>
          <p:cNvPr id="33" name="Text 31"/>
          <p:cNvSpPr/>
          <p:nvPr/>
        </p:nvSpPr>
        <p:spPr>
          <a:xfrm>
            <a:off x="6492240" y="1700784"/>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5/5</a:t>
            </a:r>
            <a:endParaRPr lang="en-US" sz="1200" dirty="0"/>
          </a:p>
        </p:txBody>
      </p:sp>
      <p:sp>
        <p:nvSpPr>
          <p:cNvPr id="34" name="Text 32"/>
          <p:cNvSpPr/>
          <p:nvPr/>
        </p:nvSpPr>
        <p:spPr>
          <a:xfrm>
            <a:off x="6995160" y="1700784"/>
            <a:ext cx="1005840" cy="420624"/>
          </a:xfrm>
          <a:prstGeom prst="rect">
            <a:avLst/>
          </a:prstGeom>
          <a:noFill/>
          <a:ln/>
        </p:spPr>
        <p:txBody>
          <a:bodyPr wrap="square" lIns="0" tIns="0" rIns="0" bIns="0" rtlCol="0" anchor="ctr"/>
          <a:lstStyle/>
          <a:p>
            <a:pPr algn="ctr" indent="0" marL="0">
              <a:buNone/>
            </a:pPr>
            <a:r>
              <a:rPr lang="en-US" sz="1200" b="1" dirty="0">
                <a:solidFill>
                  <a:srgbClr val="C0392B"/>
                </a:solidFill>
                <a:latin typeface="Helvetica Neue" pitchFamily="34" charset="0"/>
                <a:ea typeface="Helvetica Neue" pitchFamily="34" charset="-122"/>
                <a:cs typeface="Helvetica Neue" pitchFamily="34" charset="-120"/>
              </a:rPr>
              <a:t>87%</a:t>
            </a:r>
            <a:endParaRPr lang="en-US" sz="1200" dirty="0"/>
          </a:p>
        </p:txBody>
      </p:sp>
      <p:sp>
        <p:nvSpPr>
          <p:cNvPr id="35" name="Text 33"/>
          <p:cNvSpPr/>
          <p:nvPr/>
        </p:nvSpPr>
        <p:spPr>
          <a:xfrm>
            <a:off x="8046720" y="1700784"/>
            <a:ext cx="82296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3-6 mo</a:t>
            </a:r>
            <a:endParaRPr lang="en-US" sz="1200" dirty="0"/>
          </a:p>
        </p:txBody>
      </p:sp>
      <p:sp>
        <p:nvSpPr>
          <p:cNvPr id="36" name="Shape 34"/>
          <p:cNvSpPr/>
          <p:nvPr/>
        </p:nvSpPr>
        <p:spPr>
          <a:xfrm>
            <a:off x="4023360" y="2194560"/>
            <a:ext cx="4663440" cy="475488"/>
          </a:xfrm>
          <a:prstGeom prst="rect">
            <a:avLst/>
          </a:prstGeom>
          <a:solidFill>
            <a:srgbClr val="E8EAED"/>
          </a:solidFill>
          <a:ln/>
        </p:spPr>
      </p:sp>
      <p:sp>
        <p:nvSpPr>
          <p:cNvPr id="37" name="Text 35"/>
          <p:cNvSpPr/>
          <p:nvPr/>
        </p:nvSpPr>
        <p:spPr>
          <a:xfrm>
            <a:off x="4023360" y="2212848"/>
            <a:ext cx="1417320" cy="420624"/>
          </a:xfrm>
          <a:prstGeom prst="rect">
            <a:avLst/>
          </a:prstGeom>
          <a:noFill/>
          <a:ln/>
        </p:spPr>
        <p:txBody>
          <a:bodyPr wrap="square" lIns="0" tIns="0" rIns="0" bIns="0" rtlCol="0" anchor="ctr"/>
          <a:lstStyle/>
          <a:p>
            <a:pPr algn="ctr" indent="0" marL="0">
              <a:buNone/>
            </a:pPr>
            <a:r>
              <a:rPr lang="en-US" sz="1100" b="1" dirty="0">
                <a:solidFill>
                  <a:srgbClr val="0F3460"/>
                </a:solidFill>
                <a:latin typeface="Helvetica Neue" pitchFamily="34" charset="0"/>
                <a:ea typeface="Helvetica Neue" pitchFamily="34" charset="-122"/>
                <a:cs typeface="Helvetica Neue" pitchFamily="34" charset="-120"/>
              </a:rPr>
              <a:t>Adeslas</a:t>
            </a:r>
            <a:endParaRPr lang="en-US" sz="1100" dirty="0"/>
          </a:p>
        </p:txBody>
      </p:sp>
      <p:sp>
        <p:nvSpPr>
          <p:cNvPr id="38" name="Text 36"/>
          <p:cNvSpPr/>
          <p:nvPr/>
        </p:nvSpPr>
        <p:spPr>
          <a:xfrm>
            <a:off x="5486400" y="2212848"/>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3/5</a:t>
            </a:r>
            <a:endParaRPr lang="en-US" sz="1200" dirty="0"/>
          </a:p>
        </p:txBody>
      </p:sp>
      <p:sp>
        <p:nvSpPr>
          <p:cNvPr id="39" name="Text 37"/>
          <p:cNvSpPr/>
          <p:nvPr/>
        </p:nvSpPr>
        <p:spPr>
          <a:xfrm>
            <a:off x="5989320" y="2212848"/>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3/5</a:t>
            </a:r>
            <a:endParaRPr lang="en-US" sz="1200" dirty="0"/>
          </a:p>
        </p:txBody>
      </p:sp>
      <p:sp>
        <p:nvSpPr>
          <p:cNvPr id="40" name="Text 38"/>
          <p:cNvSpPr/>
          <p:nvPr/>
        </p:nvSpPr>
        <p:spPr>
          <a:xfrm>
            <a:off x="6492240" y="2212848"/>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5/5</a:t>
            </a:r>
            <a:endParaRPr lang="en-US" sz="1200" dirty="0"/>
          </a:p>
        </p:txBody>
      </p:sp>
      <p:sp>
        <p:nvSpPr>
          <p:cNvPr id="41" name="Text 39"/>
          <p:cNvSpPr/>
          <p:nvPr/>
        </p:nvSpPr>
        <p:spPr>
          <a:xfrm>
            <a:off x="6995160" y="2212848"/>
            <a:ext cx="1005840" cy="420624"/>
          </a:xfrm>
          <a:prstGeom prst="rect">
            <a:avLst/>
          </a:prstGeom>
          <a:noFill/>
          <a:ln/>
        </p:spPr>
        <p:txBody>
          <a:bodyPr wrap="square" lIns="0" tIns="0" rIns="0" bIns="0" rtlCol="0" anchor="ctr"/>
          <a:lstStyle/>
          <a:p>
            <a:pPr algn="ctr" indent="0" marL="0">
              <a:buNone/>
            </a:pPr>
            <a:r>
              <a:rPr lang="en-US" sz="1200" b="1" dirty="0">
                <a:solidFill>
                  <a:srgbClr val="B7791F"/>
                </a:solidFill>
                <a:latin typeface="Helvetica Neue" pitchFamily="34" charset="0"/>
                <a:ea typeface="Helvetica Neue" pitchFamily="34" charset="-122"/>
                <a:cs typeface="Helvetica Neue" pitchFamily="34" charset="-120"/>
              </a:rPr>
              <a:t>60%</a:t>
            </a:r>
            <a:endParaRPr lang="en-US" sz="1200" dirty="0"/>
          </a:p>
        </p:txBody>
      </p:sp>
      <p:sp>
        <p:nvSpPr>
          <p:cNvPr id="42" name="Text 40"/>
          <p:cNvSpPr/>
          <p:nvPr/>
        </p:nvSpPr>
        <p:spPr>
          <a:xfrm>
            <a:off x="8046720" y="2212848"/>
            <a:ext cx="82296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6-12 mo</a:t>
            </a:r>
            <a:endParaRPr lang="en-US" sz="1200" dirty="0"/>
          </a:p>
        </p:txBody>
      </p:sp>
      <p:sp>
        <p:nvSpPr>
          <p:cNvPr id="43" name="Shape 41"/>
          <p:cNvSpPr/>
          <p:nvPr/>
        </p:nvSpPr>
        <p:spPr>
          <a:xfrm>
            <a:off x="4023360" y="2706624"/>
            <a:ext cx="4663440" cy="475488"/>
          </a:xfrm>
          <a:prstGeom prst="rect">
            <a:avLst/>
          </a:prstGeom>
          <a:solidFill>
            <a:srgbClr val="FFFFFF"/>
          </a:solidFill>
          <a:ln/>
        </p:spPr>
      </p:sp>
      <p:sp>
        <p:nvSpPr>
          <p:cNvPr id="44" name="Text 42"/>
          <p:cNvSpPr/>
          <p:nvPr/>
        </p:nvSpPr>
        <p:spPr>
          <a:xfrm>
            <a:off x="4023360" y="2724912"/>
            <a:ext cx="1417320" cy="420624"/>
          </a:xfrm>
          <a:prstGeom prst="rect">
            <a:avLst/>
          </a:prstGeom>
          <a:noFill/>
          <a:ln/>
        </p:spPr>
        <p:txBody>
          <a:bodyPr wrap="square" lIns="0" tIns="0" rIns="0" bIns="0" rtlCol="0" anchor="ctr"/>
          <a:lstStyle/>
          <a:p>
            <a:pPr algn="ctr" indent="0" marL="0">
              <a:buNone/>
            </a:pPr>
            <a:r>
              <a:rPr lang="en-US" sz="1100" b="1" dirty="0">
                <a:solidFill>
                  <a:srgbClr val="0F3460"/>
                </a:solidFill>
                <a:latin typeface="Helvetica Neue" pitchFamily="34" charset="0"/>
                <a:ea typeface="Helvetica Neue" pitchFamily="34" charset="-122"/>
                <a:cs typeface="Helvetica Neue" pitchFamily="34" charset="-120"/>
              </a:rPr>
              <a:t>Asisa/HLA</a:t>
            </a:r>
            <a:endParaRPr lang="en-US" sz="1100" dirty="0"/>
          </a:p>
        </p:txBody>
      </p:sp>
      <p:sp>
        <p:nvSpPr>
          <p:cNvPr id="45" name="Text 43"/>
          <p:cNvSpPr/>
          <p:nvPr/>
        </p:nvSpPr>
        <p:spPr>
          <a:xfrm>
            <a:off x="5486400" y="2724912"/>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3/5</a:t>
            </a:r>
            <a:endParaRPr lang="en-US" sz="1200" dirty="0"/>
          </a:p>
        </p:txBody>
      </p:sp>
      <p:sp>
        <p:nvSpPr>
          <p:cNvPr id="46" name="Text 44"/>
          <p:cNvSpPr/>
          <p:nvPr/>
        </p:nvSpPr>
        <p:spPr>
          <a:xfrm>
            <a:off x="5989320" y="2724912"/>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4/5</a:t>
            </a:r>
            <a:endParaRPr lang="en-US" sz="1200" dirty="0"/>
          </a:p>
        </p:txBody>
      </p:sp>
      <p:sp>
        <p:nvSpPr>
          <p:cNvPr id="47" name="Text 45"/>
          <p:cNvSpPr/>
          <p:nvPr/>
        </p:nvSpPr>
        <p:spPr>
          <a:xfrm>
            <a:off x="6492240" y="2724912"/>
            <a:ext cx="45720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3/5</a:t>
            </a:r>
            <a:endParaRPr lang="en-US" sz="1200" dirty="0"/>
          </a:p>
        </p:txBody>
      </p:sp>
      <p:sp>
        <p:nvSpPr>
          <p:cNvPr id="48" name="Text 46"/>
          <p:cNvSpPr/>
          <p:nvPr/>
        </p:nvSpPr>
        <p:spPr>
          <a:xfrm>
            <a:off x="6995160" y="2724912"/>
            <a:ext cx="1005840" cy="420624"/>
          </a:xfrm>
          <a:prstGeom prst="rect">
            <a:avLst/>
          </a:prstGeom>
          <a:noFill/>
          <a:ln/>
        </p:spPr>
        <p:txBody>
          <a:bodyPr wrap="square" lIns="0" tIns="0" rIns="0" bIns="0" rtlCol="0" anchor="ctr"/>
          <a:lstStyle/>
          <a:p>
            <a:pPr algn="ctr" indent="0" marL="0">
              <a:buNone/>
            </a:pPr>
            <a:r>
              <a:rPr lang="en-US" sz="1200" b="1" dirty="0">
                <a:solidFill>
                  <a:srgbClr val="B7791F"/>
                </a:solidFill>
                <a:latin typeface="Helvetica Neue" pitchFamily="34" charset="0"/>
                <a:ea typeface="Helvetica Neue" pitchFamily="34" charset="-122"/>
                <a:cs typeface="Helvetica Neue" pitchFamily="34" charset="-120"/>
              </a:rPr>
              <a:t>55%</a:t>
            </a:r>
            <a:endParaRPr lang="en-US" sz="1200" dirty="0"/>
          </a:p>
        </p:txBody>
      </p:sp>
      <p:sp>
        <p:nvSpPr>
          <p:cNvPr id="49" name="Text 47"/>
          <p:cNvSpPr/>
          <p:nvPr/>
        </p:nvSpPr>
        <p:spPr>
          <a:xfrm>
            <a:off x="8046720" y="2724912"/>
            <a:ext cx="822960" cy="420624"/>
          </a:xfrm>
          <a:prstGeom prst="rect">
            <a:avLst/>
          </a:prstGeom>
          <a:noFill/>
          <a:ln/>
        </p:spPr>
        <p:txBody>
          <a:bodyPr wrap="square" lIns="0" tIns="0" rIns="0" bIns="0" rtlCol="0" anchor="ctr"/>
          <a:lstStyle/>
          <a:p>
            <a:pPr algn="ctr" indent="0" marL="0">
              <a:buNone/>
            </a:pPr>
            <a:r>
              <a:rPr lang="en-US" sz="1200" dirty="0">
                <a:solidFill>
                  <a:srgbClr val="0B0B0F"/>
                </a:solidFill>
                <a:latin typeface="Helvetica Neue" pitchFamily="34" charset="0"/>
                <a:ea typeface="Helvetica Neue" pitchFamily="34" charset="-122"/>
                <a:cs typeface="Helvetica Neue" pitchFamily="34" charset="-120"/>
              </a:rPr>
              <a:t>6-9 mo</a:t>
            </a:r>
            <a:endParaRPr lang="en-US" sz="1200" dirty="0"/>
          </a:p>
        </p:txBody>
      </p:sp>
      <p:sp>
        <p:nvSpPr>
          <p:cNvPr id="50" name="Shape 48"/>
          <p:cNvSpPr/>
          <p:nvPr/>
        </p:nvSpPr>
        <p:spPr>
          <a:xfrm>
            <a:off x="4023360" y="3328416"/>
            <a:ext cx="4663440" cy="713232"/>
          </a:xfrm>
          <a:prstGeom prst="rect">
            <a:avLst/>
          </a:prstGeom>
          <a:solidFill>
            <a:srgbClr val="F0F4F8"/>
          </a:solidFill>
          <a:ln/>
        </p:spPr>
      </p:sp>
      <p:sp>
        <p:nvSpPr>
          <p:cNvPr id="51" name="Shape 49"/>
          <p:cNvSpPr/>
          <p:nvPr/>
        </p:nvSpPr>
        <p:spPr>
          <a:xfrm>
            <a:off x="4023360" y="3328416"/>
            <a:ext cx="73152" cy="713232"/>
          </a:xfrm>
          <a:prstGeom prst="rect">
            <a:avLst/>
          </a:prstGeom>
          <a:solidFill>
            <a:srgbClr val="0F3460"/>
          </a:solidFill>
          <a:ln/>
        </p:spPr>
      </p:sp>
      <p:sp>
        <p:nvSpPr>
          <p:cNvPr id="52" name="Text 50"/>
          <p:cNvSpPr/>
          <p:nvPr/>
        </p:nvSpPr>
        <p:spPr>
          <a:xfrm>
            <a:off x="4187952" y="3364992"/>
            <a:ext cx="4425696" cy="603504"/>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Strategic read: Sanitas is simultaneously the most dangerous competitor and the most natural partner. BUPA already operates in Mexico — information asymmetry collapses.</a:t>
            </a:r>
            <a:endParaRPr lang="en-US" sz="1000" dirty="0"/>
          </a:p>
        </p:txBody>
      </p:sp>
      <p:sp>
        <p:nvSpPr>
          <p:cNvPr id="53" name="Text 51"/>
          <p:cNvSpPr/>
          <p:nvPr/>
        </p:nvSpPr>
        <p:spPr>
          <a:xfrm>
            <a:off x="457200" y="4809744"/>
            <a:ext cx="8229600" cy="201168"/>
          </a:xfrm>
          <a:prstGeom prst="rect">
            <a:avLst/>
          </a:prstGeom>
          <a:noFill/>
          <a:ln/>
        </p:spPr>
        <p:txBody>
          <a:bodyPr wrap="square" lIns="0" tIns="0" rIns="0" bIns="0" rtlCol="0" anchor="ctr"/>
          <a:lstStyle/>
          <a:p>
            <a:pPr algn="l" indent="0" marL="0">
              <a:buNone/>
            </a:pPr>
            <a:r>
              <a:rPr lang="en-US" sz="850" dirty="0">
                <a:solidFill>
                  <a:srgbClr val="9AA0A6"/>
                </a:solidFill>
                <a:latin typeface="Helvetica Neue" pitchFamily="34" charset="0"/>
                <a:ea typeface="Helvetica Neue" pitchFamily="34" charset="-122"/>
                <a:cs typeface="Helvetica Neue" pitchFamily="34" charset="-120"/>
              </a:rPr>
              <a:t>Framework: Chen &amp; Miller AMC (2012) · TN01</a:t>
            </a:r>
            <a:endParaRPr lang="en-US" sz="850" dirty="0"/>
          </a:p>
        </p:txBody>
      </p:sp>
      <p:sp>
        <p:nvSpPr>
          <p:cNvPr id="54" name="Text 52"/>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2 · CRITICAL FINDING</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600" b="1" dirty="0">
                <a:solidFill>
                  <a:srgbClr val="0F3460"/>
                </a:solidFill>
                <a:latin typeface="Helvetica Neue" pitchFamily="34" charset="0"/>
                <a:ea typeface="Helvetica Neue" pitchFamily="34" charset="-122"/>
                <a:cs typeface="Helvetica Neue" pitchFamily="34" charset="-120"/>
              </a:rPr>
              <a:t>The Information Asymmetry Advantage</a:t>
            </a:r>
            <a:endParaRPr lang="en-US" sz="26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Shape 4"/>
          <p:cNvSpPr/>
          <p:nvPr/>
        </p:nvSpPr>
        <p:spPr>
          <a:xfrm>
            <a:off x="457200" y="1097280"/>
            <a:ext cx="8229600" cy="1005840"/>
          </a:xfrm>
          <a:prstGeom prst="rect">
            <a:avLst/>
          </a:prstGeom>
          <a:solidFill>
            <a:srgbClr val="0F3460"/>
          </a:solidFill>
          <a:ln/>
        </p:spPr>
      </p:sp>
      <p:sp>
        <p:nvSpPr>
          <p:cNvPr id="7" name="Text 5"/>
          <p:cNvSpPr/>
          <p:nvPr/>
        </p:nvSpPr>
        <p:spPr>
          <a:xfrm>
            <a:off x="640080" y="1152144"/>
            <a:ext cx="7863840" cy="365760"/>
          </a:xfrm>
          <a:prstGeom prst="rect">
            <a:avLst/>
          </a:prstGeom>
          <a:noFill/>
          <a:ln/>
        </p:spPr>
        <p:txBody>
          <a:bodyPr wrap="square" lIns="0" tIns="0" rIns="0" bIns="0" rtlCol="0" anchor="ctr"/>
          <a:lstStyle/>
          <a:p>
            <a:pPr algn="l" indent="0" marL="0">
              <a:buNone/>
            </a:pPr>
            <a:r>
              <a:rPr lang="en-US" sz="2200" b="1" dirty="0">
                <a:solidFill>
                  <a:srgbClr val="FFFFFF"/>
                </a:solidFill>
                <a:latin typeface="Helvetica Neue" pitchFamily="34" charset="0"/>
                <a:ea typeface="Helvetica Neue" pitchFamily="34" charset="-122"/>
                <a:cs typeface="Helvetica Neue" pitchFamily="34" charset="-120"/>
              </a:rPr>
              <a:t>BUPA already operates in Mexico</a:t>
            </a:r>
            <a:endParaRPr lang="en-US" sz="2200" dirty="0"/>
          </a:p>
        </p:txBody>
      </p:sp>
      <p:sp>
        <p:nvSpPr>
          <p:cNvPr id="8" name="Text 6"/>
          <p:cNvSpPr/>
          <p:nvPr/>
        </p:nvSpPr>
        <p:spPr>
          <a:xfrm>
            <a:off x="640080" y="1499616"/>
            <a:ext cx="7863840" cy="256032"/>
          </a:xfrm>
          <a:prstGeom prst="rect">
            <a:avLst/>
          </a:prstGeom>
          <a:noFill/>
          <a:ln/>
        </p:spPr>
        <p:txBody>
          <a:bodyPr wrap="square" lIns="0" tIns="0" rIns="0" bIns="0" rtlCol="0" anchor="ctr"/>
          <a:lstStyle/>
          <a:p>
            <a:pPr algn="l" indent="0" marL="0">
              <a:buNone/>
            </a:pPr>
            <a:r>
              <a:rPr lang="en-US" sz="1200" dirty="0">
                <a:solidFill>
                  <a:srgbClr val="7DB0D4"/>
                </a:solidFill>
                <a:latin typeface="Helvetica Neue" pitchFamily="34" charset="0"/>
                <a:ea typeface="Helvetica Neue" pitchFamily="34" charset="-122"/>
                <a:cs typeface="Helvetica Neue" pitchFamily="34" charset="-120"/>
              </a:rPr>
              <a:t>Vitamedica (7,500+ providers · acquired 2020)  ·  Hospital Bite Medica CDMX (acquired 2022)</a:t>
            </a:r>
            <a:endParaRPr lang="en-US" sz="1200" dirty="0"/>
          </a:p>
        </p:txBody>
      </p:sp>
      <p:sp>
        <p:nvSpPr>
          <p:cNvPr id="9" name="Shape 7"/>
          <p:cNvSpPr/>
          <p:nvPr/>
        </p:nvSpPr>
        <p:spPr>
          <a:xfrm>
            <a:off x="457200" y="2304288"/>
            <a:ext cx="2651760" cy="2377440"/>
          </a:xfrm>
          <a:prstGeom prst="rect">
            <a:avLst/>
          </a:prstGeom>
          <a:solidFill>
            <a:srgbClr val="FAFAFA"/>
          </a:solidFill>
          <a:ln/>
        </p:spPr>
      </p:sp>
      <p:sp>
        <p:nvSpPr>
          <p:cNvPr id="10" name="Shape 8"/>
          <p:cNvSpPr/>
          <p:nvPr/>
        </p:nvSpPr>
        <p:spPr>
          <a:xfrm>
            <a:off x="457200" y="2304288"/>
            <a:ext cx="2651760" cy="54864"/>
          </a:xfrm>
          <a:prstGeom prst="rect">
            <a:avLst/>
          </a:prstGeom>
          <a:solidFill>
            <a:srgbClr val="0F3460"/>
          </a:solidFill>
          <a:ln/>
        </p:spPr>
      </p:sp>
      <p:sp>
        <p:nvSpPr>
          <p:cNvPr id="11" name="Shape 9"/>
          <p:cNvSpPr/>
          <p:nvPr/>
        </p:nvSpPr>
        <p:spPr>
          <a:xfrm>
            <a:off x="804672" y="2432304"/>
            <a:ext cx="347472" cy="347472"/>
          </a:xfrm>
          <a:prstGeom prst="ellipse">
            <a:avLst/>
          </a:prstGeom>
          <a:solidFill>
            <a:srgbClr val="0F3460"/>
          </a:solidFill>
          <a:ln/>
        </p:spPr>
      </p:sp>
      <p:sp>
        <p:nvSpPr>
          <p:cNvPr id="12" name="Text 10"/>
          <p:cNvSpPr/>
          <p:nvPr/>
        </p:nvSpPr>
        <p:spPr>
          <a:xfrm>
            <a:off x="804672" y="243230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13" name="Text 11"/>
          <p:cNvSpPr/>
          <p:nvPr/>
        </p:nvSpPr>
        <p:spPr>
          <a:xfrm>
            <a:off x="548640" y="2871216"/>
            <a:ext cx="2468880" cy="365760"/>
          </a:xfrm>
          <a:prstGeom prst="rect">
            <a:avLst/>
          </a:prstGeom>
          <a:noFill/>
          <a:ln/>
        </p:spPr>
        <p:txBody>
          <a:bodyPr wrap="square" lIns="0" tIns="0" rIns="0" bIns="0" rtlCol="0" anchor="ctr"/>
          <a:lstStyle/>
          <a:p>
            <a:pPr algn="ctr" indent="0" marL="0">
              <a:buNone/>
            </a:pPr>
            <a:r>
              <a:rPr lang="en-US" sz="1200" b="1" dirty="0">
                <a:solidFill>
                  <a:srgbClr val="0F3460"/>
                </a:solidFill>
                <a:latin typeface="Helvetica Neue" pitchFamily="34" charset="0"/>
                <a:ea typeface="Helvetica Neue" pitchFamily="34" charset="-122"/>
                <a:cs typeface="Helvetica Neue" pitchFamily="34" charset="-120"/>
              </a:rPr>
              <a:t>Sanitas knows 50 Doctors</a:t>
            </a:r>
            <a:endParaRPr lang="en-US" sz="1200" dirty="0"/>
          </a:p>
        </p:txBody>
      </p:sp>
      <p:sp>
        <p:nvSpPr>
          <p:cNvPr id="14" name="Text 12"/>
          <p:cNvSpPr/>
          <p:nvPr/>
        </p:nvSpPr>
        <p:spPr>
          <a:xfrm>
            <a:off x="548640" y="3273552"/>
            <a:ext cx="2468880" cy="1097280"/>
          </a:xfrm>
          <a:prstGeom prst="rect">
            <a:avLst/>
          </a:prstGeom>
          <a:noFill/>
          <a:ln/>
        </p:spPr>
        <p:txBody>
          <a:bodyPr wrap="square" lIns="0" tIns="0" rIns="0" bIns="0" rtlCol="0" anchor="ctr"/>
          <a:lstStyle/>
          <a:p>
            <a:pPr algn="l" indent="0" marL="0">
              <a:buNone/>
            </a:pPr>
            <a:r>
              <a:rPr lang="en-US" sz="1050" dirty="0">
                <a:solidFill>
                  <a:srgbClr val="0B0B0F"/>
                </a:solidFill>
                <a:latin typeface="Helvetica Neue" pitchFamily="34" charset="0"/>
                <a:ea typeface="Helvetica Neue" pitchFamily="34" charset="-122"/>
                <a:cs typeface="Helvetica Neue" pitchFamily="34" charset="-120"/>
              </a:rPr>
              <a:t>Both companies operate in the same Mexican premium hospital market. Intelligence gap = zero.</a:t>
            </a:r>
            <a:endParaRPr lang="en-US" sz="1050" dirty="0"/>
          </a:p>
        </p:txBody>
      </p:sp>
      <p:sp>
        <p:nvSpPr>
          <p:cNvPr id="15" name="Shape 13"/>
          <p:cNvSpPr/>
          <p:nvPr/>
        </p:nvSpPr>
        <p:spPr>
          <a:xfrm>
            <a:off x="3291840" y="2304288"/>
            <a:ext cx="2651760" cy="2377440"/>
          </a:xfrm>
          <a:prstGeom prst="rect">
            <a:avLst/>
          </a:prstGeom>
          <a:solidFill>
            <a:srgbClr val="FAFAFA"/>
          </a:solidFill>
          <a:ln/>
        </p:spPr>
      </p:sp>
      <p:sp>
        <p:nvSpPr>
          <p:cNvPr id="16" name="Shape 14"/>
          <p:cNvSpPr/>
          <p:nvPr/>
        </p:nvSpPr>
        <p:spPr>
          <a:xfrm>
            <a:off x="3291840" y="2304288"/>
            <a:ext cx="2651760" cy="54864"/>
          </a:xfrm>
          <a:prstGeom prst="rect">
            <a:avLst/>
          </a:prstGeom>
          <a:solidFill>
            <a:srgbClr val="0F3460"/>
          </a:solidFill>
          <a:ln/>
        </p:spPr>
      </p:sp>
      <p:sp>
        <p:nvSpPr>
          <p:cNvPr id="17" name="Shape 15"/>
          <p:cNvSpPr/>
          <p:nvPr/>
        </p:nvSpPr>
        <p:spPr>
          <a:xfrm>
            <a:off x="3639312" y="2432304"/>
            <a:ext cx="347472" cy="347472"/>
          </a:xfrm>
          <a:prstGeom prst="ellipse">
            <a:avLst/>
          </a:prstGeom>
          <a:solidFill>
            <a:srgbClr val="0F3460"/>
          </a:solidFill>
          <a:ln/>
        </p:spPr>
      </p:sp>
      <p:sp>
        <p:nvSpPr>
          <p:cNvPr id="18" name="Text 16"/>
          <p:cNvSpPr/>
          <p:nvPr/>
        </p:nvSpPr>
        <p:spPr>
          <a:xfrm>
            <a:off x="3639312" y="243230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2</a:t>
            </a:r>
            <a:endParaRPr lang="en-US" sz="1400" dirty="0"/>
          </a:p>
        </p:txBody>
      </p:sp>
      <p:sp>
        <p:nvSpPr>
          <p:cNvPr id="19" name="Text 17"/>
          <p:cNvSpPr/>
          <p:nvPr/>
        </p:nvSpPr>
        <p:spPr>
          <a:xfrm>
            <a:off x="3383280" y="2871216"/>
            <a:ext cx="2468880" cy="365760"/>
          </a:xfrm>
          <a:prstGeom prst="rect">
            <a:avLst/>
          </a:prstGeom>
          <a:noFill/>
          <a:ln/>
        </p:spPr>
        <p:txBody>
          <a:bodyPr wrap="square" lIns="0" tIns="0" rIns="0" bIns="0" rtlCol="0" anchor="ctr"/>
          <a:lstStyle/>
          <a:p>
            <a:pPr algn="ctr" indent="0" marL="0">
              <a:buNone/>
            </a:pPr>
            <a:r>
              <a:rPr lang="en-US" sz="1200" b="1" dirty="0">
                <a:solidFill>
                  <a:srgbClr val="0F3460"/>
                </a:solidFill>
                <a:latin typeface="Helvetica Neue" pitchFamily="34" charset="0"/>
                <a:ea typeface="Helvetica Neue" pitchFamily="34" charset="-122"/>
                <a:cs typeface="Helvetica Neue" pitchFamily="34" charset="-120"/>
              </a:rPr>
              <a:t>Due diligence accelerated</a:t>
            </a:r>
            <a:endParaRPr lang="en-US" sz="1200" dirty="0"/>
          </a:p>
        </p:txBody>
      </p:sp>
      <p:sp>
        <p:nvSpPr>
          <p:cNvPr id="20" name="Text 18"/>
          <p:cNvSpPr/>
          <p:nvPr/>
        </p:nvSpPr>
        <p:spPr>
          <a:xfrm>
            <a:off x="3383280" y="3273552"/>
            <a:ext cx="2468880" cy="1097280"/>
          </a:xfrm>
          <a:prstGeom prst="rect">
            <a:avLst/>
          </a:prstGeom>
          <a:noFill/>
          <a:ln/>
        </p:spPr>
        <p:txBody>
          <a:bodyPr wrap="square" lIns="0" tIns="0" rIns="0" bIns="0" rtlCol="0" anchor="ctr"/>
          <a:lstStyle/>
          <a:p>
            <a:pPr algn="l" indent="0" marL="0">
              <a:buNone/>
            </a:pPr>
            <a:r>
              <a:rPr lang="en-US" sz="1050" dirty="0">
                <a:solidFill>
                  <a:srgbClr val="0B0B0F"/>
                </a:solidFill>
                <a:latin typeface="Helvetica Neue" pitchFamily="34" charset="0"/>
                <a:ea typeface="Helvetica Neue" pitchFamily="34" charset="-122"/>
                <a:cs typeface="Helvetica Neue" pitchFamily="34" charset="-120"/>
              </a:rPr>
              <a:t>The typical 6–12 month cross-border discovery phase compresses dramatically — BUPA can validate the model in weeks.</a:t>
            </a:r>
            <a:endParaRPr lang="en-US" sz="1050" dirty="0"/>
          </a:p>
        </p:txBody>
      </p:sp>
      <p:sp>
        <p:nvSpPr>
          <p:cNvPr id="21" name="Shape 19"/>
          <p:cNvSpPr/>
          <p:nvPr/>
        </p:nvSpPr>
        <p:spPr>
          <a:xfrm>
            <a:off x="6126480" y="2304288"/>
            <a:ext cx="2651760" cy="2377440"/>
          </a:xfrm>
          <a:prstGeom prst="rect">
            <a:avLst/>
          </a:prstGeom>
          <a:solidFill>
            <a:srgbClr val="FAFAFA"/>
          </a:solidFill>
          <a:ln/>
        </p:spPr>
      </p:sp>
      <p:sp>
        <p:nvSpPr>
          <p:cNvPr id="22" name="Shape 20"/>
          <p:cNvSpPr/>
          <p:nvPr/>
        </p:nvSpPr>
        <p:spPr>
          <a:xfrm>
            <a:off x="6126480" y="2304288"/>
            <a:ext cx="2651760" cy="54864"/>
          </a:xfrm>
          <a:prstGeom prst="rect">
            <a:avLst/>
          </a:prstGeom>
          <a:solidFill>
            <a:srgbClr val="0F3460"/>
          </a:solidFill>
          <a:ln/>
        </p:spPr>
      </p:sp>
      <p:sp>
        <p:nvSpPr>
          <p:cNvPr id="23" name="Shape 21"/>
          <p:cNvSpPr/>
          <p:nvPr/>
        </p:nvSpPr>
        <p:spPr>
          <a:xfrm>
            <a:off x="6473952" y="2432304"/>
            <a:ext cx="347472" cy="347472"/>
          </a:xfrm>
          <a:prstGeom prst="ellipse">
            <a:avLst/>
          </a:prstGeom>
          <a:solidFill>
            <a:srgbClr val="0F3460"/>
          </a:solidFill>
          <a:ln/>
        </p:spPr>
      </p:sp>
      <p:sp>
        <p:nvSpPr>
          <p:cNvPr id="24" name="Text 22"/>
          <p:cNvSpPr/>
          <p:nvPr/>
        </p:nvSpPr>
        <p:spPr>
          <a:xfrm>
            <a:off x="6473952" y="243230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3</a:t>
            </a:r>
            <a:endParaRPr lang="en-US" sz="1400" dirty="0"/>
          </a:p>
        </p:txBody>
      </p:sp>
      <p:sp>
        <p:nvSpPr>
          <p:cNvPr id="25" name="Text 23"/>
          <p:cNvSpPr/>
          <p:nvPr/>
        </p:nvSpPr>
        <p:spPr>
          <a:xfrm>
            <a:off x="6217920" y="2871216"/>
            <a:ext cx="2468880" cy="365760"/>
          </a:xfrm>
          <a:prstGeom prst="rect">
            <a:avLst/>
          </a:prstGeom>
          <a:noFill/>
          <a:ln/>
        </p:spPr>
        <p:txBody>
          <a:bodyPr wrap="square" lIns="0" tIns="0" rIns="0" bIns="0" rtlCol="0" anchor="ctr"/>
          <a:lstStyle/>
          <a:p>
            <a:pPr algn="ctr" indent="0" marL="0">
              <a:buNone/>
            </a:pPr>
            <a:r>
              <a:rPr lang="en-US" sz="1200" b="1" dirty="0">
                <a:solidFill>
                  <a:srgbClr val="0F3460"/>
                </a:solidFill>
                <a:latin typeface="Helvetica Neue" pitchFamily="34" charset="0"/>
                <a:ea typeface="Helvetica Neue" pitchFamily="34" charset="-122"/>
                <a:cs typeface="Helvetica Neue" pitchFamily="34" charset="-120"/>
              </a:rPr>
              <a:t>Alliance, not war</a:t>
            </a:r>
            <a:endParaRPr lang="en-US" sz="1200" dirty="0"/>
          </a:p>
        </p:txBody>
      </p:sp>
      <p:sp>
        <p:nvSpPr>
          <p:cNvPr id="26" name="Text 24"/>
          <p:cNvSpPr/>
          <p:nvPr/>
        </p:nvSpPr>
        <p:spPr>
          <a:xfrm>
            <a:off x="6217920" y="3273552"/>
            <a:ext cx="2468880" cy="1097280"/>
          </a:xfrm>
          <a:prstGeom prst="rect">
            <a:avLst/>
          </a:prstGeom>
          <a:noFill/>
          <a:ln/>
        </p:spPr>
        <p:txBody>
          <a:bodyPr wrap="square" lIns="0" tIns="0" rIns="0" bIns="0" rtlCol="0" anchor="ctr"/>
          <a:lstStyle/>
          <a:p>
            <a:pPr algn="l" indent="0" marL="0">
              <a:buNone/>
            </a:pPr>
            <a:r>
              <a:rPr lang="en-US" sz="1050" dirty="0">
                <a:solidFill>
                  <a:srgbClr val="0B0B0F"/>
                </a:solidFill>
                <a:latin typeface="Helvetica Neue" pitchFamily="34" charset="0"/>
                <a:ea typeface="Helvetica Neue" pitchFamily="34" charset="-122"/>
                <a:cs typeface="Helvetica Neue" pitchFamily="34" charset="-120"/>
              </a:rPr>
              <a:t>Sanitas P(alliance response) = 40% vs P(competitive response) = 30%. The probability tips toward partnership when framing is collaborative.</a:t>
            </a:r>
            <a:endParaRPr lang="en-US" sz="1050" dirty="0"/>
          </a:p>
        </p:txBody>
      </p:sp>
      <p:sp>
        <p:nvSpPr>
          <p:cNvPr id="27" name="Text 25"/>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algn="l" indent="0" marL="0">
              <a:buNone/>
            </a:pPr>
            <a:r>
              <a:rPr lang="en-US" sz="2800" b="1" dirty="0">
                <a:solidFill>
                  <a:srgbClr val="0F3460"/>
                </a:solidFill>
                <a:latin typeface="Helvetica Neue" pitchFamily="34" charset="0"/>
                <a:ea typeface="Helvetica Neue" pitchFamily="34" charset="-122"/>
                <a:cs typeface="Helvetica Neue" pitchFamily="34" charset="-120"/>
              </a:rPr>
              <a:t>Three capabilities, one closed system.</a:t>
            </a:r>
            <a:endParaRPr lang="en-US" sz="2800" dirty="0"/>
          </a:p>
        </p:txBody>
      </p:sp>
      <p:sp>
        <p:nvSpPr>
          <p:cNvPr id="3" name="Shape 1"/>
          <p:cNvSpPr/>
          <p:nvPr/>
        </p:nvSpPr>
        <p:spPr>
          <a:xfrm>
            <a:off x="457200" y="804672"/>
            <a:ext cx="8229600" cy="0"/>
          </a:xfrm>
          <a:prstGeom prst="line">
            <a:avLst/>
          </a:prstGeom>
          <a:noFill/>
          <a:ln w="12700">
            <a:solidFill>
              <a:srgbClr val="0F3460"/>
            </a:solidFill>
            <a:prstDash val="solid"/>
          </a:ln>
        </p:spPr>
      </p:sp>
      <p:sp>
        <p:nvSpPr>
          <p:cNvPr id="4" name="Shape 2"/>
          <p:cNvSpPr/>
          <p:nvPr/>
        </p:nvSpPr>
        <p:spPr>
          <a:xfrm>
            <a:off x="822960" y="1005840"/>
            <a:ext cx="2011680" cy="2011680"/>
          </a:xfrm>
          <a:prstGeom prst="ellipse">
            <a:avLst/>
          </a:prstGeom>
          <a:solidFill>
            <a:srgbClr val="FFFFFF"/>
          </a:solidFill>
          <a:ln w="19050">
            <a:solidFill>
              <a:srgbClr val="0F3460"/>
            </a:solidFill>
            <a:prstDash val="solid"/>
          </a:ln>
        </p:spPr>
      </p:sp>
      <p:sp>
        <p:nvSpPr>
          <p:cNvPr id="5" name="Text 3"/>
          <p:cNvSpPr/>
          <p:nvPr/>
        </p:nvSpPr>
        <p:spPr>
          <a:xfrm>
            <a:off x="822960" y="1664208"/>
            <a:ext cx="2011680" cy="347472"/>
          </a:xfrm>
          <a:prstGeom prst="rect">
            <a:avLst/>
          </a:prstGeom>
          <a:noFill/>
          <a:ln/>
        </p:spPr>
        <p:txBody>
          <a:bodyPr wrap="square" lIns="0" tIns="0" rIns="0" bIns="0" rtlCol="0" anchor="ctr"/>
          <a:lstStyle/>
          <a:p>
            <a:pPr algn="ctr" indent="0" marL="0">
              <a:buNone/>
            </a:pPr>
            <a:r>
              <a:rPr lang="en-US" sz="1300" b="1" dirty="0">
                <a:solidFill>
                  <a:srgbClr val="0F3460"/>
                </a:solidFill>
                <a:latin typeface="Helvetica Neue" pitchFamily="34" charset="0"/>
                <a:ea typeface="Helvetica Neue" pitchFamily="34" charset="-122"/>
                <a:cs typeface="Helvetica Neue" pitchFamily="34" charset="-120"/>
              </a:rPr>
              <a:t>PERCEPTION</a:t>
            </a:r>
            <a:endParaRPr lang="en-US" sz="1300" dirty="0"/>
          </a:p>
        </p:txBody>
      </p:sp>
      <p:sp>
        <p:nvSpPr>
          <p:cNvPr id="6" name="Text 4"/>
          <p:cNvSpPr/>
          <p:nvPr/>
        </p:nvSpPr>
        <p:spPr>
          <a:xfrm>
            <a:off x="731520" y="3127248"/>
            <a:ext cx="2194560" cy="731520"/>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Ingests structured + unstructured signals</a:t>
            </a:r>
            <a:endParaRPr lang="en-US" sz="1000" dirty="0"/>
          </a:p>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Filings · BOE · LinkedIn · Alt-Data</a:t>
            </a:r>
            <a:endParaRPr lang="en-US" sz="1000" dirty="0"/>
          </a:p>
        </p:txBody>
      </p:sp>
      <p:sp>
        <p:nvSpPr>
          <p:cNvPr id="7" name="Shape 5"/>
          <p:cNvSpPr/>
          <p:nvPr/>
        </p:nvSpPr>
        <p:spPr>
          <a:xfrm>
            <a:off x="3566160" y="1005840"/>
            <a:ext cx="2011680" cy="2011680"/>
          </a:xfrm>
          <a:prstGeom prst="ellipse">
            <a:avLst/>
          </a:prstGeom>
          <a:solidFill>
            <a:srgbClr val="FFFFFF"/>
          </a:solidFill>
          <a:ln w="19050">
            <a:solidFill>
              <a:srgbClr val="0F3460"/>
            </a:solidFill>
            <a:prstDash val="solid"/>
          </a:ln>
        </p:spPr>
      </p:sp>
      <p:sp>
        <p:nvSpPr>
          <p:cNvPr id="8" name="Text 6"/>
          <p:cNvSpPr/>
          <p:nvPr/>
        </p:nvSpPr>
        <p:spPr>
          <a:xfrm>
            <a:off x="3566160" y="1664208"/>
            <a:ext cx="2011680" cy="347472"/>
          </a:xfrm>
          <a:prstGeom prst="rect">
            <a:avLst/>
          </a:prstGeom>
          <a:noFill/>
          <a:ln/>
        </p:spPr>
        <p:txBody>
          <a:bodyPr wrap="square" lIns="0" tIns="0" rIns="0" bIns="0" rtlCol="0" anchor="ctr"/>
          <a:lstStyle/>
          <a:p>
            <a:pPr algn="ctr" indent="0" marL="0">
              <a:buNone/>
            </a:pPr>
            <a:r>
              <a:rPr lang="en-US" sz="1300" b="1" dirty="0">
                <a:solidFill>
                  <a:srgbClr val="0F3460"/>
                </a:solidFill>
                <a:latin typeface="Helvetica Neue" pitchFamily="34" charset="0"/>
                <a:ea typeface="Helvetica Neue" pitchFamily="34" charset="-122"/>
                <a:cs typeface="Helvetica Neue" pitchFamily="34" charset="-120"/>
              </a:rPr>
              <a:t>REASONING</a:t>
            </a:r>
            <a:endParaRPr lang="en-US" sz="1300" dirty="0"/>
          </a:p>
        </p:txBody>
      </p:sp>
      <p:sp>
        <p:nvSpPr>
          <p:cNvPr id="9" name="Text 7"/>
          <p:cNvSpPr/>
          <p:nvPr/>
        </p:nvSpPr>
        <p:spPr>
          <a:xfrm>
            <a:off x="3474720" y="3127248"/>
            <a:ext cx="2194560" cy="731520"/>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Applies domain frameworks at machine speed</a:t>
            </a:r>
            <a:endParaRPr lang="en-US" sz="1000" dirty="0"/>
          </a:p>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AMC · Shell · ECOMO</a:t>
            </a:r>
            <a:endParaRPr lang="en-US" sz="1000" dirty="0"/>
          </a:p>
        </p:txBody>
      </p:sp>
      <p:sp>
        <p:nvSpPr>
          <p:cNvPr id="10" name="Shape 8"/>
          <p:cNvSpPr/>
          <p:nvPr/>
        </p:nvSpPr>
        <p:spPr>
          <a:xfrm>
            <a:off x="6309360" y="1005840"/>
            <a:ext cx="2011680" cy="2011680"/>
          </a:xfrm>
          <a:prstGeom prst="ellipse">
            <a:avLst/>
          </a:prstGeom>
          <a:solidFill>
            <a:srgbClr val="FFFFFF"/>
          </a:solidFill>
          <a:ln w="19050">
            <a:solidFill>
              <a:srgbClr val="0F3460"/>
            </a:solidFill>
            <a:prstDash val="solid"/>
          </a:ln>
        </p:spPr>
      </p:sp>
      <p:sp>
        <p:nvSpPr>
          <p:cNvPr id="11" name="Text 9"/>
          <p:cNvSpPr/>
          <p:nvPr/>
        </p:nvSpPr>
        <p:spPr>
          <a:xfrm>
            <a:off x="6309360" y="1664208"/>
            <a:ext cx="2011680" cy="347472"/>
          </a:xfrm>
          <a:prstGeom prst="rect">
            <a:avLst/>
          </a:prstGeom>
          <a:noFill/>
          <a:ln/>
        </p:spPr>
        <p:txBody>
          <a:bodyPr wrap="square" lIns="0" tIns="0" rIns="0" bIns="0" rtlCol="0" anchor="ctr"/>
          <a:lstStyle/>
          <a:p>
            <a:pPr algn="ctr" indent="0" marL="0">
              <a:buNone/>
            </a:pPr>
            <a:r>
              <a:rPr lang="en-US" sz="1300" b="1" dirty="0">
                <a:solidFill>
                  <a:srgbClr val="0F3460"/>
                </a:solidFill>
                <a:latin typeface="Helvetica Neue" pitchFamily="34" charset="0"/>
                <a:ea typeface="Helvetica Neue" pitchFamily="34" charset="-122"/>
                <a:cs typeface="Helvetica Neue" pitchFamily="34" charset="-120"/>
              </a:rPr>
              <a:t>ACTION</a:t>
            </a:r>
            <a:endParaRPr lang="en-US" sz="1300" dirty="0"/>
          </a:p>
        </p:txBody>
      </p:sp>
      <p:sp>
        <p:nvSpPr>
          <p:cNvPr id="12" name="Text 10"/>
          <p:cNvSpPr/>
          <p:nvPr/>
        </p:nvSpPr>
        <p:spPr>
          <a:xfrm>
            <a:off x="6217920" y="3127248"/>
            <a:ext cx="2194560" cy="731520"/>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Writes outputs, triggers tools, escalates alerts</a:t>
            </a:r>
            <a:endParaRPr lang="en-US" sz="1000" dirty="0"/>
          </a:p>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Updates the decision record</a:t>
            </a:r>
            <a:endParaRPr lang="en-US" sz="1000" dirty="0"/>
          </a:p>
        </p:txBody>
      </p:sp>
      <p:sp>
        <p:nvSpPr>
          <p:cNvPr id="13" name="Shape 11"/>
          <p:cNvSpPr/>
          <p:nvPr/>
        </p:nvSpPr>
        <p:spPr>
          <a:xfrm>
            <a:off x="2852928" y="2011680"/>
            <a:ext cx="694944" cy="0"/>
          </a:xfrm>
          <a:prstGeom prst="line">
            <a:avLst/>
          </a:prstGeom>
          <a:noFill/>
          <a:ln w="19050">
            <a:solidFill>
              <a:srgbClr val="0F3460"/>
            </a:solidFill>
            <a:prstDash val="solid"/>
          </a:ln>
        </p:spPr>
      </p:sp>
      <p:sp>
        <p:nvSpPr>
          <p:cNvPr id="14" name="Shape 12"/>
          <p:cNvSpPr/>
          <p:nvPr/>
        </p:nvSpPr>
        <p:spPr>
          <a:xfrm>
            <a:off x="5596128" y="2011680"/>
            <a:ext cx="694944" cy="0"/>
          </a:xfrm>
          <a:prstGeom prst="line">
            <a:avLst/>
          </a:prstGeom>
          <a:noFill/>
          <a:ln w="19050">
            <a:solidFill>
              <a:srgbClr val="0F3460"/>
            </a:solidFill>
            <a:prstDash val="solid"/>
          </a:ln>
        </p:spPr>
      </p:sp>
      <p:sp>
        <p:nvSpPr>
          <p:cNvPr id="15" name="Shape 13"/>
          <p:cNvSpPr/>
          <p:nvPr/>
        </p:nvSpPr>
        <p:spPr>
          <a:xfrm>
            <a:off x="6903720" y="3072384"/>
            <a:ext cx="0" cy="457200"/>
          </a:xfrm>
          <a:prstGeom prst="line">
            <a:avLst/>
          </a:prstGeom>
          <a:noFill/>
          <a:ln w="12700">
            <a:solidFill>
              <a:srgbClr val="9AA0A6"/>
            </a:solidFill>
            <a:prstDash val="solid"/>
          </a:ln>
        </p:spPr>
      </p:sp>
      <p:sp>
        <p:nvSpPr>
          <p:cNvPr id="16" name="Shape 14"/>
          <p:cNvSpPr/>
          <p:nvPr/>
        </p:nvSpPr>
        <p:spPr>
          <a:xfrm>
            <a:off x="6903720" y="3529584"/>
            <a:ext cx="-5074920" cy="0"/>
          </a:xfrm>
          <a:prstGeom prst="line">
            <a:avLst/>
          </a:prstGeom>
          <a:noFill/>
          <a:ln w="12700">
            <a:solidFill>
              <a:srgbClr val="9AA0A6"/>
            </a:solidFill>
            <a:prstDash val="solid"/>
          </a:ln>
        </p:spPr>
      </p:sp>
      <p:sp>
        <p:nvSpPr>
          <p:cNvPr id="17" name="Shape 15"/>
          <p:cNvSpPr/>
          <p:nvPr/>
        </p:nvSpPr>
        <p:spPr>
          <a:xfrm>
            <a:off x="1828800" y="3072384"/>
            <a:ext cx="0" cy="457200"/>
          </a:xfrm>
          <a:prstGeom prst="line">
            <a:avLst/>
          </a:prstGeom>
          <a:noFill/>
          <a:ln w="12700">
            <a:solidFill>
              <a:srgbClr val="9AA0A6"/>
            </a:solidFill>
            <a:prstDash val="solid"/>
          </a:ln>
        </p:spPr>
      </p:sp>
      <p:sp>
        <p:nvSpPr>
          <p:cNvPr id="18" name="Text 16"/>
          <p:cNvSpPr/>
          <p:nvPr/>
        </p:nvSpPr>
        <p:spPr>
          <a:xfrm>
            <a:off x="3200400" y="3675888"/>
            <a:ext cx="2743200" cy="201168"/>
          </a:xfrm>
          <a:prstGeom prst="rect">
            <a:avLst/>
          </a:prstGeom>
          <a:noFill/>
          <a:ln/>
        </p:spPr>
        <p:txBody>
          <a:bodyPr wrap="square" lIns="0" tIns="0" rIns="0" bIns="0" rtlCol="0" anchor="ctr"/>
          <a:lstStyle/>
          <a:p>
            <a:pPr algn="ctr" indent="0" marL="0">
              <a:buNone/>
            </a:pPr>
            <a:r>
              <a:rPr lang="en-US" sz="900" dirty="0">
                <a:solidFill>
                  <a:srgbClr val="9AA0A6"/>
                </a:solidFill>
                <a:latin typeface="Helvetica Neue" pitchFamily="34" charset="0"/>
                <a:ea typeface="Helvetica Neue" pitchFamily="34" charset="-122"/>
                <a:cs typeface="Helvetica Neue" pitchFamily="34" charset="-120"/>
              </a:rPr>
              <a:t>feedback loop</a:t>
            </a:r>
            <a:endParaRPr lang="en-US" sz="900" dirty="0"/>
          </a:p>
        </p:txBody>
      </p:sp>
      <p:sp>
        <p:nvSpPr>
          <p:cNvPr id="19" name="Text 17"/>
          <p:cNvSpPr/>
          <p:nvPr/>
        </p:nvSpPr>
        <p:spPr>
          <a:xfrm>
            <a:off x="457200" y="4206240"/>
            <a:ext cx="8229600" cy="256032"/>
          </a:xfrm>
          <a:prstGeom prst="rect">
            <a:avLst/>
          </a:prstGeom>
          <a:noFill/>
          <a:ln/>
        </p:spPr>
        <p:txBody>
          <a:bodyPr wrap="square" lIns="0" tIns="0" rIns="0" bIns="0" rtlCol="0" anchor="ctr"/>
          <a:lstStyle/>
          <a:p>
            <a:pPr algn="ctr" indent="0" marL="0">
              <a:buNone/>
            </a:pPr>
            <a:r>
              <a:rPr lang="en-US" sz="1300" i="1" dirty="0">
                <a:solidFill>
                  <a:srgbClr val="0F3460"/>
                </a:solidFill>
                <a:latin typeface="Helvetica Neue" pitchFamily="34" charset="0"/>
                <a:ea typeface="Helvetica Neue" pitchFamily="34" charset="-122"/>
                <a:cs typeface="Helvetica Neue" pitchFamily="34" charset="-120"/>
              </a:rPr>
              <a:t>Each loop iteration narrows uncertainty.</a:t>
            </a:r>
            <a:endParaRPr lang="en-US" sz="1300" dirty="0"/>
          </a:p>
        </p:txBody>
      </p:sp>
      <p:sp>
        <p:nvSpPr>
          <p:cNvPr id="20" name="Text 18"/>
          <p:cNvSpPr/>
          <p:nvPr/>
        </p:nvSpPr>
        <p:spPr>
          <a:xfrm>
            <a:off x="457200" y="4617720"/>
            <a:ext cx="8229600" cy="201168"/>
          </a:xfrm>
          <a:prstGeom prst="rect">
            <a:avLst/>
          </a:prstGeom>
          <a:noFill/>
          <a:ln/>
        </p:spPr>
        <p:txBody>
          <a:bodyPr wrap="square" lIns="0" tIns="0" rIns="0" bIns="0" rtlCol="0" anchor="ctr"/>
          <a:lstStyle/>
          <a:p>
            <a:pPr algn="ctr" indent="0" marL="0">
              <a:buNone/>
            </a:pPr>
            <a:r>
              <a:rPr lang="en-US" sz="900" dirty="0">
                <a:solidFill>
                  <a:srgbClr val="9AA0A6"/>
                </a:solidFill>
                <a:latin typeface="Helvetica Neue" pitchFamily="34" charset="0"/>
                <a:ea typeface="Helvetica Neue" pitchFamily="34" charset="-122"/>
                <a:cs typeface="Helvetica Neue" pitchFamily="34" charset="-120"/>
              </a:rPr>
              <a:t>In our project: 4 cooperating agents, 12 verified sources, weekly automated refresh</a:t>
            </a:r>
            <a:endParaRPr lang="en-US" sz="900" dirty="0"/>
          </a:p>
        </p:txBody>
      </p:sp>
      <p:sp>
        <p:nvSpPr>
          <p:cNvPr id="21" name="Text 19"/>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3 · SCENARIO PLANNING</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Shell 2×2: Four Futures for 50 Doctors in Spain</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Text 4"/>
          <p:cNvSpPr/>
          <p:nvPr/>
        </p:nvSpPr>
        <p:spPr>
          <a:xfrm>
            <a:off x="1463040" y="1024128"/>
            <a:ext cx="6217920" cy="219456"/>
          </a:xfrm>
          <a:prstGeom prst="rect">
            <a:avLst/>
          </a:prstGeom>
          <a:noFill/>
          <a:ln/>
        </p:spPr>
        <p:txBody>
          <a:bodyPr wrap="square" lIns="0" tIns="0" rIns="0" bIns="0" rtlCol="0" anchor="ctr"/>
          <a:lstStyle/>
          <a:p>
            <a:pPr algn="ctr" indent="0" marL="0">
              <a:buNone/>
            </a:pPr>
            <a:r>
              <a:rPr lang="en-US" sz="900" b="1" spc="100" kern="0" dirty="0">
                <a:solidFill>
                  <a:srgbClr val="9AA0A6"/>
                </a:solidFill>
                <a:latin typeface="Helvetica Neue" pitchFamily="34" charset="0"/>
                <a:ea typeface="Helvetica Neue" pitchFamily="34" charset="-122"/>
                <a:cs typeface="Helvetica Neue" pitchFamily="34" charset="-120"/>
              </a:rPr>
              <a:t>AXIS Y: INSURER RESPONSE</a:t>
            </a:r>
            <a:endParaRPr lang="en-US" sz="900" dirty="0"/>
          </a:p>
        </p:txBody>
      </p:sp>
      <p:sp>
        <p:nvSpPr>
          <p:cNvPr id="7" name="Text 5"/>
          <p:cNvSpPr/>
          <p:nvPr/>
        </p:nvSpPr>
        <p:spPr>
          <a:xfrm>
            <a:off x="1463040" y="1225296"/>
            <a:ext cx="2926080" cy="201168"/>
          </a:xfrm>
          <a:prstGeom prst="rect">
            <a:avLst/>
          </a:prstGeom>
          <a:noFill/>
          <a:ln/>
        </p:spPr>
        <p:txBody>
          <a:bodyPr wrap="square" lIns="0" tIns="0" rIns="0" bIns="0" rtlCol="0" anchor="ctr"/>
          <a:lstStyle/>
          <a:p>
            <a:pPr algn="ctr" indent="0" marL="0">
              <a:buNone/>
            </a:pPr>
            <a:r>
              <a:rPr lang="en-US" sz="1000" dirty="0">
                <a:solidFill>
                  <a:srgbClr val="0F3460"/>
                </a:solidFill>
                <a:latin typeface="Helvetica Neue" pitchFamily="34" charset="0"/>
                <a:ea typeface="Helvetica Neue" pitchFamily="34" charset="-122"/>
                <a:cs typeface="Helvetica Neue" pitchFamily="34" charset="-120"/>
              </a:rPr>
              <a:t>Cooperative / Passive</a:t>
            </a:r>
            <a:endParaRPr lang="en-US" sz="1000" dirty="0"/>
          </a:p>
        </p:txBody>
      </p:sp>
      <p:sp>
        <p:nvSpPr>
          <p:cNvPr id="8" name="Text 6"/>
          <p:cNvSpPr/>
          <p:nvPr/>
        </p:nvSpPr>
        <p:spPr>
          <a:xfrm>
            <a:off x="4572000" y="1225296"/>
            <a:ext cx="3200400" cy="201168"/>
          </a:xfrm>
          <a:prstGeom prst="rect">
            <a:avLst/>
          </a:prstGeom>
          <a:noFill/>
          <a:ln/>
        </p:spPr>
        <p:txBody>
          <a:bodyPr wrap="square" lIns="0" tIns="0" rIns="0" bIns="0" rtlCol="0" anchor="ctr"/>
          <a:lstStyle/>
          <a:p>
            <a:pPr algn="ctr" indent="0" marL="0">
              <a:buNone/>
            </a:pPr>
            <a:r>
              <a:rPr lang="en-US" sz="1000" dirty="0">
                <a:solidFill>
                  <a:srgbClr val="C0392B"/>
                </a:solidFill>
                <a:latin typeface="Helvetica Neue" pitchFamily="34" charset="0"/>
                <a:ea typeface="Helvetica Neue" pitchFamily="34" charset="-122"/>
                <a:cs typeface="Helvetica Neue" pitchFamily="34" charset="-120"/>
              </a:rPr>
              <a:t>Aggressive / Competitive</a:t>
            </a:r>
            <a:endParaRPr lang="en-US" sz="1000" dirty="0"/>
          </a:p>
        </p:txBody>
      </p:sp>
      <p:sp>
        <p:nvSpPr>
          <p:cNvPr id="9" name="Text 7"/>
          <p:cNvSpPr/>
          <p:nvPr/>
        </p:nvSpPr>
        <p:spPr>
          <a:xfrm>
            <a:off x="457200" y="1920240"/>
            <a:ext cx="914400" cy="201168"/>
          </a:xfrm>
          <a:prstGeom prst="rect">
            <a:avLst/>
          </a:prstGeom>
          <a:noFill/>
          <a:ln/>
        </p:spPr>
        <p:txBody>
          <a:bodyPr wrap="square" lIns="0" tIns="0" rIns="0" bIns="0" rtlCol="0" anchor="ctr"/>
          <a:lstStyle/>
          <a:p>
            <a:pPr algn="ctr" indent="0" marL="0">
              <a:buNone/>
            </a:pPr>
            <a:r>
              <a:rPr lang="en-US" sz="850" b="1" dirty="0">
                <a:solidFill>
                  <a:srgbClr val="9AA0A6"/>
                </a:solidFill>
                <a:latin typeface="Helvetica Neue" pitchFamily="34" charset="0"/>
                <a:ea typeface="Helvetica Neue" pitchFamily="34" charset="-122"/>
                <a:cs typeface="Helvetica Neue" pitchFamily="34" charset="-120"/>
              </a:rPr>
              <a:t>FAVORABLE →</a:t>
            </a:r>
            <a:endParaRPr lang="en-US" sz="850" dirty="0"/>
          </a:p>
        </p:txBody>
      </p:sp>
      <p:sp>
        <p:nvSpPr>
          <p:cNvPr id="10" name="Text 8"/>
          <p:cNvSpPr/>
          <p:nvPr/>
        </p:nvSpPr>
        <p:spPr>
          <a:xfrm>
            <a:off x="457200" y="3246120"/>
            <a:ext cx="914400" cy="201168"/>
          </a:xfrm>
          <a:prstGeom prst="rect">
            <a:avLst/>
          </a:prstGeom>
          <a:noFill/>
          <a:ln/>
        </p:spPr>
        <p:txBody>
          <a:bodyPr wrap="square" lIns="0" tIns="0" rIns="0" bIns="0" rtlCol="0" anchor="ctr"/>
          <a:lstStyle/>
          <a:p>
            <a:pPr algn="ctr" indent="0" marL="0">
              <a:buNone/>
            </a:pPr>
            <a:r>
              <a:rPr lang="en-US" sz="850" b="1" dirty="0">
                <a:solidFill>
                  <a:srgbClr val="9AA0A6"/>
                </a:solidFill>
                <a:latin typeface="Helvetica Neue" pitchFamily="34" charset="0"/>
                <a:ea typeface="Helvetica Neue" pitchFamily="34" charset="-122"/>
                <a:cs typeface="Helvetica Neue" pitchFamily="34" charset="-120"/>
              </a:rPr>
              <a:t>← RESTRICTIVE</a:t>
            </a:r>
            <a:endParaRPr lang="en-US" sz="850" dirty="0"/>
          </a:p>
        </p:txBody>
      </p:sp>
      <p:sp>
        <p:nvSpPr>
          <p:cNvPr id="11" name="Shape 9"/>
          <p:cNvSpPr/>
          <p:nvPr/>
        </p:nvSpPr>
        <p:spPr>
          <a:xfrm>
            <a:off x="1481328" y="1463040"/>
            <a:ext cx="2926080" cy="1554480"/>
          </a:xfrm>
          <a:prstGeom prst="rect">
            <a:avLst/>
          </a:prstGeom>
          <a:solidFill>
            <a:srgbClr val="E8F5E9"/>
          </a:solidFill>
          <a:ln w="6350">
            <a:solidFill>
              <a:srgbClr val="CBD0D3"/>
            </a:solidFill>
            <a:prstDash val="solid"/>
          </a:ln>
        </p:spPr>
      </p:sp>
      <p:sp>
        <p:nvSpPr>
          <p:cNvPr id="12" name="Text 10"/>
          <p:cNvSpPr/>
          <p:nvPr/>
        </p:nvSpPr>
        <p:spPr>
          <a:xfrm>
            <a:off x="1572768" y="1554480"/>
            <a:ext cx="1901952" cy="274320"/>
          </a:xfrm>
          <a:prstGeom prst="rect">
            <a:avLst/>
          </a:prstGeom>
          <a:noFill/>
          <a:ln/>
        </p:spPr>
        <p:txBody>
          <a:bodyPr wrap="square" lIns="0" tIns="0" rIns="0" bIns="0" rtlCol="0" anchor="ctr"/>
          <a:lstStyle/>
          <a:p>
            <a:pPr algn="l" indent="0" marL="0">
              <a:buNone/>
            </a:pPr>
            <a:r>
              <a:rPr lang="en-US" sz="1100" b="1" dirty="0">
                <a:solidFill>
                  <a:srgbClr val="1A7F4B"/>
                </a:solidFill>
                <a:latin typeface="Helvetica Neue" pitchFamily="34" charset="0"/>
                <a:ea typeface="Helvetica Neue" pitchFamily="34" charset="-122"/>
                <a:cs typeface="Helvetica Neue" pitchFamily="34" charset="-120"/>
              </a:rPr>
              <a:t>A: RAPID ALLIANCE</a:t>
            </a:r>
            <a:endParaRPr lang="en-US" sz="1100" dirty="0"/>
          </a:p>
        </p:txBody>
      </p:sp>
      <p:sp>
        <p:nvSpPr>
          <p:cNvPr id="13" name="Text 11"/>
          <p:cNvSpPr/>
          <p:nvPr/>
        </p:nvSpPr>
        <p:spPr>
          <a:xfrm>
            <a:off x="3471062" y="1554480"/>
            <a:ext cx="819302" cy="274320"/>
          </a:xfrm>
          <a:prstGeom prst="rect">
            <a:avLst/>
          </a:prstGeom>
          <a:noFill/>
          <a:ln/>
        </p:spPr>
        <p:txBody>
          <a:bodyPr wrap="square" lIns="0" tIns="0" rIns="0" bIns="0" rtlCol="0" anchor="ctr"/>
          <a:lstStyle/>
          <a:p>
            <a:pPr algn="r" indent="0" marL="0">
              <a:buNone/>
            </a:pPr>
            <a:r>
              <a:rPr lang="en-US" sz="1200" b="1" dirty="0">
                <a:solidFill>
                  <a:srgbClr val="1A7F4B"/>
                </a:solidFill>
                <a:latin typeface="Helvetica Neue" pitchFamily="34" charset="0"/>
                <a:ea typeface="Helvetica Neue" pitchFamily="34" charset="-122"/>
                <a:cs typeface="Helvetica Neue" pitchFamily="34" charset="-120"/>
              </a:rPr>
              <a:t>P=35%</a:t>
            </a:r>
            <a:endParaRPr lang="en-US" sz="1200" dirty="0"/>
          </a:p>
        </p:txBody>
      </p:sp>
      <p:sp>
        <p:nvSpPr>
          <p:cNvPr id="14" name="Text 12"/>
          <p:cNvSpPr/>
          <p:nvPr/>
        </p:nvSpPr>
        <p:spPr>
          <a:xfrm>
            <a:off x="1572768" y="1865376"/>
            <a:ext cx="2743200" cy="107899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DGS authorises fast-track. Sanitas sees 50D as premium-tourism asset and proposes JV. Insurers derive patients from Day 1.</a:t>
            </a:r>
            <a:endParaRPr lang="en-US" sz="950" dirty="0"/>
          </a:p>
        </p:txBody>
      </p:sp>
      <p:sp>
        <p:nvSpPr>
          <p:cNvPr id="15" name="Shape 13"/>
          <p:cNvSpPr/>
          <p:nvPr/>
        </p:nvSpPr>
        <p:spPr>
          <a:xfrm>
            <a:off x="4553712" y="1463040"/>
            <a:ext cx="3383280" cy="1554480"/>
          </a:xfrm>
          <a:prstGeom prst="rect">
            <a:avLst/>
          </a:prstGeom>
          <a:solidFill>
            <a:srgbClr val="FFF3E0"/>
          </a:solidFill>
          <a:ln w="6350">
            <a:solidFill>
              <a:srgbClr val="CBD0D3"/>
            </a:solidFill>
            <a:prstDash val="solid"/>
          </a:ln>
        </p:spPr>
      </p:sp>
      <p:sp>
        <p:nvSpPr>
          <p:cNvPr id="16" name="Text 14"/>
          <p:cNvSpPr/>
          <p:nvPr/>
        </p:nvSpPr>
        <p:spPr>
          <a:xfrm>
            <a:off x="4645152" y="1554480"/>
            <a:ext cx="2199132" cy="274320"/>
          </a:xfrm>
          <a:prstGeom prst="rect">
            <a:avLst/>
          </a:prstGeom>
          <a:noFill/>
          <a:ln/>
        </p:spPr>
        <p:txBody>
          <a:bodyPr wrap="square" lIns="0" tIns="0" rIns="0" bIns="0" rtlCol="0" anchor="ctr"/>
          <a:lstStyle/>
          <a:p>
            <a:pPr algn="l" indent="0" marL="0">
              <a:buNone/>
            </a:pPr>
            <a:r>
              <a:rPr lang="en-US" sz="1100" b="1" dirty="0">
                <a:solidFill>
                  <a:srgbClr val="B7791F"/>
                </a:solidFill>
                <a:latin typeface="Helvetica Neue" pitchFamily="34" charset="0"/>
                <a:ea typeface="Helvetica Neue" pitchFamily="34" charset="-122"/>
                <a:cs typeface="Helvetica Neue" pitchFamily="34" charset="-120"/>
              </a:rPr>
              <a:t>B: OPEN RACE</a:t>
            </a:r>
            <a:endParaRPr lang="en-US" sz="1100" dirty="0"/>
          </a:p>
        </p:txBody>
      </p:sp>
      <p:sp>
        <p:nvSpPr>
          <p:cNvPr id="17" name="Text 15"/>
          <p:cNvSpPr/>
          <p:nvPr/>
        </p:nvSpPr>
        <p:spPr>
          <a:xfrm>
            <a:off x="6854342" y="1554480"/>
            <a:ext cx="947318" cy="274320"/>
          </a:xfrm>
          <a:prstGeom prst="rect">
            <a:avLst/>
          </a:prstGeom>
          <a:noFill/>
          <a:ln/>
        </p:spPr>
        <p:txBody>
          <a:bodyPr wrap="square" lIns="0" tIns="0" rIns="0" bIns="0" rtlCol="0" anchor="ctr"/>
          <a:lstStyle/>
          <a:p>
            <a:pPr algn="r" indent="0" marL="0">
              <a:buNone/>
            </a:pPr>
            <a:r>
              <a:rPr lang="en-US" sz="1200" b="1" dirty="0">
                <a:solidFill>
                  <a:srgbClr val="B7791F"/>
                </a:solidFill>
                <a:latin typeface="Helvetica Neue" pitchFamily="34" charset="0"/>
                <a:ea typeface="Helvetica Neue" pitchFamily="34" charset="-122"/>
                <a:cs typeface="Helvetica Neue" pitchFamily="34" charset="-120"/>
              </a:rPr>
              <a:t>P=15%</a:t>
            </a:r>
            <a:endParaRPr lang="en-US" sz="1200" dirty="0"/>
          </a:p>
        </p:txBody>
      </p:sp>
      <p:sp>
        <p:nvSpPr>
          <p:cNvPr id="18" name="Text 16"/>
          <p:cNvSpPr/>
          <p:nvPr/>
        </p:nvSpPr>
        <p:spPr>
          <a:xfrm>
            <a:off x="4645152" y="1865376"/>
            <a:ext cx="3200400" cy="107899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Regulation OK but insurers launch counter-offensives. Aggressive marketing war, talent blocking, competing hospital openings.</a:t>
            </a:r>
            <a:endParaRPr lang="en-US" sz="950" dirty="0"/>
          </a:p>
        </p:txBody>
      </p:sp>
      <p:sp>
        <p:nvSpPr>
          <p:cNvPr id="19" name="Shape 17"/>
          <p:cNvSpPr/>
          <p:nvPr/>
        </p:nvSpPr>
        <p:spPr>
          <a:xfrm>
            <a:off x="1481328" y="3127248"/>
            <a:ext cx="2926080" cy="1554480"/>
          </a:xfrm>
          <a:prstGeom prst="rect">
            <a:avLst/>
          </a:prstGeom>
          <a:solidFill>
            <a:srgbClr val="E3F2FD"/>
          </a:solidFill>
          <a:ln w="6350">
            <a:solidFill>
              <a:srgbClr val="CBD0D3"/>
            </a:solidFill>
            <a:prstDash val="solid"/>
          </a:ln>
        </p:spPr>
      </p:sp>
      <p:sp>
        <p:nvSpPr>
          <p:cNvPr id="20" name="Text 18"/>
          <p:cNvSpPr/>
          <p:nvPr/>
        </p:nvSpPr>
        <p:spPr>
          <a:xfrm>
            <a:off x="1572768" y="3218688"/>
            <a:ext cx="1901952" cy="274320"/>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C: DEFENSIVE ENTRY</a:t>
            </a:r>
            <a:endParaRPr lang="en-US" sz="1100" dirty="0"/>
          </a:p>
        </p:txBody>
      </p:sp>
      <p:sp>
        <p:nvSpPr>
          <p:cNvPr id="21" name="Text 19"/>
          <p:cNvSpPr/>
          <p:nvPr/>
        </p:nvSpPr>
        <p:spPr>
          <a:xfrm>
            <a:off x="3471062" y="3218688"/>
            <a:ext cx="819302" cy="274320"/>
          </a:xfrm>
          <a:prstGeom prst="rect">
            <a:avLst/>
          </a:prstGeom>
          <a:noFill/>
          <a:ln/>
        </p:spPr>
        <p:txBody>
          <a:bodyPr wrap="square" lIns="0" tIns="0" rIns="0" bIns="0" rtlCol="0" anchor="ctr"/>
          <a:lstStyle/>
          <a:p>
            <a:pPr algn="r" indent="0" marL="0">
              <a:buNone/>
            </a:pPr>
            <a:r>
              <a:rPr lang="en-US" sz="1200" b="1" dirty="0">
                <a:solidFill>
                  <a:srgbClr val="0F3460"/>
                </a:solidFill>
                <a:latin typeface="Helvetica Neue" pitchFamily="34" charset="0"/>
                <a:ea typeface="Helvetica Neue" pitchFamily="34" charset="-122"/>
                <a:cs typeface="Helvetica Neue" pitchFamily="34" charset="-120"/>
              </a:rPr>
              <a:t>P=30%</a:t>
            </a:r>
            <a:endParaRPr lang="en-US" sz="1200" dirty="0"/>
          </a:p>
        </p:txBody>
      </p:sp>
      <p:sp>
        <p:nvSpPr>
          <p:cNvPr id="22" name="Text 20"/>
          <p:cNvSpPr/>
          <p:nvPr/>
        </p:nvSpPr>
        <p:spPr>
          <a:xfrm>
            <a:off x="1572768" y="3529584"/>
            <a:ext cx="2743200" cy="107899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Regulation requires local co-ownership. 50D must partner to enter — JV 50-50, slow governance, delayed timeline (2028-29).</a:t>
            </a:r>
            <a:endParaRPr lang="en-US" sz="950" dirty="0"/>
          </a:p>
        </p:txBody>
      </p:sp>
      <p:sp>
        <p:nvSpPr>
          <p:cNvPr id="23" name="Shape 21"/>
          <p:cNvSpPr/>
          <p:nvPr/>
        </p:nvSpPr>
        <p:spPr>
          <a:xfrm>
            <a:off x="4553712" y="3127248"/>
            <a:ext cx="3383280" cy="1554480"/>
          </a:xfrm>
          <a:prstGeom prst="rect">
            <a:avLst/>
          </a:prstGeom>
          <a:solidFill>
            <a:srgbClr val="FFEBEE"/>
          </a:solidFill>
          <a:ln w="6350">
            <a:solidFill>
              <a:srgbClr val="CBD0D3"/>
            </a:solidFill>
            <a:prstDash val="solid"/>
          </a:ln>
        </p:spPr>
      </p:sp>
      <p:sp>
        <p:nvSpPr>
          <p:cNvPr id="24" name="Text 22"/>
          <p:cNvSpPr/>
          <p:nvPr/>
        </p:nvSpPr>
        <p:spPr>
          <a:xfrm>
            <a:off x="4645152" y="3218688"/>
            <a:ext cx="2199132" cy="274320"/>
          </a:xfrm>
          <a:prstGeom prst="rect">
            <a:avLst/>
          </a:prstGeom>
          <a:noFill/>
          <a:ln/>
        </p:spPr>
        <p:txBody>
          <a:bodyPr wrap="square" lIns="0" tIns="0" rIns="0" bIns="0" rtlCol="0" anchor="ctr"/>
          <a:lstStyle/>
          <a:p>
            <a:pPr algn="l" indent="0" marL="0">
              <a:buNone/>
            </a:pPr>
            <a:r>
              <a:rPr lang="en-US" sz="1100" b="1" dirty="0">
                <a:solidFill>
                  <a:srgbClr val="C0392B"/>
                </a:solidFill>
                <a:latin typeface="Helvetica Neue" pitchFamily="34" charset="0"/>
                <a:ea typeface="Helvetica Neue" pitchFamily="34" charset="-122"/>
                <a:cs typeface="Helvetica Neue" pitchFamily="34" charset="-120"/>
              </a:rPr>
              <a:t>D: WAR + CLOSURE</a:t>
            </a:r>
            <a:endParaRPr lang="en-US" sz="1100" dirty="0"/>
          </a:p>
        </p:txBody>
      </p:sp>
      <p:sp>
        <p:nvSpPr>
          <p:cNvPr id="25" name="Text 23"/>
          <p:cNvSpPr/>
          <p:nvPr/>
        </p:nvSpPr>
        <p:spPr>
          <a:xfrm>
            <a:off x="6854342" y="3218688"/>
            <a:ext cx="947318" cy="274320"/>
          </a:xfrm>
          <a:prstGeom prst="rect">
            <a:avLst/>
          </a:prstGeom>
          <a:noFill/>
          <a:ln/>
        </p:spPr>
        <p:txBody>
          <a:bodyPr wrap="square" lIns="0" tIns="0" rIns="0" bIns="0" rtlCol="0" anchor="ctr"/>
          <a:lstStyle/>
          <a:p>
            <a:pPr algn="r" indent="0" marL="0">
              <a:buNone/>
            </a:pPr>
            <a:r>
              <a:rPr lang="en-US" sz="1200" b="1" dirty="0">
                <a:solidFill>
                  <a:srgbClr val="C0392B"/>
                </a:solidFill>
                <a:latin typeface="Helvetica Neue" pitchFamily="34" charset="0"/>
                <a:ea typeface="Helvetica Neue" pitchFamily="34" charset="-122"/>
                <a:cs typeface="Helvetica Neue" pitchFamily="34" charset="-120"/>
              </a:rPr>
              <a:t>P=20%</a:t>
            </a:r>
            <a:endParaRPr lang="en-US" sz="1200" dirty="0"/>
          </a:p>
        </p:txBody>
      </p:sp>
      <p:sp>
        <p:nvSpPr>
          <p:cNvPr id="26" name="Text 24"/>
          <p:cNvSpPr/>
          <p:nvPr/>
        </p:nvSpPr>
        <p:spPr>
          <a:xfrm>
            <a:off x="4645152" y="3529584"/>
            <a:ext cx="3200400" cy="107899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Regulator blocks AND insurers attack. Entry delayed 3+ years. Sunk costs €5-10M. Must pivot to M&amp;A of existing operator.</a:t>
            </a:r>
            <a:endParaRPr lang="en-US" sz="950" dirty="0"/>
          </a:p>
        </p:txBody>
      </p:sp>
      <p:sp>
        <p:nvSpPr>
          <p:cNvPr id="27" name="Shape 25"/>
          <p:cNvSpPr/>
          <p:nvPr/>
        </p:nvSpPr>
        <p:spPr>
          <a:xfrm>
            <a:off x="4407408" y="1444752"/>
            <a:ext cx="0" cy="3255264"/>
          </a:xfrm>
          <a:prstGeom prst="line">
            <a:avLst/>
          </a:prstGeom>
          <a:noFill/>
          <a:ln w="9525">
            <a:solidFill>
              <a:srgbClr val="9AA0A6"/>
            </a:solidFill>
            <a:prstDash val="solid"/>
          </a:ln>
        </p:spPr>
      </p:sp>
      <p:sp>
        <p:nvSpPr>
          <p:cNvPr id="28" name="Shape 26"/>
          <p:cNvSpPr/>
          <p:nvPr/>
        </p:nvSpPr>
        <p:spPr>
          <a:xfrm>
            <a:off x="1481328" y="3090672"/>
            <a:ext cx="6473952" cy="0"/>
          </a:xfrm>
          <a:prstGeom prst="line">
            <a:avLst/>
          </a:prstGeom>
          <a:noFill/>
          <a:ln w="12700">
            <a:solidFill>
              <a:srgbClr val="CBD0D3"/>
            </a:solidFill>
            <a:prstDash val="solid"/>
          </a:ln>
        </p:spPr>
      </p:sp>
      <p:sp>
        <p:nvSpPr>
          <p:cNvPr id="29" name="Text 27"/>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Framework: Shell Scenario Planning (TN02) — Critical uncertainties: Regulation receptivity × Insurer response</a:t>
            </a:r>
            <a:endParaRPr lang="en-US" sz="800" dirty="0"/>
          </a:p>
        </p:txBody>
      </p:sp>
      <p:sp>
        <p:nvSpPr>
          <p:cNvPr id="30" name="Text 28"/>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3 · WAR GAME</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Three Insights That Only Emerged Under Fire</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Text 4"/>
          <p:cNvSpPr/>
          <p:nvPr/>
        </p:nvSpPr>
        <p:spPr>
          <a:xfrm>
            <a:off x="457200" y="1042416"/>
            <a:ext cx="8229600" cy="219456"/>
          </a:xfrm>
          <a:prstGeom prst="rect">
            <a:avLst/>
          </a:prstGeom>
          <a:noFill/>
          <a:ln/>
        </p:spPr>
        <p:txBody>
          <a:bodyPr wrap="square" lIns="0" tIns="0" rIns="0" bIns="0" rtlCol="0" anchor="ctr"/>
          <a:lstStyle/>
          <a:p>
            <a:pPr algn="l" indent="0" marL="0">
              <a:buNone/>
            </a:pPr>
            <a:r>
              <a:rPr lang="en-US" sz="1000" dirty="0">
                <a:solidFill>
                  <a:srgbClr val="9AA0A6"/>
                </a:solidFill>
                <a:latin typeface="Helvetica Neue" pitchFamily="34" charset="0"/>
                <a:ea typeface="Helvetica Neue" pitchFamily="34" charset="-122"/>
                <a:cs typeface="Helvetica Neue" pitchFamily="34" charset="-120"/>
              </a:rPr>
              <a:t>War Game setup: 3 teams (Red/Blue/Green) · 3 rounds · 2 shock events · 11-13 players</a:t>
            </a:r>
            <a:endParaRPr lang="en-US" sz="1000" dirty="0"/>
          </a:p>
        </p:txBody>
      </p:sp>
      <p:sp>
        <p:nvSpPr>
          <p:cNvPr id="7" name="Shape 5"/>
          <p:cNvSpPr/>
          <p:nvPr/>
        </p:nvSpPr>
        <p:spPr>
          <a:xfrm>
            <a:off x="457200" y="1371600"/>
            <a:ext cx="8229600" cy="1005840"/>
          </a:xfrm>
          <a:prstGeom prst="rect">
            <a:avLst/>
          </a:prstGeom>
          <a:solidFill>
            <a:srgbClr val="FAFAFA"/>
          </a:solidFill>
          <a:ln w="6350">
            <a:solidFill>
              <a:srgbClr val="E8EAED"/>
            </a:solidFill>
            <a:prstDash val="solid"/>
          </a:ln>
        </p:spPr>
      </p:sp>
      <p:sp>
        <p:nvSpPr>
          <p:cNvPr id="8" name="Shape 6"/>
          <p:cNvSpPr/>
          <p:nvPr/>
        </p:nvSpPr>
        <p:spPr>
          <a:xfrm>
            <a:off x="566928" y="1481328"/>
            <a:ext cx="384048" cy="384048"/>
          </a:xfrm>
          <a:prstGeom prst="ellipse">
            <a:avLst/>
          </a:prstGeom>
          <a:solidFill>
            <a:srgbClr val="0F3460"/>
          </a:solidFill>
          <a:ln/>
        </p:spPr>
      </p:sp>
      <p:sp>
        <p:nvSpPr>
          <p:cNvPr id="9" name="Text 7"/>
          <p:cNvSpPr/>
          <p:nvPr/>
        </p:nvSpPr>
        <p:spPr>
          <a:xfrm>
            <a:off x="566928" y="14813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Neue" pitchFamily="34" charset="0"/>
                <a:ea typeface="Helvetica Neue" pitchFamily="34" charset="-122"/>
                <a:cs typeface="Helvetica Neue" pitchFamily="34" charset="-120"/>
              </a:rPr>
              <a:t>1</a:t>
            </a:r>
            <a:endParaRPr lang="en-US" sz="1600" dirty="0"/>
          </a:p>
        </p:txBody>
      </p:sp>
      <p:sp>
        <p:nvSpPr>
          <p:cNvPr id="10" name="Text 8"/>
          <p:cNvSpPr/>
          <p:nvPr/>
        </p:nvSpPr>
        <p:spPr>
          <a:xfrm>
            <a:off x="1078992" y="1426464"/>
            <a:ext cx="7406640" cy="274320"/>
          </a:xfrm>
          <a:prstGeom prst="rect">
            <a:avLst/>
          </a:prstGeom>
          <a:noFill/>
          <a:ln/>
        </p:spPr>
        <p:txBody>
          <a:bodyPr wrap="square" lIns="0" tIns="0" rIns="0" bIns="0" rtlCol="0" anchor="ctr"/>
          <a:lstStyle/>
          <a:p>
            <a:pPr algn="l" indent="0" marL="0">
              <a:buNone/>
            </a:pPr>
            <a:r>
              <a:rPr lang="en-US" sz="1200" b="1" dirty="0">
                <a:solidFill>
                  <a:srgbClr val="0F3460"/>
                </a:solidFill>
                <a:latin typeface="Helvetica Neue" pitchFamily="34" charset="0"/>
                <a:ea typeface="Helvetica Neue" pitchFamily="34" charset="-122"/>
                <a:cs typeface="Helvetica Neue" pitchFamily="34" charset="-120"/>
              </a:rPr>
              <a:t>Asymmetric information is the strongest move</a:t>
            </a:r>
            <a:endParaRPr lang="en-US" sz="1200" dirty="0"/>
          </a:p>
        </p:txBody>
      </p:sp>
      <p:sp>
        <p:nvSpPr>
          <p:cNvPr id="11" name="Text 9"/>
          <p:cNvSpPr/>
          <p:nvPr/>
        </p:nvSpPr>
        <p:spPr>
          <a:xfrm>
            <a:off x="1078992" y="1700784"/>
            <a:ext cx="7406640" cy="566928"/>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Sanitas's private briefing ('BUPA already knows 50 Doctors from Mexico') converted the most dangerous competitor into a potential partner in under 10 minutes. In the real market, this is 50 Doctors' most valuable negotiating asset.</a:t>
            </a:r>
            <a:endParaRPr lang="en-US" sz="1000" dirty="0"/>
          </a:p>
        </p:txBody>
      </p:sp>
      <p:sp>
        <p:nvSpPr>
          <p:cNvPr id="12" name="Shape 10"/>
          <p:cNvSpPr/>
          <p:nvPr/>
        </p:nvSpPr>
        <p:spPr>
          <a:xfrm>
            <a:off x="457200" y="2468880"/>
            <a:ext cx="8229600" cy="1005840"/>
          </a:xfrm>
          <a:prstGeom prst="rect">
            <a:avLst/>
          </a:prstGeom>
          <a:solidFill>
            <a:srgbClr val="FFFFFF"/>
          </a:solidFill>
          <a:ln w="6350">
            <a:solidFill>
              <a:srgbClr val="E8EAED"/>
            </a:solidFill>
            <a:prstDash val="solid"/>
          </a:ln>
        </p:spPr>
      </p:sp>
      <p:sp>
        <p:nvSpPr>
          <p:cNvPr id="13" name="Shape 11"/>
          <p:cNvSpPr/>
          <p:nvPr/>
        </p:nvSpPr>
        <p:spPr>
          <a:xfrm>
            <a:off x="566928" y="2578608"/>
            <a:ext cx="384048" cy="384048"/>
          </a:xfrm>
          <a:prstGeom prst="ellipse">
            <a:avLst/>
          </a:prstGeom>
          <a:solidFill>
            <a:srgbClr val="0F3460"/>
          </a:solidFill>
          <a:ln/>
        </p:spPr>
      </p:sp>
      <p:sp>
        <p:nvSpPr>
          <p:cNvPr id="14" name="Text 12"/>
          <p:cNvSpPr/>
          <p:nvPr/>
        </p:nvSpPr>
        <p:spPr>
          <a:xfrm>
            <a:off x="566928" y="257860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Neue" pitchFamily="34" charset="0"/>
                <a:ea typeface="Helvetica Neue" pitchFamily="34" charset="-122"/>
                <a:cs typeface="Helvetica Neue" pitchFamily="34" charset="-120"/>
              </a:rPr>
              <a:t>2</a:t>
            </a:r>
            <a:endParaRPr lang="en-US" sz="1600" dirty="0"/>
          </a:p>
        </p:txBody>
      </p:sp>
      <p:sp>
        <p:nvSpPr>
          <p:cNvPr id="15" name="Text 13"/>
          <p:cNvSpPr/>
          <p:nvPr/>
        </p:nvSpPr>
        <p:spPr>
          <a:xfrm>
            <a:off x="1078992" y="2523744"/>
            <a:ext cx="7406640" cy="274320"/>
          </a:xfrm>
          <a:prstGeom prst="rect">
            <a:avLst/>
          </a:prstGeom>
          <a:noFill/>
          <a:ln/>
        </p:spPr>
        <p:txBody>
          <a:bodyPr wrap="square" lIns="0" tIns="0" rIns="0" bIns="0" rtlCol="0" anchor="ctr"/>
          <a:lstStyle/>
          <a:p>
            <a:pPr algn="l" indent="0" marL="0">
              <a:buNone/>
            </a:pPr>
            <a:r>
              <a:rPr lang="en-US" sz="1200" b="1" dirty="0">
                <a:solidFill>
                  <a:srgbClr val="0F3460"/>
                </a:solidFill>
                <a:latin typeface="Helvetica Neue" pitchFamily="34" charset="0"/>
                <a:ea typeface="Helvetica Neue" pitchFamily="34" charset="-122"/>
                <a:cs typeface="Helvetica Neue" pitchFamily="34" charset="-120"/>
              </a:rPr>
              <a:t>Asisa moved first — not Adeslas</a:t>
            </a:r>
            <a:endParaRPr lang="en-US" sz="1200" dirty="0"/>
          </a:p>
        </p:txBody>
      </p:sp>
      <p:sp>
        <p:nvSpPr>
          <p:cNvPr id="16" name="Text 14"/>
          <p:cNvSpPr/>
          <p:nvPr/>
        </p:nvSpPr>
        <p:spPr>
          <a:xfrm>
            <a:off x="1078992" y="2798064"/>
            <a:ext cx="7406640" cy="566928"/>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No team anticipated that the mid-size player with the highest urgency (HLA hospitals directly threatened) would reach 50 Doctors before Sanitas or Adeslas. In real markets, speed matters more than scale. Asisa offered immediate HLA network access vs. Sanitas's slower corporate process.</a:t>
            </a:r>
            <a:endParaRPr lang="en-US" sz="1000" dirty="0"/>
          </a:p>
        </p:txBody>
      </p:sp>
      <p:sp>
        <p:nvSpPr>
          <p:cNvPr id="17" name="Shape 15"/>
          <p:cNvSpPr/>
          <p:nvPr/>
        </p:nvSpPr>
        <p:spPr>
          <a:xfrm>
            <a:off x="457200" y="3566160"/>
            <a:ext cx="8229600" cy="1005840"/>
          </a:xfrm>
          <a:prstGeom prst="rect">
            <a:avLst/>
          </a:prstGeom>
          <a:solidFill>
            <a:srgbClr val="FAFAFA"/>
          </a:solidFill>
          <a:ln w="6350">
            <a:solidFill>
              <a:srgbClr val="E8EAED"/>
            </a:solidFill>
            <a:prstDash val="solid"/>
          </a:ln>
        </p:spPr>
      </p:sp>
      <p:sp>
        <p:nvSpPr>
          <p:cNvPr id="18" name="Shape 16"/>
          <p:cNvSpPr/>
          <p:nvPr/>
        </p:nvSpPr>
        <p:spPr>
          <a:xfrm>
            <a:off x="566928" y="3675888"/>
            <a:ext cx="384048" cy="384048"/>
          </a:xfrm>
          <a:prstGeom prst="ellipse">
            <a:avLst/>
          </a:prstGeom>
          <a:solidFill>
            <a:srgbClr val="0F3460"/>
          </a:solidFill>
          <a:ln/>
        </p:spPr>
      </p:sp>
      <p:sp>
        <p:nvSpPr>
          <p:cNvPr id="19" name="Text 17"/>
          <p:cNvSpPr/>
          <p:nvPr/>
        </p:nvSpPr>
        <p:spPr>
          <a:xfrm>
            <a:off x="566928" y="36758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Neue" pitchFamily="34" charset="0"/>
                <a:ea typeface="Helvetica Neue" pitchFamily="34" charset="-122"/>
                <a:cs typeface="Helvetica Neue" pitchFamily="34" charset="-120"/>
              </a:rPr>
              <a:t>3</a:t>
            </a:r>
            <a:endParaRPr lang="en-US" sz="1600" dirty="0"/>
          </a:p>
        </p:txBody>
      </p:sp>
      <p:sp>
        <p:nvSpPr>
          <p:cNvPr id="20" name="Text 18"/>
          <p:cNvSpPr/>
          <p:nvPr/>
        </p:nvSpPr>
        <p:spPr>
          <a:xfrm>
            <a:off x="1078992" y="3621024"/>
            <a:ext cx="7406640" cy="274320"/>
          </a:xfrm>
          <a:prstGeom prst="rect">
            <a:avLst/>
          </a:prstGeom>
          <a:noFill/>
          <a:ln/>
        </p:spPr>
        <p:txBody>
          <a:bodyPr wrap="square" lIns="0" tIns="0" rIns="0" bIns="0" rtlCol="0" anchor="ctr"/>
          <a:lstStyle/>
          <a:p>
            <a:pPr algn="l" indent="0" marL="0">
              <a:buNone/>
            </a:pPr>
            <a:r>
              <a:rPr lang="en-US" sz="1200" b="1" dirty="0">
                <a:solidFill>
                  <a:srgbClr val="0F3460"/>
                </a:solidFill>
                <a:latin typeface="Helvetica Neue" pitchFamily="34" charset="0"/>
                <a:ea typeface="Helvetica Neue" pitchFamily="34" charset="-122"/>
                <a:cs typeface="Helvetica Neue" pitchFamily="34" charset="-120"/>
              </a:rPr>
              <a:t>The regulator responds to incentives, not logic</a:t>
            </a:r>
            <a:endParaRPr lang="en-US" sz="1200" dirty="0"/>
          </a:p>
        </p:txBody>
      </p:sp>
      <p:sp>
        <p:nvSpPr>
          <p:cNvPr id="21" name="Text 19"/>
          <p:cNvSpPr/>
          <p:nvPr/>
        </p:nvSpPr>
        <p:spPr>
          <a:xfrm>
            <a:off x="1078992" y="3895344"/>
            <a:ext cx="7406640" cy="566928"/>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Green Team (DGS) was not neutral — it rewarded whoever arrived first with a signed employment guarantee. Speed of lobbying beats quality of argument. This validates Shaping Action S1: CEO-to-CEO with Sanitas within 30 days, before any public announcement.</a:t>
            </a:r>
            <a:endParaRPr lang="en-US" sz="1000" dirty="0"/>
          </a:p>
        </p:txBody>
      </p:sp>
      <p:sp>
        <p:nvSpPr>
          <p:cNvPr id="22" name="Text 20"/>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Shock #1: CNMC public consultation on foreign hospital regulation  ·  Shock #2: BUPA announces €200M GBP LATAM investment</a:t>
            </a:r>
            <a:endParaRPr lang="en-US" sz="800" dirty="0"/>
          </a:p>
        </p:txBody>
      </p:sp>
      <p:sp>
        <p:nvSpPr>
          <p:cNvPr id="23" name="Text 21"/>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09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3 · ASSUMPTION-BASED PLANNING</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Five Assumptions That Carry the Entire Strategy</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Shape 4"/>
          <p:cNvSpPr/>
          <p:nvPr/>
        </p:nvSpPr>
        <p:spPr>
          <a:xfrm>
            <a:off x="457200" y="1005840"/>
            <a:ext cx="8229600" cy="274320"/>
          </a:xfrm>
          <a:prstGeom prst="rect">
            <a:avLst/>
          </a:prstGeom>
          <a:solidFill>
            <a:srgbClr val="0F3460"/>
          </a:solidFill>
          <a:ln/>
        </p:spPr>
      </p:sp>
      <p:sp>
        <p:nvSpPr>
          <p:cNvPr id="7" name="Text 5"/>
          <p:cNvSpPr/>
          <p:nvPr/>
        </p:nvSpPr>
        <p:spPr>
          <a:xfrm>
            <a:off x="457200" y="1005840"/>
            <a:ext cx="40233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a:t>
            </a:r>
            <a:endParaRPr lang="en-US" sz="950" dirty="0"/>
          </a:p>
        </p:txBody>
      </p:sp>
      <p:sp>
        <p:nvSpPr>
          <p:cNvPr id="8" name="Text 6"/>
          <p:cNvSpPr/>
          <p:nvPr/>
        </p:nvSpPr>
        <p:spPr>
          <a:xfrm>
            <a:off x="896112" y="1005840"/>
            <a:ext cx="3913632" cy="274320"/>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Assumption</a:t>
            </a:r>
            <a:endParaRPr lang="en-US" sz="950" dirty="0"/>
          </a:p>
        </p:txBody>
      </p:sp>
      <p:sp>
        <p:nvSpPr>
          <p:cNvPr id="9" name="Text 7"/>
          <p:cNvSpPr/>
          <p:nvPr/>
        </p:nvSpPr>
        <p:spPr>
          <a:xfrm>
            <a:off x="4846320" y="1005840"/>
            <a:ext cx="10515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Type</a:t>
            </a:r>
            <a:endParaRPr lang="en-US" sz="950" dirty="0"/>
          </a:p>
        </p:txBody>
      </p:sp>
      <p:sp>
        <p:nvSpPr>
          <p:cNvPr id="10" name="Text 8"/>
          <p:cNvSpPr/>
          <p:nvPr/>
        </p:nvSpPr>
        <p:spPr>
          <a:xfrm>
            <a:off x="5943600" y="1005840"/>
            <a:ext cx="6858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P(fail)</a:t>
            </a:r>
            <a:endParaRPr lang="en-US" sz="950" dirty="0"/>
          </a:p>
        </p:txBody>
      </p:sp>
      <p:sp>
        <p:nvSpPr>
          <p:cNvPr id="11" name="Text 9"/>
          <p:cNvSpPr/>
          <p:nvPr/>
        </p:nvSpPr>
        <p:spPr>
          <a:xfrm>
            <a:off x="6675120" y="1005840"/>
            <a:ext cx="22860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Signpost if FAILS</a:t>
            </a:r>
            <a:endParaRPr lang="en-US" sz="950" dirty="0"/>
          </a:p>
        </p:txBody>
      </p:sp>
      <p:sp>
        <p:nvSpPr>
          <p:cNvPr id="12" name="Shape 10"/>
          <p:cNvSpPr/>
          <p:nvPr/>
        </p:nvSpPr>
        <p:spPr>
          <a:xfrm>
            <a:off x="457200" y="1298448"/>
            <a:ext cx="8229600" cy="640080"/>
          </a:xfrm>
          <a:prstGeom prst="rect">
            <a:avLst/>
          </a:prstGeom>
          <a:solidFill>
            <a:srgbClr val="FFFFFF"/>
          </a:solidFill>
          <a:ln/>
        </p:spPr>
      </p:sp>
      <p:sp>
        <p:nvSpPr>
          <p:cNvPr id="13" name="Text 11"/>
          <p:cNvSpPr/>
          <p:nvPr/>
        </p:nvSpPr>
        <p:spPr>
          <a:xfrm>
            <a:off x="457200" y="1316736"/>
            <a:ext cx="402336" cy="585216"/>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#1</a:t>
            </a:r>
            <a:endParaRPr lang="en-US" sz="1000" dirty="0"/>
          </a:p>
        </p:txBody>
      </p:sp>
      <p:sp>
        <p:nvSpPr>
          <p:cNvPr id="14" name="Text 12"/>
          <p:cNvSpPr/>
          <p:nvPr/>
        </p:nvSpPr>
        <p:spPr>
          <a:xfrm>
            <a:off x="896112" y="1316736"/>
            <a:ext cx="3822192" cy="58521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Regulation authorises 100% foreign hospital ownership (no mandatory local co-owner)</a:t>
            </a:r>
            <a:endParaRPr lang="en-US" sz="950" dirty="0"/>
          </a:p>
        </p:txBody>
      </p:sp>
      <p:sp>
        <p:nvSpPr>
          <p:cNvPr id="15" name="Text 13"/>
          <p:cNvSpPr/>
          <p:nvPr/>
        </p:nvSpPr>
        <p:spPr>
          <a:xfrm>
            <a:off x="4846320" y="1316736"/>
            <a:ext cx="1051560" cy="585216"/>
          </a:xfrm>
          <a:prstGeom prst="rect">
            <a:avLst/>
          </a:prstGeom>
          <a:noFill/>
          <a:ln/>
        </p:spPr>
        <p:txBody>
          <a:bodyPr wrap="square" lIns="0" tIns="0" rIns="0" bIns="0" rtlCol="0" anchor="ctr"/>
          <a:lstStyle/>
          <a:p>
            <a:pPr algn="l" indent="0" marL="0">
              <a:buNone/>
            </a:pPr>
            <a:r>
              <a:rPr lang="en-US" sz="900" b="1" dirty="0">
                <a:solidFill>
                  <a:srgbClr val="C0392B"/>
                </a:solidFill>
                <a:latin typeface="Helvetica Neue" pitchFamily="34" charset="0"/>
                <a:ea typeface="Helvetica Neue" pitchFamily="34" charset="-122"/>
                <a:cs typeface="Helvetica Neue" pitchFamily="34" charset="-120"/>
              </a:rPr>
              <a:t>Load-Bearing</a:t>
            </a:r>
            <a:endParaRPr lang="en-US" sz="900" dirty="0"/>
          </a:p>
        </p:txBody>
      </p:sp>
      <p:sp>
        <p:nvSpPr>
          <p:cNvPr id="16" name="Text 14"/>
          <p:cNvSpPr/>
          <p:nvPr/>
        </p:nvSpPr>
        <p:spPr>
          <a:xfrm>
            <a:off x="5943600" y="1316736"/>
            <a:ext cx="685800" cy="585216"/>
          </a:xfrm>
          <a:prstGeom prst="rect">
            <a:avLst/>
          </a:prstGeom>
          <a:noFill/>
          <a:ln/>
        </p:spPr>
        <p:txBody>
          <a:bodyPr wrap="square" lIns="0" tIns="0" rIns="0" bIns="0" rtlCol="0" anchor="ctr"/>
          <a:lstStyle/>
          <a:p>
            <a:pPr algn="ctr" indent="0" marL="0">
              <a:buNone/>
            </a:pPr>
            <a:r>
              <a:rPr lang="en-US" sz="1300" b="1" dirty="0">
                <a:solidFill>
                  <a:srgbClr val="C0392B"/>
                </a:solidFill>
                <a:latin typeface="Helvetica Neue" pitchFamily="34" charset="0"/>
                <a:ea typeface="Helvetica Neue" pitchFamily="34" charset="-122"/>
                <a:cs typeface="Helvetica Neue" pitchFamily="34" charset="-120"/>
              </a:rPr>
              <a:t>35%</a:t>
            </a:r>
            <a:endParaRPr lang="en-US" sz="1300" dirty="0"/>
          </a:p>
        </p:txBody>
      </p:sp>
      <p:sp>
        <p:nvSpPr>
          <p:cNvPr id="17" name="Text 15"/>
          <p:cNvSpPr/>
          <p:nvPr/>
        </p:nvSpPr>
        <p:spPr>
          <a:xfrm>
            <a:off x="6675120" y="1316736"/>
            <a:ext cx="2194560" cy="585216"/>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DGS resolution requiring co-ownership</a:t>
            </a:r>
            <a:endParaRPr lang="en-US" sz="900" dirty="0"/>
          </a:p>
        </p:txBody>
      </p:sp>
      <p:sp>
        <p:nvSpPr>
          <p:cNvPr id="18" name="Shape 16"/>
          <p:cNvSpPr/>
          <p:nvPr/>
        </p:nvSpPr>
        <p:spPr>
          <a:xfrm>
            <a:off x="457200" y="1975104"/>
            <a:ext cx="8229600" cy="640080"/>
          </a:xfrm>
          <a:prstGeom prst="rect">
            <a:avLst/>
          </a:prstGeom>
          <a:solidFill>
            <a:srgbClr val="E8EAED"/>
          </a:solidFill>
          <a:ln/>
        </p:spPr>
      </p:sp>
      <p:sp>
        <p:nvSpPr>
          <p:cNvPr id="19" name="Text 17"/>
          <p:cNvSpPr/>
          <p:nvPr/>
        </p:nvSpPr>
        <p:spPr>
          <a:xfrm>
            <a:off x="457200" y="1993392"/>
            <a:ext cx="402336" cy="585216"/>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#2</a:t>
            </a:r>
            <a:endParaRPr lang="en-US" sz="1000" dirty="0"/>
          </a:p>
        </p:txBody>
      </p:sp>
      <p:sp>
        <p:nvSpPr>
          <p:cNvPr id="20" name="Text 18"/>
          <p:cNvSpPr/>
          <p:nvPr/>
        </p:nvSpPr>
        <p:spPr>
          <a:xfrm>
            <a:off x="896112" y="1993392"/>
            <a:ext cx="3822192" cy="58521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Insurers (Sanitas/Adeslas) choose alliance or neutrality — NOT aggressive competition</a:t>
            </a:r>
            <a:endParaRPr lang="en-US" sz="950" dirty="0"/>
          </a:p>
        </p:txBody>
      </p:sp>
      <p:sp>
        <p:nvSpPr>
          <p:cNvPr id="21" name="Text 19"/>
          <p:cNvSpPr/>
          <p:nvPr/>
        </p:nvSpPr>
        <p:spPr>
          <a:xfrm>
            <a:off x="4846320" y="1993392"/>
            <a:ext cx="1051560" cy="585216"/>
          </a:xfrm>
          <a:prstGeom prst="rect">
            <a:avLst/>
          </a:prstGeom>
          <a:noFill/>
          <a:ln/>
        </p:spPr>
        <p:txBody>
          <a:bodyPr wrap="square" lIns="0" tIns="0" rIns="0" bIns="0" rtlCol="0" anchor="ctr"/>
          <a:lstStyle/>
          <a:p>
            <a:pPr algn="l" indent="0" marL="0">
              <a:buNone/>
            </a:pPr>
            <a:r>
              <a:rPr lang="en-US" sz="900" b="1" dirty="0">
                <a:solidFill>
                  <a:srgbClr val="C0392B"/>
                </a:solidFill>
                <a:latin typeface="Helvetica Neue" pitchFamily="34" charset="0"/>
                <a:ea typeface="Helvetica Neue" pitchFamily="34" charset="-122"/>
                <a:cs typeface="Helvetica Neue" pitchFamily="34" charset="-120"/>
              </a:rPr>
              <a:t>Load-Bearing</a:t>
            </a:r>
            <a:endParaRPr lang="en-US" sz="900" dirty="0"/>
          </a:p>
        </p:txBody>
      </p:sp>
      <p:sp>
        <p:nvSpPr>
          <p:cNvPr id="22" name="Text 20"/>
          <p:cNvSpPr/>
          <p:nvPr/>
        </p:nvSpPr>
        <p:spPr>
          <a:xfrm>
            <a:off x="5943600" y="1993392"/>
            <a:ext cx="685800" cy="585216"/>
          </a:xfrm>
          <a:prstGeom prst="rect">
            <a:avLst/>
          </a:prstGeom>
          <a:noFill/>
          <a:ln/>
        </p:spPr>
        <p:txBody>
          <a:bodyPr wrap="square" lIns="0" tIns="0" rIns="0" bIns="0" rtlCol="0" anchor="ctr"/>
          <a:lstStyle/>
          <a:p>
            <a:pPr algn="ctr" indent="0" marL="0">
              <a:buNone/>
            </a:pPr>
            <a:r>
              <a:rPr lang="en-US" sz="1300" b="1" dirty="0">
                <a:solidFill>
                  <a:srgbClr val="C0392B"/>
                </a:solidFill>
                <a:latin typeface="Helvetica Neue" pitchFamily="34" charset="0"/>
                <a:ea typeface="Helvetica Neue" pitchFamily="34" charset="-122"/>
                <a:cs typeface="Helvetica Neue" pitchFamily="34" charset="-120"/>
              </a:rPr>
              <a:t>40%</a:t>
            </a:r>
            <a:endParaRPr lang="en-US" sz="1300" dirty="0"/>
          </a:p>
        </p:txBody>
      </p:sp>
      <p:sp>
        <p:nvSpPr>
          <p:cNvPr id="23" name="Text 21"/>
          <p:cNvSpPr/>
          <p:nvPr/>
        </p:nvSpPr>
        <p:spPr>
          <a:xfrm>
            <a:off x="6675120" y="1993392"/>
            <a:ext cx="2194560" cy="585216"/>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Sanitas opens rival hospital in Serrano location</a:t>
            </a:r>
            <a:endParaRPr lang="en-US" sz="900" dirty="0"/>
          </a:p>
        </p:txBody>
      </p:sp>
      <p:sp>
        <p:nvSpPr>
          <p:cNvPr id="24" name="Shape 22"/>
          <p:cNvSpPr/>
          <p:nvPr/>
        </p:nvSpPr>
        <p:spPr>
          <a:xfrm>
            <a:off x="457200" y="2651760"/>
            <a:ext cx="8229600" cy="640080"/>
          </a:xfrm>
          <a:prstGeom prst="rect">
            <a:avLst/>
          </a:prstGeom>
          <a:solidFill>
            <a:srgbClr val="FFFFFF"/>
          </a:solidFill>
          <a:ln/>
        </p:spPr>
      </p:sp>
      <p:sp>
        <p:nvSpPr>
          <p:cNvPr id="25" name="Text 23"/>
          <p:cNvSpPr/>
          <p:nvPr/>
        </p:nvSpPr>
        <p:spPr>
          <a:xfrm>
            <a:off x="457200" y="2670048"/>
            <a:ext cx="402336" cy="585216"/>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#3</a:t>
            </a:r>
            <a:endParaRPr lang="en-US" sz="1000" dirty="0"/>
          </a:p>
        </p:txBody>
      </p:sp>
      <p:sp>
        <p:nvSpPr>
          <p:cNvPr id="26" name="Text 24"/>
          <p:cNvSpPr/>
          <p:nvPr/>
        </p:nvSpPr>
        <p:spPr>
          <a:xfrm>
            <a:off x="896112" y="2670048"/>
            <a:ext cx="3822192" cy="58521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Sufficient patient volume in Year 1–2 without full insurer agreement (≥70% occupancy Yr3)</a:t>
            </a:r>
            <a:endParaRPr lang="en-US" sz="950" dirty="0"/>
          </a:p>
        </p:txBody>
      </p:sp>
      <p:sp>
        <p:nvSpPr>
          <p:cNvPr id="27" name="Text 25"/>
          <p:cNvSpPr/>
          <p:nvPr/>
        </p:nvSpPr>
        <p:spPr>
          <a:xfrm>
            <a:off x="4846320" y="2670048"/>
            <a:ext cx="1051560" cy="585216"/>
          </a:xfrm>
          <a:prstGeom prst="rect">
            <a:avLst/>
          </a:prstGeom>
          <a:noFill/>
          <a:ln/>
        </p:spPr>
        <p:txBody>
          <a:bodyPr wrap="square" lIns="0" tIns="0" rIns="0" bIns="0" rtlCol="0" anchor="ctr"/>
          <a:lstStyle/>
          <a:p>
            <a:pPr algn="l" indent="0" marL="0">
              <a:buNone/>
            </a:pPr>
            <a:r>
              <a:rPr lang="en-US" sz="900" b="1" dirty="0">
                <a:solidFill>
                  <a:srgbClr val="C0392B"/>
                </a:solidFill>
                <a:latin typeface="Helvetica Neue" pitchFamily="34" charset="0"/>
                <a:ea typeface="Helvetica Neue" pitchFamily="34" charset="-122"/>
                <a:cs typeface="Helvetica Neue" pitchFamily="34" charset="-120"/>
              </a:rPr>
              <a:t>Load-Bearing</a:t>
            </a:r>
            <a:endParaRPr lang="en-US" sz="900" dirty="0"/>
          </a:p>
        </p:txBody>
      </p:sp>
      <p:sp>
        <p:nvSpPr>
          <p:cNvPr id="28" name="Text 26"/>
          <p:cNvSpPr/>
          <p:nvPr/>
        </p:nvSpPr>
        <p:spPr>
          <a:xfrm>
            <a:off x="5943600" y="2670048"/>
            <a:ext cx="685800" cy="585216"/>
          </a:xfrm>
          <a:prstGeom prst="rect">
            <a:avLst/>
          </a:prstGeom>
          <a:noFill/>
          <a:ln/>
        </p:spPr>
        <p:txBody>
          <a:bodyPr wrap="square" lIns="0" tIns="0" rIns="0" bIns="0" rtlCol="0" anchor="ctr"/>
          <a:lstStyle/>
          <a:p>
            <a:pPr algn="ctr" indent="0" marL="0">
              <a:buNone/>
            </a:pPr>
            <a:r>
              <a:rPr lang="en-US" sz="1300" b="1" dirty="0">
                <a:solidFill>
                  <a:srgbClr val="C0392B"/>
                </a:solidFill>
                <a:latin typeface="Helvetica Neue" pitchFamily="34" charset="0"/>
                <a:ea typeface="Helvetica Neue" pitchFamily="34" charset="-122"/>
                <a:cs typeface="Helvetica Neue" pitchFamily="34" charset="-120"/>
              </a:rPr>
              <a:t>45%</a:t>
            </a:r>
            <a:endParaRPr lang="en-US" sz="1300" dirty="0"/>
          </a:p>
        </p:txBody>
      </p:sp>
      <p:sp>
        <p:nvSpPr>
          <p:cNvPr id="29" name="Text 27"/>
          <p:cNvSpPr/>
          <p:nvPr/>
        </p:nvSpPr>
        <p:spPr>
          <a:xfrm>
            <a:off x="6675120" y="2670048"/>
            <a:ext cx="2194560" cy="585216"/>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Occupancy &lt;40% at month 6 post-opening</a:t>
            </a:r>
            <a:endParaRPr lang="en-US" sz="900" dirty="0"/>
          </a:p>
        </p:txBody>
      </p:sp>
      <p:sp>
        <p:nvSpPr>
          <p:cNvPr id="30" name="Shape 28"/>
          <p:cNvSpPr/>
          <p:nvPr/>
        </p:nvSpPr>
        <p:spPr>
          <a:xfrm>
            <a:off x="457200" y="3328416"/>
            <a:ext cx="8229600" cy="640080"/>
          </a:xfrm>
          <a:prstGeom prst="rect">
            <a:avLst/>
          </a:prstGeom>
          <a:solidFill>
            <a:srgbClr val="E8EAED"/>
          </a:solidFill>
          <a:ln/>
        </p:spPr>
      </p:sp>
      <p:sp>
        <p:nvSpPr>
          <p:cNvPr id="31" name="Text 29"/>
          <p:cNvSpPr/>
          <p:nvPr/>
        </p:nvSpPr>
        <p:spPr>
          <a:xfrm>
            <a:off x="457200" y="3346704"/>
            <a:ext cx="402336" cy="585216"/>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#4</a:t>
            </a:r>
            <a:endParaRPr lang="en-US" sz="1000" dirty="0"/>
          </a:p>
        </p:txBody>
      </p:sp>
      <p:sp>
        <p:nvSpPr>
          <p:cNvPr id="32" name="Text 30"/>
          <p:cNvSpPr/>
          <p:nvPr/>
        </p:nvSpPr>
        <p:spPr>
          <a:xfrm>
            <a:off x="896112" y="3346704"/>
            <a:ext cx="3822192" cy="58521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BUPA capital and expertise available as JV co-investor without organizational friction</a:t>
            </a:r>
            <a:endParaRPr lang="en-US" sz="950" dirty="0"/>
          </a:p>
        </p:txBody>
      </p:sp>
      <p:sp>
        <p:nvSpPr>
          <p:cNvPr id="33" name="Text 31"/>
          <p:cNvSpPr/>
          <p:nvPr/>
        </p:nvSpPr>
        <p:spPr>
          <a:xfrm>
            <a:off x="4846320" y="3346704"/>
            <a:ext cx="1051560" cy="585216"/>
          </a:xfrm>
          <a:prstGeom prst="rect">
            <a:avLst/>
          </a:prstGeom>
          <a:noFill/>
          <a:ln/>
        </p:spPr>
        <p:txBody>
          <a:bodyPr wrap="square" lIns="0" tIns="0" rIns="0" bIns="0" rtlCol="0" anchor="ctr"/>
          <a:lstStyle/>
          <a:p>
            <a:pPr algn="l" indent="0" marL="0">
              <a:buNone/>
            </a:pPr>
            <a:r>
              <a:rPr lang="en-US" sz="900" b="1" dirty="0">
                <a:solidFill>
                  <a:srgbClr val="B7791F"/>
                </a:solidFill>
                <a:latin typeface="Helvetica Neue" pitchFamily="34" charset="0"/>
                <a:ea typeface="Helvetica Neue" pitchFamily="34" charset="-122"/>
                <a:cs typeface="Helvetica Neue" pitchFamily="34" charset="-120"/>
              </a:rPr>
              <a:t>Vulnerable</a:t>
            </a:r>
            <a:endParaRPr lang="en-US" sz="900" dirty="0"/>
          </a:p>
        </p:txBody>
      </p:sp>
      <p:sp>
        <p:nvSpPr>
          <p:cNvPr id="34" name="Text 32"/>
          <p:cNvSpPr/>
          <p:nvPr/>
        </p:nvSpPr>
        <p:spPr>
          <a:xfrm>
            <a:off x="5943600" y="3346704"/>
            <a:ext cx="685800" cy="585216"/>
          </a:xfrm>
          <a:prstGeom prst="rect">
            <a:avLst/>
          </a:prstGeom>
          <a:noFill/>
          <a:ln/>
        </p:spPr>
        <p:txBody>
          <a:bodyPr wrap="square" lIns="0" tIns="0" rIns="0" bIns="0" rtlCol="0" anchor="ctr"/>
          <a:lstStyle/>
          <a:p>
            <a:pPr algn="ctr" indent="0" marL="0">
              <a:buNone/>
            </a:pPr>
            <a:r>
              <a:rPr lang="en-US" sz="1300" b="1" dirty="0">
                <a:solidFill>
                  <a:srgbClr val="B7791F"/>
                </a:solidFill>
                <a:latin typeface="Helvetica Neue" pitchFamily="34" charset="0"/>
                <a:ea typeface="Helvetica Neue" pitchFamily="34" charset="-122"/>
                <a:cs typeface="Helvetica Neue" pitchFamily="34" charset="-120"/>
              </a:rPr>
              <a:t>20%</a:t>
            </a:r>
            <a:endParaRPr lang="en-US" sz="1300" dirty="0"/>
          </a:p>
        </p:txBody>
      </p:sp>
      <p:sp>
        <p:nvSpPr>
          <p:cNvPr id="35" name="Text 33"/>
          <p:cNvSpPr/>
          <p:nvPr/>
        </p:nvSpPr>
        <p:spPr>
          <a:xfrm>
            <a:off x="6675120" y="3346704"/>
            <a:ext cx="2194560" cy="585216"/>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BUPA announces 'strategic review of ELA markets'</a:t>
            </a:r>
            <a:endParaRPr lang="en-US" sz="900" dirty="0"/>
          </a:p>
        </p:txBody>
      </p:sp>
      <p:sp>
        <p:nvSpPr>
          <p:cNvPr id="36" name="Shape 34"/>
          <p:cNvSpPr/>
          <p:nvPr/>
        </p:nvSpPr>
        <p:spPr>
          <a:xfrm>
            <a:off x="457200" y="4005072"/>
            <a:ext cx="8229600" cy="640080"/>
          </a:xfrm>
          <a:prstGeom prst="rect">
            <a:avLst/>
          </a:prstGeom>
          <a:solidFill>
            <a:srgbClr val="FFFFFF"/>
          </a:solidFill>
          <a:ln/>
        </p:spPr>
      </p:sp>
      <p:sp>
        <p:nvSpPr>
          <p:cNvPr id="37" name="Text 35"/>
          <p:cNvSpPr/>
          <p:nvPr/>
        </p:nvSpPr>
        <p:spPr>
          <a:xfrm>
            <a:off x="457200" y="4023360"/>
            <a:ext cx="402336" cy="585216"/>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#5</a:t>
            </a:r>
            <a:endParaRPr lang="en-US" sz="1000" dirty="0"/>
          </a:p>
        </p:txBody>
      </p:sp>
      <p:sp>
        <p:nvSpPr>
          <p:cNvPr id="38" name="Text 36"/>
          <p:cNvSpPr/>
          <p:nvPr/>
        </p:nvSpPr>
        <p:spPr>
          <a:xfrm>
            <a:off x="896112" y="4023360"/>
            <a:ext cx="3822192" cy="58521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High-quality Spanish doctors available without union pressure or brain-drain restrictions</a:t>
            </a:r>
            <a:endParaRPr lang="en-US" sz="950" dirty="0"/>
          </a:p>
        </p:txBody>
      </p:sp>
      <p:sp>
        <p:nvSpPr>
          <p:cNvPr id="39" name="Text 37"/>
          <p:cNvSpPr/>
          <p:nvPr/>
        </p:nvSpPr>
        <p:spPr>
          <a:xfrm>
            <a:off x="4846320" y="4023360"/>
            <a:ext cx="1051560" cy="585216"/>
          </a:xfrm>
          <a:prstGeom prst="rect">
            <a:avLst/>
          </a:prstGeom>
          <a:noFill/>
          <a:ln/>
        </p:spPr>
        <p:txBody>
          <a:bodyPr wrap="square" lIns="0" tIns="0" rIns="0" bIns="0" rtlCol="0" anchor="ctr"/>
          <a:lstStyle/>
          <a:p>
            <a:pPr algn="l" indent="0" marL="0">
              <a:buNone/>
            </a:pPr>
            <a:r>
              <a:rPr lang="en-US" sz="900" b="1" dirty="0">
                <a:solidFill>
                  <a:srgbClr val="B7791F"/>
                </a:solidFill>
                <a:latin typeface="Helvetica Neue" pitchFamily="34" charset="0"/>
                <a:ea typeface="Helvetica Neue" pitchFamily="34" charset="-122"/>
                <a:cs typeface="Helvetica Neue" pitchFamily="34" charset="-120"/>
              </a:rPr>
              <a:t>Vulnerable</a:t>
            </a:r>
            <a:endParaRPr lang="en-US" sz="900" dirty="0"/>
          </a:p>
        </p:txBody>
      </p:sp>
      <p:sp>
        <p:nvSpPr>
          <p:cNvPr id="40" name="Text 38"/>
          <p:cNvSpPr/>
          <p:nvPr/>
        </p:nvSpPr>
        <p:spPr>
          <a:xfrm>
            <a:off x="5943600" y="4023360"/>
            <a:ext cx="685800" cy="585216"/>
          </a:xfrm>
          <a:prstGeom prst="rect">
            <a:avLst/>
          </a:prstGeom>
          <a:noFill/>
          <a:ln/>
        </p:spPr>
        <p:txBody>
          <a:bodyPr wrap="square" lIns="0" tIns="0" rIns="0" bIns="0" rtlCol="0" anchor="ctr"/>
          <a:lstStyle/>
          <a:p>
            <a:pPr algn="ctr" indent="0" marL="0">
              <a:buNone/>
            </a:pPr>
            <a:r>
              <a:rPr lang="en-US" sz="1300" b="1" dirty="0">
                <a:solidFill>
                  <a:srgbClr val="B7791F"/>
                </a:solidFill>
                <a:latin typeface="Helvetica Neue" pitchFamily="34" charset="0"/>
                <a:ea typeface="Helvetica Neue" pitchFamily="34" charset="-122"/>
                <a:cs typeface="Helvetica Neue" pitchFamily="34" charset="-120"/>
              </a:rPr>
              <a:t>30%</a:t>
            </a:r>
            <a:endParaRPr lang="en-US" sz="1300" dirty="0"/>
          </a:p>
        </p:txBody>
      </p:sp>
      <p:sp>
        <p:nvSpPr>
          <p:cNvPr id="41" name="Text 39"/>
          <p:cNvSpPr/>
          <p:nvPr/>
        </p:nvSpPr>
        <p:spPr>
          <a:xfrm>
            <a:off x="6675120" y="4023360"/>
            <a:ext cx="2194560" cy="585216"/>
          </a:xfrm>
          <a:prstGeom prst="rect">
            <a:avLst/>
          </a:prstGeom>
          <a:noFill/>
          <a:ln/>
        </p:spPr>
        <p:txBody>
          <a:bodyPr wrap="square" lIns="0" tIns="0" rIns="0" bIns="0" rtlCol="0" anchor="ctr"/>
          <a:lstStyle/>
          <a:p>
            <a:pPr algn="l" indent="0" marL="0">
              <a:buNone/>
            </a:pPr>
            <a:r>
              <a:rPr lang="en-US" sz="900" dirty="0">
                <a:solidFill>
                  <a:srgbClr val="9AA0A6"/>
                </a:solidFill>
                <a:latin typeface="Helvetica Neue" pitchFamily="34" charset="0"/>
                <a:ea typeface="Helvetica Neue" pitchFamily="34" charset="-122"/>
                <a:cs typeface="Helvetica Neue" pitchFamily="34" charset="-120"/>
              </a:rPr>
              <a:t>Medical unions launch public 'Stop 50D' campaign</a:t>
            </a:r>
            <a:endParaRPr lang="en-US" sz="900" dirty="0"/>
          </a:p>
        </p:txBody>
      </p:sp>
      <p:sp>
        <p:nvSpPr>
          <p:cNvPr id="42" name="Text 40"/>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Framework: Dewar ABP (TN02) — Load-Bearing: collapse if fails · Vulnerable: requires adaptation · Robust: holds throughout planning horizon</a:t>
            </a:r>
            <a:endParaRPr lang="en-US" sz="800" dirty="0"/>
          </a:p>
        </p:txBody>
      </p:sp>
      <p:sp>
        <p:nvSpPr>
          <p:cNvPr id="43" name="Text 41"/>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4 · ECONOMIC EVALUATION ECOMO</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200" b="1" dirty="0">
                <a:solidFill>
                  <a:srgbClr val="0F3460"/>
                </a:solidFill>
                <a:latin typeface="Helvetica Neue" pitchFamily="34" charset="0"/>
                <a:ea typeface="Helvetica Neue" pitchFamily="34" charset="-122"/>
                <a:cs typeface="Helvetica Neue" pitchFamily="34" charset="-120"/>
              </a:rPr>
              <a:t>The Alliance Generates €14.2M — Every Other Option Destroys Value</a:t>
            </a:r>
            <a:endParaRPr lang="en-US" sz="22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Shape 4"/>
          <p:cNvSpPr/>
          <p:nvPr/>
        </p:nvSpPr>
        <p:spPr>
          <a:xfrm>
            <a:off x="457200" y="1042416"/>
            <a:ext cx="2377440" cy="1188720"/>
          </a:xfrm>
          <a:prstGeom prst="rect">
            <a:avLst/>
          </a:prstGeom>
          <a:solidFill>
            <a:srgbClr val="E8F5E9"/>
          </a:solidFill>
          <a:ln w="12700">
            <a:solidFill>
              <a:srgbClr val="1A7F4B"/>
            </a:solidFill>
            <a:prstDash val="solid"/>
          </a:ln>
        </p:spPr>
      </p:sp>
      <p:sp>
        <p:nvSpPr>
          <p:cNvPr id="7" name="Text 5"/>
          <p:cNvSpPr/>
          <p:nvPr/>
        </p:nvSpPr>
        <p:spPr>
          <a:xfrm>
            <a:off x="457200" y="1115568"/>
            <a:ext cx="2377440" cy="585216"/>
          </a:xfrm>
          <a:prstGeom prst="rect">
            <a:avLst/>
          </a:prstGeom>
          <a:noFill/>
          <a:ln/>
        </p:spPr>
        <p:txBody>
          <a:bodyPr wrap="square" lIns="0" tIns="0" rIns="0" bIns="0" rtlCol="0" anchor="ctr"/>
          <a:lstStyle/>
          <a:p>
            <a:pPr algn="ctr" indent="0" marL="0">
              <a:buNone/>
            </a:pPr>
            <a:r>
              <a:rPr lang="en-US" sz="3600" b="1" dirty="0">
                <a:solidFill>
                  <a:srgbClr val="1A7F4B"/>
                </a:solidFill>
                <a:latin typeface="Helvetica Neue" pitchFamily="34" charset="0"/>
                <a:ea typeface="Helvetica Neue" pitchFamily="34" charset="-122"/>
                <a:cs typeface="Helvetica Neue" pitchFamily="34" charset="-120"/>
              </a:rPr>
              <a:t>+€14.2M</a:t>
            </a:r>
            <a:endParaRPr lang="en-US" sz="3600" dirty="0"/>
          </a:p>
        </p:txBody>
      </p:sp>
      <p:sp>
        <p:nvSpPr>
          <p:cNvPr id="8" name="Text 6"/>
          <p:cNvSpPr/>
          <p:nvPr/>
        </p:nvSpPr>
        <p:spPr>
          <a:xfrm>
            <a:off x="457200" y="1682496"/>
            <a:ext cx="2377440" cy="256032"/>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E[NPV] · Alianza Sanitas</a:t>
            </a:r>
            <a:endParaRPr lang="en-US" sz="1000" dirty="0"/>
          </a:p>
        </p:txBody>
      </p:sp>
      <p:sp>
        <p:nvSpPr>
          <p:cNvPr id="9" name="Shape 7"/>
          <p:cNvSpPr/>
          <p:nvPr/>
        </p:nvSpPr>
        <p:spPr>
          <a:xfrm>
            <a:off x="3017520" y="1042416"/>
            <a:ext cx="5669280" cy="274320"/>
          </a:xfrm>
          <a:prstGeom prst="rect">
            <a:avLst/>
          </a:prstGeom>
          <a:solidFill>
            <a:srgbClr val="0F3460"/>
          </a:solidFill>
          <a:ln/>
        </p:spPr>
      </p:sp>
      <p:sp>
        <p:nvSpPr>
          <p:cNvPr id="10" name="Text 8"/>
          <p:cNvSpPr/>
          <p:nvPr/>
        </p:nvSpPr>
        <p:spPr>
          <a:xfrm>
            <a:off x="3017520" y="1042416"/>
            <a:ext cx="1417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Option</a:t>
            </a:r>
            <a:endParaRPr lang="en-US" sz="900" dirty="0"/>
          </a:p>
        </p:txBody>
      </p:sp>
      <p:sp>
        <p:nvSpPr>
          <p:cNvPr id="11" name="Text 9"/>
          <p:cNvSpPr/>
          <p:nvPr/>
        </p:nvSpPr>
        <p:spPr>
          <a:xfrm>
            <a:off x="4480560" y="1042416"/>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A (35%)</a:t>
            </a:r>
            <a:endParaRPr lang="en-US" sz="900" dirty="0"/>
          </a:p>
        </p:txBody>
      </p:sp>
      <p:sp>
        <p:nvSpPr>
          <p:cNvPr id="12" name="Text 10"/>
          <p:cNvSpPr/>
          <p:nvPr/>
        </p:nvSpPr>
        <p:spPr>
          <a:xfrm>
            <a:off x="5394960" y="1042416"/>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B (15%)</a:t>
            </a:r>
            <a:endParaRPr lang="en-US" sz="900" dirty="0"/>
          </a:p>
        </p:txBody>
      </p:sp>
      <p:sp>
        <p:nvSpPr>
          <p:cNvPr id="13" name="Text 11"/>
          <p:cNvSpPr/>
          <p:nvPr/>
        </p:nvSpPr>
        <p:spPr>
          <a:xfrm>
            <a:off x="6309360" y="1042416"/>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C (30%)</a:t>
            </a:r>
            <a:endParaRPr lang="en-US" sz="900" dirty="0"/>
          </a:p>
        </p:txBody>
      </p:sp>
      <p:sp>
        <p:nvSpPr>
          <p:cNvPr id="14" name="Text 12"/>
          <p:cNvSpPr/>
          <p:nvPr/>
        </p:nvSpPr>
        <p:spPr>
          <a:xfrm>
            <a:off x="7223760" y="1042416"/>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D (20%)</a:t>
            </a:r>
            <a:endParaRPr lang="en-US" sz="900" dirty="0"/>
          </a:p>
        </p:txBody>
      </p:sp>
      <p:sp>
        <p:nvSpPr>
          <p:cNvPr id="15" name="Text 13"/>
          <p:cNvSpPr/>
          <p:nvPr/>
        </p:nvSpPr>
        <p:spPr>
          <a:xfrm>
            <a:off x="8138160" y="1042416"/>
            <a:ext cx="7315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E[NPV]</a:t>
            </a:r>
            <a:endParaRPr lang="en-US" sz="900" dirty="0"/>
          </a:p>
        </p:txBody>
      </p:sp>
      <p:sp>
        <p:nvSpPr>
          <p:cNvPr id="16" name="Shape 14"/>
          <p:cNvSpPr/>
          <p:nvPr/>
        </p:nvSpPr>
        <p:spPr>
          <a:xfrm>
            <a:off x="3017520" y="1335024"/>
            <a:ext cx="5669280" cy="512064"/>
          </a:xfrm>
          <a:prstGeom prst="rect">
            <a:avLst/>
          </a:prstGeom>
          <a:solidFill>
            <a:srgbClr val="E8F5E9"/>
          </a:solidFill>
          <a:ln/>
        </p:spPr>
      </p:sp>
      <p:sp>
        <p:nvSpPr>
          <p:cNvPr id="17" name="Text 15"/>
          <p:cNvSpPr/>
          <p:nvPr/>
        </p:nvSpPr>
        <p:spPr>
          <a:xfrm>
            <a:off x="3017520" y="1353312"/>
            <a:ext cx="1417320" cy="475488"/>
          </a:xfrm>
          <a:prstGeom prst="rect">
            <a:avLst/>
          </a:prstGeom>
          <a:noFill/>
          <a:ln/>
        </p:spPr>
        <p:txBody>
          <a:bodyPr wrap="square" lIns="0" tIns="0" rIns="0" bIns="0" rtlCol="0" anchor="ctr"/>
          <a:lstStyle/>
          <a:p>
            <a:pPr algn="ctr" indent="0" marL="0">
              <a:buNone/>
            </a:pPr>
            <a:r>
              <a:rPr lang="en-US" sz="1050" b="1" dirty="0">
                <a:solidFill>
                  <a:srgbClr val="0F3460"/>
                </a:solidFill>
                <a:latin typeface="Helvetica Neue" pitchFamily="34" charset="0"/>
                <a:ea typeface="Helvetica Neue" pitchFamily="34" charset="-122"/>
                <a:cs typeface="Helvetica Neue" pitchFamily="34" charset="-120"/>
              </a:rPr>
              <a:t>Alianza Sanitas ✅</a:t>
            </a:r>
            <a:endParaRPr lang="en-US" sz="1050" dirty="0"/>
          </a:p>
        </p:txBody>
      </p:sp>
      <p:sp>
        <p:nvSpPr>
          <p:cNvPr id="18" name="Text 16"/>
          <p:cNvSpPr/>
          <p:nvPr/>
        </p:nvSpPr>
        <p:spPr>
          <a:xfrm>
            <a:off x="4480560" y="135331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+€28M</a:t>
            </a:r>
            <a:endParaRPr lang="en-US" sz="1050" dirty="0"/>
          </a:p>
        </p:txBody>
      </p:sp>
      <p:sp>
        <p:nvSpPr>
          <p:cNvPr id="19" name="Text 17"/>
          <p:cNvSpPr/>
          <p:nvPr/>
        </p:nvSpPr>
        <p:spPr>
          <a:xfrm>
            <a:off x="5394960" y="135331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+€12M</a:t>
            </a:r>
            <a:endParaRPr lang="en-US" sz="1050" dirty="0"/>
          </a:p>
        </p:txBody>
      </p:sp>
      <p:sp>
        <p:nvSpPr>
          <p:cNvPr id="20" name="Text 18"/>
          <p:cNvSpPr/>
          <p:nvPr/>
        </p:nvSpPr>
        <p:spPr>
          <a:xfrm>
            <a:off x="6309360" y="135331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+€14M</a:t>
            </a:r>
            <a:endParaRPr lang="en-US" sz="1050" dirty="0"/>
          </a:p>
        </p:txBody>
      </p:sp>
      <p:sp>
        <p:nvSpPr>
          <p:cNvPr id="21" name="Text 19"/>
          <p:cNvSpPr/>
          <p:nvPr/>
        </p:nvSpPr>
        <p:spPr>
          <a:xfrm>
            <a:off x="7223760" y="135331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-€8M</a:t>
            </a:r>
            <a:endParaRPr lang="en-US" sz="1050" dirty="0"/>
          </a:p>
        </p:txBody>
      </p:sp>
      <p:sp>
        <p:nvSpPr>
          <p:cNvPr id="22" name="Text 20"/>
          <p:cNvSpPr/>
          <p:nvPr/>
        </p:nvSpPr>
        <p:spPr>
          <a:xfrm>
            <a:off x="8138160" y="1353312"/>
            <a:ext cx="731520" cy="475488"/>
          </a:xfrm>
          <a:prstGeom prst="rect">
            <a:avLst/>
          </a:prstGeom>
          <a:noFill/>
          <a:ln/>
        </p:spPr>
        <p:txBody>
          <a:bodyPr wrap="square" lIns="0" tIns="0" rIns="0" bIns="0" rtlCol="0" anchor="ctr"/>
          <a:lstStyle/>
          <a:p>
            <a:pPr algn="ctr" indent="0" marL="0">
              <a:buNone/>
            </a:pPr>
            <a:r>
              <a:rPr lang="en-US" sz="1300" b="1" dirty="0">
                <a:solidFill>
                  <a:srgbClr val="1A7F4B"/>
                </a:solidFill>
                <a:latin typeface="Helvetica Neue" pitchFamily="34" charset="0"/>
                <a:ea typeface="Helvetica Neue" pitchFamily="34" charset="-122"/>
                <a:cs typeface="Helvetica Neue" pitchFamily="34" charset="-120"/>
              </a:rPr>
              <a:t>+€14.2M</a:t>
            </a:r>
            <a:endParaRPr lang="en-US" sz="1300" dirty="0"/>
          </a:p>
        </p:txBody>
      </p:sp>
      <p:sp>
        <p:nvSpPr>
          <p:cNvPr id="23" name="Shape 21"/>
          <p:cNvSpPr/>
          <p:nvPr/>
        </p:nvSpPr>
        <p:spPr>
          <a:xfrm>
            <a:off x="3017520" y="1883664"/>
            <a:ext cx="5669280" cy="512064"/>
          </a:xfrm>
          <a:prstGeom prst="rect">
            <a:avLst/>
          </a:prstGeom>
          <a:solidFill>
            <a:srgbClr val="FFFFFF"/>
          </a:solidFill>
          <a:ln/>
        </p:spPr>
      </p:sp>
      <p:sp>
        <p:nvSpPr>
          <p:cNvPr id="24" name="Text 22"/>
          <p:cNvSpPr/>
          <p:nvPr/>
        </p:nvSpPr>
        <p:spPr>
          <a:xfrm>
            <a:off x="3017520" y="1901952"/>
            <a:ext cx="1417320" cy="475488"/>
          </a:xfrm>
          <a:prstGeom prst="rect">
            <a:avLst/>
          </a:prstGeom>
          <a:noFill/>
          <a:ln/>
        </p:spPr>
        <p:txBody>
          <a:bodyPr wrap="square" lIns="0" tIns="0" rIns="0" bIns="0" rtlCol="0" anchor="ctr"/>
          <a:lstStyle/>
          <a:p>
            <a:pPr algn="ctr" indent="0" marL="0">
              <a:buNone/>
            </a:pPr>
            <a:r>
              <a:rPr lang="en-US" sz="1050" b="1" dirty="0">
                <a:solidFill>
                  <a:srgbClr val="0F3460"/>
                </a:solidFill>
                <a:latin typeface="Helvetica Neue" pitchFamily="34" charset="0"/>
                <a:ea typeface="Helvetica Neue" pitchFamily="34" charset="-122"/>
                <a:cs typeface="Helvetica Neue" pitchFamily="34" charset="-120"/>
              </a:rPr>
              <a:t>Alianza Adeslas ⚠️</a:t>
            </a:r>
            <a:endParaRPr lang="en-US" sz="1050" dirty="0"/>
          </a:p>
        </p:txBody>
      </p:sp>
      <p:sp>
        <p:nvSpPr>
          <p:cNvPr id="25" name="Text 23"/>
          <p:cNvSpPr/>
          <p:nvPr/>
        </p:nvSpPr>
        <p:spPr>
          <a:xfrm>
            <a:off x="4480560" y="190195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+€20M</a:t>
            </a:r>
            <a:endParaRPr lang="en-US" sz="1050" dirty="0"/>
          </a:p>
        </p:txBody>
      </p:sp>
      <p:sp>
        <p:nvSpPr>
          <p:cNvPr id="26" name="Text 24"/>
          <p:cNvSpPr/>
          <p:nvPr/>
        </p:nvSpPr>
        <p:spPr>
          <a:xfrm>
            <a:off x="5394960" y="190195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+€4M</a:t>
            </a:r>
            <a:endParaRPr lang="en-US" sz="1050" dirty="0"/>
          </a:p>
        </p:txBody>
      </p:sp>
      <p:sp>
        <p:nvSpPr>
          <p:cNvPr id="27" name="Text 25"/>
          <p:cNvSpPr/>
          <p:nvPr/>
        </p:nvSpPr>
        <p:spPr>
          <a:xfrm>
            <a:off x="6309360" y="190195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+€2M</a:t>
            </a:r>
            <a:endParaRPr lang="en-US" sz="1050" dirty="0"/>
          </a:p>
        </p:txBody>
      </p:sp>
      <p:sp>
        <p:nvSpPr>
          <p:cNvPr id="28" name="Text 26"/>
          <p:cNvSpPr/>
          <p:nvPr/>
        </p:nvSpPr>
        <p:spPr>
          <a:xfrm>
            <a:off x="7223760" y="190195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-€18M</a:t>
            </a:r>
            <a:endParaRPr lang="en-US" sz="1050" dirty="0"/>
          </a:p>
        </p:txBody>
      </p:sp>
      <p:sp>
        <p:nvSpPr>
          <p:cNvPr id="29" name="Text 27"/>
          <p:cNvSpPr/>
          <p:nvPr/>
        </p:nvSpPr>
        <p:spPr>
          <a:xfrm>
            <a:off x="8138160" y="1901952"/>
            <a:ext cx="731520" cy="475488"/>
          </a:xfrm>
          <a:prstGeom prst="rect">
            <a:avLst/>
          </a:prstGeom>
          <a:noFill/>
          <a:ln/>
        </p:spPr>
        <p:txBody>
          <a:bodyPr wrap="square" lIns="0" tIns="0" rIns="0" bIns="0" rtlCol="0" anchor="ctr"/>
          <a:lstStyle/>
          <a:p>
            <a:pPr algn="ctr" indent="0" marL="0">
              <a:buNone/>
            </a:pPr>
            <a:r>
              <a:rPr lang="en-US" sz="1300" b="1" dirty="0">
                <a:solidFill>
                  <a:srgbClr val="B7791F"/>
                </a:solidFill>
                <a:latin typeface="Helvetica Neue" pitchFamily="34" charset="0"/>
                <a:ea typeface="Helvetica Neue" pitchFamily="34" charset="-122"/>
                <a:cs typeface="Helvetica Neue" pitchFamily="34" charset="-120"/>
              </a:rPr>
              <a:t>+€4.6M</a:t>
            </a:r>
            <a:endParaRPr lang="en-US" sz="1300" dirty="0"/>
          </a:p>
        </p:txBody>
      </p:sp>
      <p:sp>
        <p:nvSpPr>
          <p:cNvPr id="30" name="Shape 28"/>
          <p:cNvSpPr/>
          <p:nvPr/>
        </p:nvSpPr>
        <p:spPr>
          <a:xfrm>
            <a:off x="3017520" y="2432304"/>
            <a:ext cx="5669280" cy="512064"/>
          </a:xfrm>
          <a:prstGeom prst="rect">
            <a:avLst/>
          </a:prstGeom>
          <a:solidFill>
            <a:srgbClr val="E8EAED"/>
          </a:solidFill>
          <a:ln/>
        </p:spPr>
      </p:sp>
      <p:sp>
        <p:nvSpPr>
          <p:cNvPr id="31" name="Text 29"/>
          <p:cNvSpPr/>
          <p:nvPr/>
        </p:nvSpPr>
        <p:spPr>
          <a:xfrm>
            <a:off x="3017520" y="2450592"/>
            <a:ext cx="1417320" cy="475488"/>
          </a:xfrm>
          <a:prstGeom prst="rect">
            <a:avLst/>
          </a:prstGeom>
          <a:noFill/>
          <a:ln/>
        </p:spPr>
        <p:txBody>
          <a:bodyPr wrap="square" lIns="0" tIns="0" rIns="0" bIns="0" rtlCol="0" anchor="ctr"/>
          <a:lstStyle/>
          <a:p>
            <a:pPr algn="ctr" indent="0" marL="0">
              <a:buNone/>
            </a:pPr>
            <a:r>
              <a:rPr lang="en-US" sz="1050" b="1" dirty="0">
                <a:solidFill>
                  <a:srgbClr val="0F3460"/>
                </a:solidFill>
                <a:latin typeface="Helvetica Neue" pitchFamily="34" charset="0"/>
                <a:ea typeface="Helvetica Neue" pitchFamily="34" charset="-122"/>
                <a:cs typeface="Helvetica Neue" pitchFamily="34" charset="-120"/>
              </a:rPr>
              <a:t>No Entry  (baseline)</a:t>
            </a:r>
            <a:endParaRPr lang="en-US" sz="1050" dirty="0"/>
          </a:p>
        </p:txBody>
      </p:sp>
      <p:sp>
        <p:nvSpPr>
          <p:cNvPr id="32" name="Text 30"/>
          <p:cNvSpPr/>
          <p:nvPr/>
        </p:nvSpPr>
        <p:spPr>
          <a:xfrm>
            <a:off x="4480560" y="245059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€0</a:t>
            </a:r>
            <a:endParaRPr lang="en-US" sz="1050" dirty="0"/>
          </a:p>
        </p:txBody>
      </p:sp>
      <p:sp>
        <p:nvSpPr>
          <p:cNvPr id="33" name="Text 31"/>
          <p:cNvSpPr/>
          <p:nvPr/>
        </p:nvSpPr>
        <p:spPr>
          <a:xfrm>
            <a:off x="5394960" y="245059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€0</a:t>
            </a:r>
            <a:endParaRPr lang="en-US" sz="1050" dirty="0"/>
          </a:p>
        </p:txBody>
      </p:sp>
      <p:sp>
        <p:nvSpPr>
          <p:cNvPr id="34" name="Text 32"/>
          <p:cNvSpPr/>
          <p:nvPr/>
        </p:nvSpPr>
        <p:spPr>
          <a:xfrm>
            <a:off x="6309360" y="245059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€0</a:t>
            </a:r>
            <a:endParaRPr lang="en-US" sz="1050" dirty="0"/>
          </a:p>
        </p:txBody>
      </p:sp>
      <p:sp>
        <p:nvSpPr>
          <p:cNvPr id="35" name="Text 33"/>
          <p:cNvSpPr/>
          <p:nvPr/>
        </p:nvSpPr>
        <p:spPr>
          <a:xfrm>
            <a:off x="7223760" y="245059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€0</a:t>
            </a:r>
            <a:endParaRPr lang="en-US" sz="1050" dirty="0"/>
          </a:p>
        </p:txBody>
      </p:sp>
      <p:sp>
        <p:nvSpPr>
          <p:cNvPr id="36" name="Text 34"/>
          <p:cNvSpPr/>
          <p:nvPr/>
        </p:nvSpPr>
        <p:spPr>
          <a:xfrm>
            <a:off x="8138160" y="2450592"/>
            <a:ext cx="731520" cy="475488"/>
          </a:xfrm>
          <a:prstGeom prst="rect">
            <a:avLst/>
          </a:prstGeom>
          <a:noFill/>
          <a:ln/>
        </p:spPr>
        <p:txBody>
          <a:bodyPr wrap="square" lIns="0" tIns="0" rIns="0" bIns="0" rtlCol="0" anchor="ctr"/>
          <a:lstStyle/>
          <a:p>
            <a:pPr algn="ctr" indent="0" marL="0">
              <a:buNone/>
            </a:pPr>
            <a:r>
              <a:rPr lang="en-US" sz="1300" b="1" dirty="0">
                <a:solidFill>
                  <a:srgbClr val="9AA0A6"/>
                </a:solidFill>
                <a:latin typeface="Helvetica Neue" pitchFamily="34" charset="0"/>
                <a:ea typeface="Helvetica Neue" pitchFamily="34" charset="-122"/>
                <a:cs typeface="Helvetica Neue" pitchFamily="34" charset="-120"/>
              </a:rPr>
              <a:t>€0</a:t>
            </a:r>
            <a:endParaRPr lang="en-US" sz="1300" dirty="0"/>
          </a:p>
        </p:txBody>
      </p:sp>
      <p:sp>
        <p:nvSpPr>
          <p:cNvPr id="37" name="Shape 35"/>
          <p:cNvSpPr/>
          <p:nvPr/>
        </p:nvSpPr>
        <p:spPr>
          <a:xfrm>
            <a:off x="3017520" y="2980944"/>
            <a:ext cx="5669280" cy="512064"/>
          </a:xfrm>
          <a:prstGeom prst="rect">
            <a:avLst/>
          </a:prstGeom>
          <a:solidFill>
            <a:srgbClr val="FFEBEE"/>
          </a:solidFill>
          <a:ln/>
        </p:spPr>
      </p:sp>
      <p:sp>
        <p:nvSpPr>
          <p:cNvPr id="38" name="Text 36"/>
          <p:cNvSpPr/>
          <p:nvPr/>
        </p:nvSpPr>
        <p:spPr>
          <a:xfrm>
            <a:off x="3017520" y="2999232"/>
            <a:ext cx="1417320" cy="475488"/>
          </a:xfrm>
          <a:prstGeom prst="rect">
            <a:avLst/>
          </a:prstGeom>
          <a:noFill/>
          <a:ln/>
        </p:spPr>
        <p:txBody>
          <a:bodyPr wrap="square" lIns="0" tIns="0" rIns="0" bIns="0" rtlCol="0" anchor="ctr"/>
          <a:lstStyle/>
          <a:p>
            <a:pPr algn="ctr" indent="0" marL="0">
              <a:buNone/>
            </a:pPr>
            <a:r>
              <a:rPr lang="en-US" sz="1050" b="1" dirty="0">
                <a:solidFill>
                  <a:srgbClr val="0F3460"/>
                </a:solidFill>
                <a:latin typeface="Helvetica Neue" pitchFamily="34" charset="0"/>
                <a:ea typeface="Helvetica Neue" pitchFamily="34" charset="-122"/>
                <a:cs typeface="Helvetica Neue" pitchFamily="34" charset="-120"/>
              </a:rPr>
              <a:t>Direct Entry 🛑</a:t>
            </a:r>
            <a:endParaRPr lang="en-US" sz="1050" dirty="0"/>
          </a:p>
        </p:txBody>
      </p:sp>
      <p:sp>
        <p:nvSpPr>
          <p:cNvPr id="39" name="Text 37"/>
          <p:cNvSpPr/>
          <p:nvPr/>
        </p:nvSpPr>
        <p:spPr>
          <a:xfrm>
            <a:off x="4480560" y="299923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+€35M</a:t>
            </a:r>
            <a:endParaRPr lang="en-US" sz="1050" dirty="0"/>
          </a:p>
        </p:txBody>
      </p:sp>
      <p:sp>
        <p:nvSpPr>
          <p:cNvPr id="40" name="Text 38"/>
          <p:cNvSpPr/>
          <p:nvPr/>
        </p:nvSpPr>
        <p:spPr>
          <a:xfrm>
            <a:off x="5394960" y="299923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+€5M</a:t>
            </a:r>
            <a:endParaRPr lang="en-US" sz="1050" dirty="0"/>
          </a:p>
        </p:txBody>
      </p:sp>
      <p:sp>
        <p:nvSpPr>
          <p:cNvPr id="41" name="Text 39"/>
          <p:cNvSpPr/>
          <p:nvPr/>
        </p:nvSpPr>
        <p:spPr>
          <a:xfrm>
            <a:off x="6309360" y="299923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-€25M</a:t>
            </a:r>
            <a:endParaRPr lang="en-US" sz="1050" dirty="0"/>
          </a:p>
        </p:txBody>
      </p:sp>
      <p:sp>
        <p:nvSpPr>
          <p:cNvPr id="42" name="Text 40"/>
          <p:cNvSpPr/>
          <p:nvPr/>
        </p:nvSpPr>
        <p:spPr>
          <a:xfrm>
            <a:off x="7223760" y="2999232"/>
            <a:ext cx="868680" cy="475488"/>
          </a:xfrm>
          <a:prstGeom prst="rect">
            <a:avLst/>
          </a:prstGeom>
          <a:noFill/>
          <a:ln/>
        </p:spPr>
        <p:txBody>
          <a:bodyPr wrap="square" lIns="0" tIns="0" rIns="0" bIns="0" rtlCol="0" anchor="ctr"/>
          <a:lstStyle/>
          <a:p>
            <a:pPr algn="ctr" indent="0" marL="0">
              <a:buNone/>
            </a:pPr>
            <a:r>
              <a:rPr lang="en-US" sz="1050" dirty="0">
                <a:solidFill>
                  <a:srgbClr val="0B0B0F"/>
                </a:solidFill>
                <a:latin typeface="Helvetica Neue" pitchFamily="34" charset="0"/>
                <a:ea typeface="Helvetica Neue" pitchFamily="34" charset="-122"/>
                <a:cs typeface="Helvetica Neue" pitchFamily="34" charset="-120"/>
              </a:rPr>
              <a:t>-€45M</a:t>
            </a:r>
            <a:endParaRPr lang="en-US" sz="1050" dirty="0"/>
          </a:p>
        </p:txBody>
      </p:sp>
      <p:sp>
        <p:nvSpPr>
          <p:cNvPr id="43" name="Text 41"/>
          <p:cNvSpPr/>
          <p:nvPr/>
        </p:nvSpPr>
        <p:spPr>
          <a:xfrm>
            <a:off x="8138160" y="2999232"/>
            <a:ext cx="731520" cy="475488"/>
          </a:xfrm>
          <a:prstGeom prst="rect">
            <a:avLst/>
          </a:prstGeom>
          <a:noFill/>
          <a:ln/>
        </p:spPr>
        <p:txBody>
          <a:bodyPr wrap="square" lIns="0" tIns="0" rIns="0" bIns="0" rtlCol="0" anchor="ctr"/>
          <a:lstStyle/>
          <a:p>
            <a:pPr algn="ctr" indent="0" marL="0">
              <a:buNone/>
            </a:pPr>
            <a:r>
              <a:rPr lang="en-US" sz="1300" b="1" dirty="0">
                <a:solidFill>
                  <a:srgbClr val="C0392B"/>
                </a:solidFill>
                <a:latin typeface="Helvetica Neue" pitchFamily="34" charset="0"/>
                <a:ea typeface="Helvetica Neue" pitchFamily="34" charset="-122"/>
                <a:cs typeface="Helvetica Neue" pitchFamily="34" charset="-120"/>
              </a:rPr>
              <a:t>-€3.5M</a:t>
            </a:r>
            <a:endParaRPr lang="en-US" sz="1300" dirty="0"/>
          </a:p>
        </p:txBody>
      </p:sp>
      <p:sp>
        <p:nvSpPr>
          <p:cNvPr id="44" name="Shape 42"/>
          <p:cNvSpPr/>
          <p:nvPr/>
        </p:nvSpPr>
        <p:spPr>
          <a:xfrm>
            <a:off x="457200" y="3621024"/>
            <a:ext cx="8229600" cy="621792"/>
          </a:xfrm>
          <a:prstGeom prst="rect">
            <a:avLst/>
          </a:prstGeom>
          <a:solidFill>
            <a:srgbClr val="0F3460"/>
          </a:solidFill>
          <a:ln/>
        </p:spPr>
      </p:sp>
      <p:sp>
        <p:nvSpPr>
          <p:cNvPr id="45" name="Text 43"/>
          <p:cNvSpPr/>
          <p:nvPr/>
        </p:nvSpPr>
        <p:spPr>
          <a:xfrm>
            <a:off x="640080" y="3657600"/>
            <a:ext cx="7863840" cy="530352"/>
          </a:xfrm>
          <a:prstGeom prst="rect">
            <a:avLst/>
          </a:prstGeom>
          <a:noFill/>
          <a:ln/>
        </p:spPr>
        <p:txBody>
          <a:bodyPr wrap="square" lIns="0" tIns="0" rIns="0" bIns="0" rtlCol="0" anchor="ctr"/>
          <a:lstStyle/>
          <a:p>
            <a:pPr algn="l" indent="0" marL="0">
              <a:buNone/>
            </a:pPr>
            <a:r>
              <a:rPr lang="en-US" sz="1100" dirty="0">
                <a:solidFill>
                  <a:srgbClr val="FFFFFF"/>
                </a:solidFill>
                <a:latin typeface="Helvetica Neue" pitchFamily="34" charset="0"/>
                <a:ea typeface="Helvetica Neue" pitchFamily="34" charset="-122"/>
                <a:cs typeface="Helvetica Neue" pitchFamily="34" charset="-120"/>
              </a:rPr>
              <a:t>The Alliance Sanitas maintains POSITIVE E[NPV] even if P(Scenario D, catastrophic) rises to 50% (+€3.2M). Downside: -€8M vs -€45M in direct entry — 82% reduction in catastrophic risk.</a:t>
            </a:r>
            <a:endParaRPr lang="en-US" sz="1100" dirty="0"/>
          </a:p>
        </p:txBody>
      </p:sp>
      <p:sp>
        <p:nvSpPr>
          <p:cNvPr id="46" name="Text 44"/>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Params: 150 beds · €25M CapEx/hospital · €850/day tariff · EBITDA 20% · WACC 12% · TV 9×EBITDA   |   Framework: ECOMO + Decision Tree (TN01/TN02)</a:t>
            </a:r>
            <a:endParaRPr lang="en-US" sz="800" dirty="0"/>
          </a:p>
        </p:txBody>
      </p:sp>
      <p:sp>
        <p:nvSpPr>
          <p:cNvPr id="47" name="Text 45"/>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4 · EXCHANGE VALUE</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50 Doctors Captures €96M of €160M Total JV Value</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Text 4"/>
          <p:cNvSpPr/>
          <p:nvPr/>
        </p:nvSpPr>
        <p:spPr>
          <a:xfrm>
            <a:off x="457200" y="1078992"/>
            <a:ext cx="4389120" cy="256032"/>
          </a:xfrm>
          <a:prstGeom prst="rect">
            <a:avLst/>
          </a:prstGeom>
          <a:noFill/>
          <a:ln/>
        </p:spPr>
        <p:txBody>
          <a:bodyPr wrap="square" lIns="0" tIns="0" rIns="0" bIns="0" rtlCol="0" anchor="ctr"/>
          <a:lstStyle/>
          <a:p>
            <a:pPr algn="l" indent="0" marL="0">
              <a:buNone/>
            </a:pPr>
            <a:r>
              <a:rPr lang="en-US" sz="1300" b="1" dirty="0">
                <a:solidFill>
                  <a:srgbClr val="0F3460"/>
                </a:solidFill>
                <a:latin typeface="Helvetica Neue" pitchFamily="34" charset="0"/>
                <a:ea typeface="Helvetica Neue" pitchFamily="34" charset="-122"/>
                <a:cs typeface="Helvetica Neue" pitchFamily="34" charset="-120"/>
              </a:rPr>
              <a:t>50 Doctors' Differential Value Components</a:t>
            </a:r>
            <a:endParaRPr lang="en-US" sz="1300" dirty="0"/>
          </a:p>
        </p:txBody>
      </p:sp>
      <p:sp>
        <p:nvSpPr>
          <p:cNvPr id="7" name="Shape 5"/>
          <p:cNvSpPr/>
          <p:nvPr/>
        </p:nvSpPr>
        <p:spPr>
          <a:xfrm>
            <a:off x="457200" y="1389888"/>
            <a:ext cx="4389120" cy="402336"/>
          </a:xfrm>
          <a:prstGeom prst="rect">
            <a:avLst/>
          </a:prstGeom>
          <a:solidFill>
            <a:srgbClr val="FFFFFF"/>
          </a:solidFill>
          <a:ln/>
        </p:spPr>
      </p:sp>
      <p:sp>
        <p:nvSpPr>
          <p:cNvPr id="8" name="Text 6"/>
          <p:cNvSpPr/>
          <p:nvPr/>
        </p:nvSpPr>
        <p:spPr>
          <a:xfrm>
            <a:off x="585216" y="1408176"/>
            <a:ext cx="3200400" cy="347472"/>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LATAM medical tourism pipeline</a:t>
            </a:r>
            <a:endParaRPr lang="en-US" sz="1100" dirty="0"/>
          </a:p>
        </p:txBody>
      </p:sp>
      <p:sp>
        <p:nvSpPr>
          <p:cNvPr id="9" name="Text 7"/>
          <p:cNvSpPr/>
          <p:nvPr/>
        </p:nvSpPr>
        <p:spPr>
          <a:xfrm>
            <a:off x="3675888" y="1408176"/>
            <a:ext cx="1097280" cy="347472"/>
          </a:xfrm>
          <a:prstGeom prst="rect">
            <a:avLst/>
          </a:prstGeom>
          <a:noFill/>
          <a:ln/>
        </p:spPr>
        <p:txBody>
          <a:bodyPr wrap="square" lIns="0" tIns="0" rIns="0" bIns="0" rtlCol="0" anchor="ctr"/>
          <a:lstStyle/>
          <a:p>
            <a:pPr algn="r" indent="0" marL="0">
              <a:buNone/>
            </a:pPr>
            <a:r>
              <a:rPr lang="en-US" sz="1300" b="1" dirty="0">
                <a:solidFill>
                  <a:srgbClr val="1A7F4B"/>
                </a:solidFill>
                <a:latin typeface="Helvetica Neue" pitchFamily="34" charset="0"/>
                <a:ea typeface="Helvetica Neue" pitchFamily="34" charset="-122"/>
                <a:cs typeface="Helvetica Neue" pitchFamily="34" charset="-120"/>
              </a:rPr>
              <a:t>+€12M</a:t>
            </a:r>
            <a:endParaRPr lang="en-US" sz="1300" dirty="0"/>
          </a:p>
        </p:txBody>
      </p:sp>
      <p:sp>
        <p:nvSpPr>
          <p:cNvPr id="10" name="Shape 8"/>
          <p:cNvSpPr/>
          <p:nvPr/>
        </p:nvSpPr>
        <p:spPr>
          <a:xfrm>
            <a:off x="457200" y="1828800"/>
            <a:ext cx="4389120" cy="402336"/>
          </a:xfrm>
          <a:prstGeom prst="rect">
            <a:avLst/>
          </a:prstGeom>
          <a:solidFill>
            <a:srgbClr val="E8EAED"/>
          </a:solidFill>
          <a:ln/>
        </p:spPr>
      </p:sp>
      <p:sp>
        <p:nvSpPr>
          <p:cNvPr id="11" name="Text 9"/>
          <p:cNvSpPr/>
          <p:nvPr/>
        </p:nvSpPr>
        <p:spPr>
          <a:xfrm>
            <a:off x="585216" y="1847088"/>
            <a:ext cx="3200400" cy="347472"/>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Doctor-partner model (zero CAC Year 1)</a:t>
            </a:r>
            <a:endParaRPr lang="en-US" sz="1100" dirty="0"/>
          </a:p>
        </p:txBody>
      </p:sp>
      <p:sp>
        <p:nvSpPr>
          <p:cNvPr id="12" name="Text 10"/>
          <p:cNvSpPr/>
          <p:nvPr/>
        </p:nvSpPr>
        <p:spPr>
          <a:xfrm>
            <a:off x="3675888" y="1847088"/>
            <a:ext cx="1097280" cy="347472"/>
          </a:xfrm>
          <a:prstGeom prst="rect">
            <a:avLst/>
          </a:prstGeom>
          <a:noFill/>
          <a:ln/>
        </p:spPr>
        <p:txBody>
          <a:bodyPr wrap="square" lIns="0" tIns="0" rIns="0" bIns="0" rtlCol="0" anchor="ctr"/>
          <a:lstStyle/>
          <a:p>
            <a:pPr algn="r" indent="0" marL="0">
              <a:buNone/>
            </a:pPr>
            <a:r>
              <a:rPr lang="en-US" sz="1300" b="1" dirty="0">
                <a:solidFill>
                  <a:srgbClr val="1A7F4B"/>
                </a:solidFill>
                <a:latin typeface="Helvetica Neue" pitchFamily="34" charset="0"/>
                <a:ea typeface="Helvetica Neue" pitchFamily="34" charset="-122"/>
                <a:cs typeface="Helvetica Neue" pitchFamily="34" charset="-120"/>
              </a:rPr>
              <a:t>+€6M</a:t>
            </a:r>
            <a:endParaRPr lang="en-US" sz="1300" dirty="0"/>
          </a:p>
        </p:txBody>
      </p:sp>
      <p:sp>
        <p:nvSpPr>
          <p:cNvPr id="13" name="Shape 11"/>
          <p:cNvSpPr/>
          <p:nvPr/>
        </p:nvSpPr>
        <p:spPr>
          <a:xfrm>
            <a:off x="457200" y="2267712"/>
            <a:ext cx="4389120" cy="402336"/>
          </a:xfrm>
          <a:prstGeom prst="rect">
            <a:avLst/>
          </a:prstGeom>
          <a:solidFill>
            <a:srgbClr val="FFFFFF"/>
          </a:solidFill>
          <a:ln/>
        </p:spPr>
      </p:sp>
      <p:sp>
        <p:nvSpPr>
          <p:cNvPr id="14" name="Text 12"/>
          <p:cNvSpPr/>
          <p:nvPr/>
        </p:nvSpPr>
        <p:spPr>
          <a:xfrm>
            <a:off x="585216" y="2286000"/>
            <a:ext cx="3200400" cy="347472"/>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Modular construction speed (-12 months)</a:t>
            </a:r>
            <a:endParaRPr lang="en-US" sz="1100" dirty="0"/>
          </a:p>
        </p:txBody>
      </p:sp>
      <p:sp>
        <p:nvSpPr>
          <p:cNvPr id="15" name="Text 13"/>
          <p:cNvSpPr/>
          <p:nvPr/>
        </p:nvSpPr>
        <p:spPr>
          <a:xfrm>
            <a:off x="3675888" y="2286000"/>
            <a:ext cx="1097280" cy="347472"/>
          </a:xfrm>
          <a:prstGeom prst="rect">
            <a:avLst/>
          </a:prstGeom>
          <a:noFill/>
          <a:ln/>
        </p:spPr>
        <p:txBody>
          <a:bodyPr wrap="square" lIns="0" tIns="0" rIns="0" bIns="0" rtlCol="0" anchor="ctr"/>
          <a:lstStyle/>
          <a:p>
            <a:pPr algn="r" indent="0" marL="0">
              <a:buNone/>
            </a:pPr>
            <a:r>
              <a:rPr lang="en-US" sz="1300" b="1" dirty="0">
                <a:solidFill>
                  <a:srgbClr val="1A7F4B"/>
                </a:solidFill>
                <a:latin typeface="Helvetica Neue" pitchFamily="34" charset="0"/>
                <a:ea typeface="Helvetica Neue" pitchFamily="34" charset="-122"/>
                <a:cs typeface="Helvetica Neue" pitchFamily="34" charset="-120"/>
              </a:rPr>
              <a:t>+€3M</a:t>
            </a:r>
            <a:endParaRPr lang="en-US" sz="1300" dirty="0"/>
          </a:p>
        </p:txBody>
      </p:sp>
      <p:sp>
        <p:nvSpPr>
          <p:cNvPr id="16" name="Shape 14"/>
          <p:cNvSpPr/>
          <p:nvPr/>
        </p:nvSpPr>
        <p:spPr>
          <a:xfrm>
            <a:off x="457200" y="2706624"/>
            <a:ext cx="4389120" cy="402336"/>
          </a:xfrm>
          <a:prstGeom prst="rect">
            <a:avLst/>
          </a:prstGeom>
          <a:solidFill>
            <a:srgbClr val="E8EAED"/>
          </a:solidFill>
          <a:ln/>
        </p:spPr>
      </p:sp>
      <p:sp>
        <p:nvSpPr>
          <p:cNvPr id="17" name="Text 15"/>
          <p:cNvSpPr/>
          <p:nvPr/>
        </p:nvSpPr>
        <p:spPr>
          <a:xfrm>
            <a:off x="585216" y="2724912"/>
            <a:ext cx="3200400" cy="347472"/>
          </a:xfrm>
          <a:prstGeom prst="rect">
            <a:avLst/>
          </a:prstGeom>
          <a:noFill/>
          <a:ln/>
        </p:spPr>
        <p:txBody>
          <a:bodyPr wrap="square" lIns="0" tIns="0" rIns="0" bIns="0" rtlCol="0" anchor="ctr"/>
          <a:lstStyle/>
          <a:p>
            <a:pPr algn="l" indent="0" marL="0">
              <a:buNone/>
            </a:pPr>
            <a:r>
              <a:rPr lang="en-US" sz="1100" dirty="0">
                <a:solidFill>
                  <a:srgbClr val="0B0B0F"/>
                </a:solidFill>
                <a:latin typeface="Helvetica Neue" pitchFamily="34" charset="0"/>
                <a:ea typeface="Helvetica Neue" pitchFamily="34" charset="-122"/>
                <a:cs typeface="Helvetica Neue" pitchFamily="34" charset="-120"/>
              </a:rPr>
              <a:t>BUPA Mexico network access</a:t>
            </a:r>
            <a:endParaRPr lang="en-US" sz="1100" dirty="0"/>
          </a:p>
        </p:txBody>
      </p:sp>
      <p:sp>
        <p:nvSpPr>
          <p:cNvPr id="18" name="Text 16"/>
          <p:cNvSpPr/>
          <p:nvPr/>
        </p:nvSpPr>
        <p:spPr>
          <a:xfrm>
            <a:off x="3675888" y="2724912"/>
            <a:ext cx="1097280" cy="347472"/>
          </a:xfrm>
          <a:prstGeom prst="rect">
            <a:avLst/>
          </a:prstGeom>
          <a:noFill/>
          <a:ln/>
        </p:spPr>
        <p:txBody>
          <a:bodyPr wrap="square" lIns="0" tIns="0" rIns="0" bIns="0" rtlCol="0" anchor="ctr"/>
          <a:lstStyle/>
          <a:p>
            <a:pPr algn="r" indent="0" marL="0">
              <a:buNone/>
            </a:pPr>
            <a:r>
              <a:rPr lang="en-US" sz="1300" b="1" dirty="0">
                <a:solidFill>
                  <a:srgbClr val="1A7F4B"/>
                </a:solidFill>
                <a:latin typeface="Helvetica Neue" pitchFamily="34" charset="0"/>
                <a:ea typeface="Helvetica Neue" pitchFamily="34" charset="-122"/>
                <a:cs typeface="Helvetica Neue" pitchFamily="34" charset="-120"/>
              </a:rPr>
              <a:t>+€4M</a:t>
            </a:r>
            <a:endParaRPr lang="en-US" sz="1300" dirty="0"/>
          </a:p>
        </p:txBody>
      </p:sp>
      <p:sp>
        <p:nvSpPr>
          <p:cNvPr id="19" name="Shape 17"/>
          <p:cNvSpPr/>
          <p:nvPr/>
        </p:nvSpPr>
        <p:spPr>
          <a:xfrm>
            <a:off x="457200" y="3145536"/>
            <a:ext cx="4389120" cy="402336"/>
          </a:xfrm>
          <a:prstGeom prst="rect">
            <a:avLst/>
          </a:prstGeom>
          <a:solidFill>
            <a:srgbClr val="0F3460"/>
          </a:solidFill>
          <a:ln/>
        </p:spPr>
      </p:sp>
      <p:sp>
        <p:nvSpPr>
          <p:cNvPr id="20" name="Text 18"/>
          <p:cNvSpPr/>
          <p:nvPr/>
        </p:nvSpPr>
        <p:spPr>
          <a:xfrm>
            <a:off x="585216" y="3163824"/>
            <a:ext cx="320040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Helvetica Neue" pitchFamily="34" charset="0"/>
                <a:ea typeface="Helvetica Neue" pitchFamily="34" charset="-122"/>
                <a:cs typeface="Helvetica Neue" pitchFamily="34" charset="-120"/>
              </a:rPr>
              <a:t>Total Differential Value</a:t>
            </a:r>
            <a:endParaRPr lang="en-US" sz="1100" dirty="0"/>
          </a:p>
        </p:txBody>
      </p:sp>
      <p:sp>
        <p:nvSpPr>
          <p:cNvPr id="21" name="Text 19"/>
          <p:cNvSpPr/>
          <p:nvPr/>
        </p:nvSpPr>
        <p:spPr>
          <a:xfrm>
            <a:off x="3675888" y="3163824"/>
            <a:ext cx="1097280" cy="347472"/>
          </a:xfrm>
          <a:prstGeom prst="rect">
            <a:avLst/>
          </a:prstGeom>
          <a:noFill/>
          <a:ln/>
        </p:spPr>
        <p:txBody>
          <a:bodyPr wrap="square" lIns="0" tIns="0" rIns="0" bIns="0" rtlCol="0" anchor="ctr"/>
          <a:lstStyle/>
          <a:p>
            <a:pPr algn="r" indent="0" marL="0">
              <a:buNone/>
            </a:pPr>
            <a:r>
              <a:rPr lang="en-US" sz="1300" b="1" dirty="0">
                <a:solidFill>
                  <a:srgbClr val="7DB0D4"/>
                </a:solidFill>
                <a:latin typeface="Helvetica Neue" pitchFamily="34" charset="0"/>
                <a:ea typeface="Helvetica Neue" pitchFamily="34" charset="-122"/>
                <a:cs typeface="Helvetica Neue" pitchFamily="34" charset="-120"/>
              </a:rPr>
              <a:t>+€25M</a:t>
            </a:r>
            <a:endParaRPr lang="en-US" sz="1300" dirty="0"/>
          </a:p>
        </p:txBody>
      </p:sp>
      <p:sp>
        <p:nvSpPr>
          <p:cNvPr id="22" name="Shape 20"/>
          <p:cNvSpPr/>
          <p:nvPr/>
        </p:nvSpPr>
        <p:spPr>
          <a:xfrm>
            <a:off x="5010912" y="1042416"/>
            <a:ext cx="0" cy="3657600"/>
          </a:xfrm>
          <a:prstGeom prst="line">
            <a:avLst/>
          </a:prstGeom>
          <a:noFill/>
          <a:ln w="9525">
            <a:solidFill>
              <a:srgbClr val="9AA0A6"/>
            </a:solidFill>
            <a:prstDash val="solid"/>
          </a:ln>
        </p:spPr>
      </p:sp>
      <p:sp>
        <p:nvSpPr>
          <p:cNvPr id="23" name="Text 21"/>
          <p:cNvSpPr/>
          <p:nvPr/>
        </p:nvSpPr>
        <p:spPr>
          <a:xfrm>
            <a:off x="5193792" y="1078992"/>
            <a:ext cx="3566160" cy="256032"/>
          </a:xfrm>
          <a:prstGeom prst="rect">
            <a:avLst/>
          </a:prstGeom>
          <a:noFill/>
          <a:ln/>
        </p:spPr>
        <p:txBody>
          <a:bodyPr wrap="square" lIns="0" tIns="0" rIns="0" bIns="0" rtlCol="0" anchor="ctr"/>
          <a:lstStyle/>
          <a:p>
            <a:pPr algn="l" indent="0" marL="0">
              <a:buNone/>
            </a:pPr>
            <a:r>
              <a:rPr lang="en-US" sz="1300" b="1" dirty="0">
                <a:solidFill>
                  <a:srgbClr val="0F3460"/>
                </a:solidFill>
                <a:latin typeface="Helvetica Neue" pitchFamily="34" charset="0"/>
                <a:ea typeface="Helvetica Neue" pitchFamily="34" charset="-122"/>
                <a:cs typeface="Helvetica Neue" pitchFamily="34" charset="-120"/>
              </a:rPr>
              <a:t>Exchange Value Distribution</a:t>
            </a:r>
            <a:endParaRPr lang="en-US" sz="1300" dirty="0"/>
          </a:p>
        </p:txBody>
      </p:sp>
      <p:sp>
        <p:nvSpPr>
          <p:cNvPr id="24" name="Text 22"/>
          <p:cNvSpPr/>
          <p:nvPr/>
        </p:nvSpPr>
        <p:spPr>
          <a:xfrm>
            <a:off x="5193792" y="1444752"/>
            <a:ext cx="3566160" cy="219456"/>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50 Doctors (60% equity)</a:t>
            </a:r>
            <a:endParaRPr lang="en-US" sz="1000" dirty="0"/>
          </a:p>
        </p:txBody>
      </p:sp>
      <p:sp>
        <p:nvSpPr>
          <p:cNvPr id="25" name="Shape 23"/>
          <p:cNvSpPr/>
          <p:nvPr/>
        </p:nvSpPr>
        <p:spPr>
          <a:xfrm>
            <a:off x="5193792" y="1682496"/>
            <a:ext cx="2468880" cy="475488"/>
          </a:xfrm>
          <a:prstGeom prst="rect">
            <a:avLst/>
          </a:prstGeom>
          <a:solidFill>
            <a:srgbClr val="0F3460"/>
          </a:solidFill>
          <a:ln/>
        </p:spPr>
      </p:sp>
      <p:sp>
        <p:nvSpPr>
          <p:cNvPr id="26" name="Text 24"/>
          <p:cNvSpPr/>
          <p:nvPr/>
        </p:nvSpPr>
        <p:spPr>
          <a:xfrm>
            <a:off x="5193792" y="1682496"/>
            <a:ext cx="2468880"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Helvetica Neue" pitchFamily="34" charset="0"/>
                <a:ea typeface="Helvetica Neue" pitchFamily="34" charset="-122"/>
                <a:cs typeface="Helvetica Neue" pitchFamily="34" charset="-120"/>
              </a:rPr>
              <a:t>€96M</a:t>
            </a:r>
            <a:endParaRPr lang="en-US" sz="2000" dirty="0"/>
          </a:p>
        </p:txBody>
      </p:sp>
      <p:sp>
        <p:nvSpPr>
          <p:cNvPr id="27" name="Text 25"/>
          <p:cNvSpPr/>
          <p:nvPr/>
        </p:nvSpPr>
        <p:spPr>
          <a:xfrm>
            <a:off x="5193792" y="2249424"/>
            <a:ext cx="3566160" cy="219456"/>
          </a:xfrm>
          <a:prstGeom prst="rect">
            <a:avLst/>
          </a:prstGeom>
          <a:noFill/>
          <a:ln/>
        </p:spPr>
        <p:txBody>
          <a:bodyPr wrap="square" lIns="0" tIns="0" rIns="0" bIns="0" rtlCol="0" anchor="ctr"/>
          <a:lstStyle/>
          <a:p>
            <a:pPr algn="l" indent="0" marL="0">
              <a:buNone/>
            </a:pPr>
            <a:r>
              <a:rPr lang="en-US" sz="1000" dirty="0">
                <a:solidFill>
                  <a:srgbClr val="9AA0A6"/>
                </a:solidFill>
                <a:latin typeface="Helvetica Neue" pitchFamily="34" charset="0"/>
                <a:ea typeface="Helvetica Neue" pitchFamily="34" charset="-122"/>
                <a:cs typeface="Helvetica Neue" pitchFamily="34" charset="-120"/>
              </a:rPr>
              <a:t>Sanitas/BUPA (40% equity)</a:t>
            </a:r>
            <a:endParaRPr lang="en-US" sz="1000" dirty="0"/>
          </a:p>
        </p:txBody>
      </p:sp>
      <p:sp>
        <p:nvSpPr>
          <p:cNvPr id="28" name="Shape 26"/>
          <p:cNvSpPr/>
          <p:nvPr/>
        </p:nvSpPr>
        <p:spPr>
          <a:xfrm>
            <a:off x="5193792" y="2487168"/>
            <a:ext cx="1645920" cy="475488"/>
          </a:xfrm>
          <a:prstGeom prst="rect">
            <a:avLst/>
          </a:prstGeom>
          <a:solidFill>
            <a:srgbClr val="CBD0D3"/>
          </a:solidFill>
          <a:ln/>
        </p:spPr>
      </p:sp>
      <p:sp>
        <p:nvSpPr>
          <p:cNvPr id="29" name="Text 27"/>
          <p:cNvSpPr/>
          <p:nvPr/>
        </p:nvSpPr>
        <p:spPr>
          <a:xfrm>
            <a:off x="5193792" y="2487168"/>
            <a:ext cx="164592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Neue" pitchFamily="34" charset="0"/>
                <a:ea typeface="Helvetica Neue" pitchFamily="34" charset="-122"/>
                <a:cs typeface="Helvetica Neue" pitchFamily="34" charset="-120"/>
              </a:rPr>
              <a:t>€64M</a:t>
            </a:r>
            <a:endParaRPr lang="en-US" sz="1800" dirty="0"/>
          </a:p>
        </p:txBody>
      </p:sp>
      <p:sp>
        <p:nvSpPr>
          <p:cNvPr id="30" name="Shape 28"/>
          <p:cNvSpPr/>
          <p:nvPr/>
        </p:nvSpPr>
        <p:spPr>
          <a:xfrm>
            <a:off x="5193792" y="3072384"/>
            <a:ext cx="3566160" cy="329184"/>
          </a:xfrm>
          <a:prstGeom prst="rect">
            <a:avLst/>
          </a:prstGeom>
          <a:solidFill>
            <a:srgbClr val="E8EAED"/>
          </a:solidFill>
          <a:ln/>
        </p:spPr>
      </p:sp>
      <p:sp>
        <p:nvSpPr>
          <p:cNvPr id="31" name="Text 29"/>
          <p:cNvSpPr/>
          <p:nvPr/>
        </p:nvSpPr>
        <p:spPr>
          <a:xfrm>
            <a:off x="5193792" y="3072384"/>
            <a:ext cx="3566160" cy="329184"/>
          </a:xfrm>
          <a:prstGeom prst="rect">
            <a:avLst/>
          </a:prstGeom>
          <a:noFill/>
          <a:ln/>
        </p:spPr>
        <p:txBody>
          <a:bodyPr wrap="square" lIns="0" tIns="0" rIns="0" bIns="0" rtlCol="0" anchor="ctr"/>
          <a:lstStyle/>
          <a:p>
            <a:pPr algn="ctr" indent="0" marL="0">
              <a:buNone/>
            </a:pPr>
            <a:r>
              <a:rPr lang="en-US" sz="1200" b="1" dirty="0">
                <a:solidFill>
                  <a:srgbClr val="0F3460"/>
                </a:solidFill>
                <a:latin typeface="Helvetica Neue" pitchFamily="34" charset="0"/>
                <a:ea typeface="Helvetica Neue" pitchFamily="34" charset="-122"/>
                <a:cs typeface="Helvetica Neue" pitchFamily="34" charset="-120"/>
              </a:rPr>
              <a:t>Total JV Exchange Value: €160M</a:t>
            </a:r>
            <a:endParaRPr lang="en-US" sz="1200" dirty="0"/>
          </a:p>
        </p:txBody>
      </p:sp>
      <p:sp>
        <p:nvSpPr>
          <p:cNvPr id="32" name="Shape 30"/>
          <p:cNvSpPr/>
          <p:nvPr/>
        </p:nvSpPr>
        <p:spPr>
          <a:xfrm>
            <a:off x="457200" y="3621024"/>
            <a:ext cx="8229600" cy="603504"/>
          </a:xfrm>
          <a:prstGeom prst="rect">
            <a:avLst/>
          </a:prstGeom>
          <a:solidFill>
            <a:srgbClr val="FFF8E1"/>
          </a:solidFill>
          <a:ln w="6350">
            <a:solidFill>
              <a:srgbClr val="B7791F"/>
            </a:solidFill>
            <a:prstDash val="solid"/>
          </a:ln>
        </p:spPr>
      </p:sp>
      <p:sp>
        <p:nvSpPr>
          <p:cNvPr id="33" name="Shape 31"/>
          <p:cNvSpPr/>
          <p:nvPr/>
        </p:nvSpPr>
        <p:spPr>
          <a:xfrm>
            <a:off x="457200" y="3621024"/>
            <a:ext cx="73152" cy="603504"/>
          </a:xfrm>
          <a:prstGeom prst="rect">
            <a:avLst/>
          </a:prstGeom>
          <a:solidFill>
            <a:srgbClr val="B7791F"/>
          </a:solidFill>
          <a:ln/>
        </p:spPr>
      </p:sp>
      <p:sp>
        <p:nvSpPr>
          <p:cNvPr id="34" name="Text 32"/>
          <p:cNvSpPr/>
          <p:nvPr/>
        </p:nvSpPr>
        <p:spPr>
          <a:xfrm>
            <a:off x="621792" y="3657600"/>
            <a:ext cx="7955280" cy="512064"/>
          </a:xfrm>
          <a:prstGeom prst="rect">
            <a:avLst/>
          </a:prstGeom>
          <a:noFill/>
          <a:ln/>
        </p:spPr>
        <p:txBody>
          <a:bodyPr wrap="square" lIns="0" tIns="0" rIns="0" bIns="0" rtlCol="0" anchor="ctr"/>
          <a:lstStyle/>
          <a:p>
            <a:pPr algn="l" indent="0" marL="0">
              <a:buNone/>
            </a:pPr>
            <a:r>
              <a:rPr lang="en-US" sz="1050" dirty="0">
                <a:solidFill>
                  <a:srgbClr val="0B0B0F"/>
                </a:solidFill>
                <a:latin typeface="Helvetica Neue" pitchFamily="34" charset="0"/>
                <a:ea typeface="Helvetica Neue" pitchFamily="34" charset="-122"/>
                <a:cs typeface="Helvetica Neue" pitchFamily="34" charset="-120"/>
              </a:rPr>
              <a:t>Negotiation implication: 50 Doctors should demand between 55% and 65% of equity. Below 55%, Sanitas captures more differential value than its capital contribution justifies.</a:t>
            </a:r>
            <a:endParaRPr lang="en-US" sz="1050" dirty="0"/>
          </a:p>
        </p:txBody>
      </p:sp>
      <p:sp>
        <p:nvSpPr>
          <p:cNvPr id="35" name="Text 33"/>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JV structure: 50D 60% + Sanitas/BUPA 40%   |   Reference Value (Sanitas standalone): €15M/hospital   |   EV = Reference + Differential = €40M/hospital</a:t>
            </a:r>
            <a:endParaRPr lang="en-US" sz="800" dirty="0"/>
          </a:p>
        </p:txBody>
      </p:sp>
      <p:sp>
        <p:nvSpPr>
          <p:cNvPr id="36" name="Text 34"/>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4 · SENSITIVITY ANALYSIS</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Occupancy Year 3 Is the Make-or-Break Variable</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Text 4"/>
          <p:cNvSpPr/>
          <p:nvPr/>
        </p:nvSpPr>
        <p:spPr>
          <a:xfrm>
            <a:off x="457200" y="1152144"/>
            <a:ext cx="2560320" cy="420624"/>
          </a:xfrm>
          <a:prstGeom prst="rect">
            <a:avLst/>
          </a:prstGeom>
          <a:noFill/>
          <a:ln/>
        </p:spPr>
        <p:txBody>
          <a:bodyPr wrap="square" lIns="0" tIns="0" rIns="0" bIns="0" rtlCol="0" anchor="ctr"/>
          <a:lstStyle/>
          <a:p>
            <a:pPr algn="r" indent="0" marL="0">
              <a:buNone/>
            </a:pPr>
            <a:r>
              <a:rPr lang="en-US" sz="1100" dirty="0">
                <a:solidFill>
                  <a:srgbClr val="0B0B0F"/>
                </a:solidFill>
                <a:latin typeface="Helvetica Neue" pitchFamily="34" charset="0"/>
                <a:ea typeface="Helvetica Neue" pitchFamily="34" charset="-122"/>
                <a:cs typeface="Helvetica Neue" pitchFamily="34" charset="-120"/>
              </a:rPr>
              <a:t>Occupancy Year 3</a:t>
            </a:r>
            <a:endParaRPr lang="en-US" sz="1100" dirty="0"/>
          </a:p>
        </p:txBody>
      </p:sp>
      <p:sp>
        <p:nvSpPr>
          <p:cNvPr id="7" name="Shape 5"/>
          <p:cNvSpPr/>
          <p:nvPr/>
        </p:nvSpPr>
        <p:spPr>
          <a:xfrm>
            <a:off x="3108960" y="1188720"/>
            <a:ext cx="6035040" cy="329184"/>
          </a:xfrm>
          <a:prstGeom prst="rect">
            <a:avLst/>
          </a:prstGeom>
          <a:solidFill>
            <a:srgbClr val="0F3460"/>
          </a:solidFill>
          <a:ln/>
        </p:spPr>
      </p:sp>
      <p:sp>
        <p:nvSpPr>
          <p:cNvPr id="8" name="Text 6"/>
          <p:cNvSpPr/>
          <p:nvPr/>
        </p:nvSpPr>
        <p:spPr>
          <a:xfrm>
            <a:off x="9217152" y="1188720"/>
            <a:ext cx="1371600" cy="329184"/>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±€16.3M</a:t>
            </a:r>
            <a:endParaRPr lang="en-US" sz="1100" dirty="0"/>
          </a:p>
        </p:txBody>
      </p:sp>
      <p:sp>
        <p:nvSpPr>
          <p:cNvPr id="9" name="Text 7"/>
          <p:cNvSpPr/>
          <p:nvPr/>
        </p:nvSpPr>
        <p:spPr>
          <a:xfrm>
            <a:off x="457200" y="1627632"/>
            <a:ext cx="2560320" cy="420624"/>
          </a:xfrm>
          <a:prstGeom prst="rect">
            <a:avLst/>
          </a:prstGeom>
          <a:noFill/>
          <a:ln/>
        </p:spPr>
        <p:txBody>
          <a:bodyPr wrap="square" lIns="0" tIns="0" rIns="0" bIns="0" rtlCol="0" anchor="ctr"/>
          <a:lstStyle/>
          <a:p>
            <a:pPr algn="r" indent="0" marL="0">
              <a:buNone/>
            </a:pPr>
            <a:r>
              <a:rPr lang="en-US" sz="1100" dirty="0">
                <a:solidFill>
                  <a:srgbClr val="0B0B0F"/>
                </a:solidFill>
                <a:latin typeface="Helvetica Neue" pitchFamily="34" charset="0"/>
                <a:ea typeface="Helvetica Neue" pitchFamily="34" charset="-122"/>
                <a:cs typeface="Helvetica Neue" pitchFamily="34" charset="-120"/>
              </a:rPr>
              <a:t>WACC</a:t>
            </a:r>
            <a:endParaRPr lang="en-US" sz="1100" dirty="0"/>
          </a:p>
        </p:txBody>
      </p:sp>
      <p:sp>
        <p:nvSpPr>
          <p:cNvPr id="10" name="Shape 8"/>
          <p:cNvSpPr/>
          <p:nvPr/>
        </p:nvSpPr>
        <p:spPr>
          <a:xfrm>
            <a:off x="3108960" y="1664208"/>
            <a:ext cx="3291840" cy="329184"/>
          </a:xfrm>
          <a:prstGeom prst="rect">
            <a:avLst/>
          </a:prstGeom>
          <a:solidFill>
            <a:srgbClr val="1A5276"/>
          </a:solidFill>
          <a:ln/>
        </p:spPr>
      </p:sp>
      <p:sp>
        <p:nvSpPr>
          <p:cNvPr id="11" name="Text 9"/>
          <p:cNvSpPr/>
          <p:nvPr/>
        </p:nvSpPr>
        <p:spPr>
          <a:xfrm>
            <a:off x="6473952" y="1664208"/>
            <a:ext cx="1371600" cy="329184"/>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±€9M</a:t>
            </a:r>
            <a:endParaRPr lang="en-US" sz="1100" dirty="0"/>
          </a:p>
        </p:txBody>
      </p:sp>
      <p:sp>
        <p:nvSpPr>
          <p:cNvPr id="12" name="Text 10"/>
          <p:cNvSpPr/>
          <p:nvPr/>
        </p:nvSpPr>
        <p:spPr>
          <a:xfrm>
            <a:off x="457200" y="2103120"/>
            <a:ext cx="2560320" cy="420624"/>
          </a:xfrm>
          <a:prstGeom prst="rect">
            <a:avLst/>
          </a:prstGeom>
          <a:noFill/>
          <a:ln/>
        </p:spPr>
        <p:txBody>
          <a:bodyPr wrap="square" lIns="0" tIns="0" rIns="0" bIns="0" rtlCol="0" anchor="ctr"/>
          <a:lstStyle/>
          <a:p>
            <a:pPr algn="r" indent="0" marL="0">
              <a:buNone/>
            </a:pPr>
            <a:r>
              <a:rPr lang="en-US" sz="1100" dirty="0">
                <a:solidFill>
                  <a:srgbClr val="0B0B0F"/>
                </a:solidFill>
                <a:latin typeface="Helvetica Neue" pitchFamily="34" charset="0"/>
                <a:ea typeface="Helvetica Neue" pitchFamily="34" charset="-122"/>
                <a:cs typeface="Helvetica Neue" pitchFamily="34" charset="-120"/>
              </a:rPr>
              <a:t>P(Scenario D)</a:t>
            </a:r>
            <a:endParaRPr lang="en-US" sz="1100" dirty="0"/>
          </a:p>
        </p:txBody>
      </p:sp>
      <p:sp>
        <p:nvSpPr>
          <p:cNvPr id="13" name="Shape 11"/>
          <p:cNvSpPr/>
          <p:nvPr/>
        </p:nvSpPr>
        <p:spPr>
          <a:xfrm>
            <a:off x="3108960" y="2139696"/>
            <a:ext cx="2011680" cy="329184"/>
          </a:xfrm>
          <a:prstGeom prst="rect">
            <a:avLst/>
          </a:prstGeom>
          <a:solidFill>
            <a:srgbClr val="2D6A9F"/>
          </a:solidFill>
          <a:ln/>
        </p:spPr>
      </p:sp>
      <p:sp>
        <p:nvSpPr>
          <p:cNvPr id="14" name="Text 12"/>
          <p:cNvSpPr/>
          <p:nvPr/>
        </p:nvSpPr>
        <p:spPr>
          <a:xfrm>
            <a:off x="5193792" y="2139696"/>
            <a:ext cx="1371600" cy="329184"/>
          </a:xfrm>
          <a:prstGeom prst="rect">
            <a:avLst/>
          </a:prstGeom>
          <a:noFill/>
          <a:ln/>
        </p:spPr>
        <p:txBody>
          <a:bodyPr wrap="square" lIns="0" tIns="0" rIns="0" bIns="0" rtlCol="0" anchor="ctr"/>
          <a:lstStyle/>
          <a:p>
            <a:pPr algn="l" indent="0" marL="0">
              <a:buNone/>
            </a:pPr>
            <a:r>
              <a:rPr lang="en-US" sz="1100" dirty="0">
                <a:solidFill>
                  <a:srgbClr val="9AA0A6"/>
                </a:solidFill>
                <a:latin typeface="Helvetica Neue" pitchFamily="34" charset="0"/>
                <a:ea typeface="Helvetica Neue" pitchFamily="34" charset="-122"/>
                <a:cs typeface="Helvetica Neue" pitchFamily="34" charset="-120"/>
              </a:rPr>
              <a:t>±€5.5M</a:t>
            </a:r>
            <a:endParaRPr lang="en-US" sz="1100" dirty="0"/>
          </a:p>
        </p:txBody>
      </p:sp>
      <p:sp>
        <p:nvSpPr>
          <p:cNvPr id="15" name="Text 13"/>
          <p:cNvSpPr/>
          <p:nvPr/>
        </p:nvSpPr>
        <p:spPr>
          <a:xfrm>
            <a:off x="457200" y="2578608"/>
            <a:ext cx="2560320" cy="420624"/>
          </a:xfrm>
          <a:prstGeom prst="rect">
            <a:avLst/>
          </a:prstGeom>
          <a:noFill/>
          <a:ln/>
        </p:spPr>
        <p:txBody>
          <a:bodyPr wrap="square" lIns="0" tIns="0" rIns="0" bIns="0" rtlCol="0" anchor="ctr"/>
          <a:lstStyle/>
          <a:p>
            <a:pPr algn="r" indent="0" marL="0">
              <a:buNone/>
            </a:pPr>
            <a:r>
              <a:rPr lang="en-US" sz="1100" dirty="0">
                <a:solidFill>
                  <a:srgbClr val="0B0B0F"/>
                </a:solidFill>
                <a:latin typeface="Helvetica Neue" pitchFamily="34" charset="0"/>
                <a:ea typeface="Helvetica Neue" pitchFamily="34" charset="-122"/>
                <a:cs typeface="Helvetica Neue" pitchFamily="34" charset="-120"/>
              </a:rPr>
              <a:t>Daily premium tariff</a:t>
            </a:r>
            <a:endParaRPr lang="en-US" sz="1100" dirty="0"/>
          </a:p>
        </p:txBody>
      </p:sp>
      <p:sp>
        <p:nvSpPr>
          <p:cNvPr id="16" name="Shape 14"/>
          <p:cNvSpPr/>
          <p:nvPr/>
        </p:nvSpPr>
        <p:spPr>
          <a:xfrm>
            <a:off x="3108960" y="2615184"/>
            <a:ext cx="1737360" cy="329184"/>
          </a:xfrm>
          <a:prstGeom prst="rect">
            <a:avLst/>
          </a:prstGeom>
          <a:solidFill>
            <a:srgbClr val="9AA0A6"/>
          </a:solidFill>
          <a:ln/>
        </p:spPr>
      </p:sp>
      <p:sp>
        <p:nvSpPr>
          <p:cNvPr id="17" name="Text 15"/>
          <p:cNvSpPr/>
          <p:nvPr/>
        </p:nvSpPr>
        <p:spPr>
          <a:xfrm>
            <a:off x="4919472" y="2615184"/>
            <a:ext cx="1371600" cy="329184"/>
          </a:xfrm>
          <a:prstGeom prst="rect">
            <a:avLst/>
          </a:prstGeom>
          <a:noFill/>
          <a:ln/>
        </p:spPr>
        <p:txBody>
          <a:bodyPr wrap="square" lIns="0" tIns="0" rIns="0" bIns="0" rtlCol="0" anchor="ctr"/>
          <a:lstStyle/>
          <a:p>
            <a:pPr algn="l" indent="0" marL="0">
              <a:buNone/>
            </a:pPr>
            <a:r>
              <a:rPr lang="en-US" sz="1100" dirty="0">
                <a:solidFill>
                  <a:srgbClr val="9AA0A6"/>
                </a:solidFill>
                <a:latin typeface="Helvetica Neue" pitchFamily="34" charset="0"/>
                <a:ea typeface="Helvetica Neue" pitchFamily="34" charset="-122"/>
                <a:cs typeface="Helvetica Neue" pitchFamily="34" charset="-120"/>
              </a:rPr>
              <a:t>±€4.8M</a:t>
            </a:r>
            <a:endParaRPr lang="en-US" sz="1100" dirty="0"/>
          </a:p>
        </p:txBody>
      </p:sp>
      <p:sp>
        <p:nvSpPr>
          <p:cNvPr id="18" name="Text 16"/>
          <p:cNvSpPr/>
          <p:nvPr/>
        </p:nvSpPr>
        <p:spPr>
          <a:xfrm>
            <a:off x="457200" y="3054096"/>
            <a:ext cx="2560320" cy="420624"/>
          </a:xfrm>
          <a:prstGeom prst="rect">
            <a:avLst/>
          </a:prstGeom>
          <a:noFill/>
          <a:ln/>
        </p:spPr>
        <p:txBody>
          <a:bodyPr wrap="square" lIns="0" tIns="0" rIns="0" bIns="0" rtlCol="0" anchor="ctr"/>
          <a:lstStyle/>
          <a:p>
            <a:pPr algn="r" indent="0" marL="0">
              <a:buNone/>
            </a:pPr>
            <a:r>
              <a:rPr lang="en-US" sz="1100" dirty="0">
                <a:solidFill>
                  <a:srgbClr val="0B0B0F"/>
                </a:solidFill>
                <a:latin typeface="Helvetica Neue" pitchFamily="34" charset="0"/>
                <a:ea typeface="Helvetica Neue" pitchFamily="34" charset="-122"/>
                <a:cs typeface="Helvetica Neue" pitchFamily="34" charset="-120"/>
              </a:rPr>
              <a:t>Equity split (55-65%)</a:t>
            </a:r>
            <a:endParaRPr lang="en-US" sz="1100" dirty="0"/>
          </a:p>
        </p:txBody>
      </p:sp>
      <p:sp>
        <p:nvSpPr>
          <p:cNvPr id="19" name="Shape 17"/>
          <p:cNvSpPr/>
          <p:nvPr/>
        </p:nvSpPr>
        <p:spPr>
          <a:xfrm>
            <a:off x="3108960" y="3090672"/>
            <a:ext cx="1188720" cy="329184"/>
          </a:xfrm>
          <a:prstGeom prst="rect">
            <a:avLst/>
          </a:prstGeom>
          <a:solidFill>
            <a:srgbClr val="CBD0D3"/>
          </a:solidFill>
          <a:ln/>
        </p:spPr>
      </p:sp>
      <p:sp>
        <p:nvSpPr>
          <p:cNvPr id="20" name="Text 18"/>
          <p:cNvSpPr/>
          <p:nvPr/>
        </p:nvSpPr>
        <p:spPr>
          <a:xfrm>
            <a:off x="4370832" y="3090672"/>
            <a:ext cx="1371600" cy="329184"/>
          </a:xfrm>
          <a:prstGeom prst="rect">
            <a:avLst/>
          </a:prstGeom>
          <a:noFill/>
          <a:ln/>
        </p:spPr>
        <p:txBody>
          <a:bodyPr wrap="square" lIns="0" tIns="0" rIns="0" bIns="0" rtlCol="0" anchor="ctr"/>
          <a:lstStyle/>
          <a:p>
            <a:pPr algn="l" indent="0" marL="0">
              <a:buNone/>
            </a:pPr>
            <a:r>
              <a:rPr lang="en-US" sz="1100" dirty="0">
                <a:solidFill>
                  <a:srgbClr val="9AA0A6"/>
                </a:solidFill>
                <a:latin typeface="Helvetica Neue" pitchFamily="34" charset="0"/>
                <a:ea typeface="Helvetica Neue" pitchFamily="34" charset="-122"/>
                <a:cs typeface="Helvetica Neue" pitchFamily="34" charset="-120"/>
              </a:rPr>
              <a:t>±€3.2M</a:t>
            </a:r>
            <a:endParaRPr lang="en-US" sz="1100" dirty="0"/>
          </a:p>
        </p:txBody>
      </p:sp>
      <p:sp>
        <p:nvSpPr>
          <p:cNvPr id="21" name="Text 19"/>
          <p:cNvSpPr/>
          <p:nvPr/>
        </p:nvSpPr>
        <p:spPr>
          <a:xfrm>
            <a:off x="457200" y="3529584"/>
            <a:ext cx="2560320" cy="420624"/>
          </a:xfrm>
          <a:prstGeom prst="rect">
            <a:avLst/>
          </a:prstGeom>
          <a:noFill/>
          <a:ln/>
        </p:spPr>
        <p:txBody>
          <a:bodyPr wrap="square" lIns="0" tIns="0" rIns="0" bIns="0" rtlCol="0" anchor="ctr"/>
          <a:lstStyle/>
          <a:p>
            <a:pPr algn="r" indent="0" marL="0">
              <a:buNone/>
            </a:pPr>
            <a:r>
              <a:rPr lang="en-US" sz="1100" dirty="0">
                <a:solidFill>
                  <a:srgbClr val="0B0B0F"/>
                </a:solidFill>
                <a:latin typeface="Helvetica Neue" pitchFamily="34" charset="0"/>
                <a:ea typeface="Helvetica Neue" pitchFamily="34" charset="-122"/>
                <a:cs typeface="Helvetica Neue" pitchFamily="34" charset="-120"/>
              </a:rPr>
              <a:t>EBITDA margin</a:t>
            </a:r>
            <a:endParaRPr lang="en-US" sz="1100" dirty="0"/>
          </a:p>
        </p:txBody>
      </p:sp>
      <p:sp>
        <p:nvSpPr>
          <p:cNvPr id="22" name="Shape 20"/>
          <p:cNvSpPr/>
          <p:nvPr/>
        </p:nvSpPr>
        <p:spPr>
          <a:xfrm>
            <a:off x="3108960" y="3566160"/>
            <a:ext cx="1051560" cy="329184"/>
          </a:xfrm>
          <a:prstGeom prst="rect">
            <a:avLst/>
          </a:prstGeom>
          <a:solidFill>
            <a:srgbClr val="E8EAED"/>
          </a:solidFill>
          <a:ln/>
        </p:spPr>
      </p:sp>
      <p:sp>
        <p:nvSpPr>
          <p:cNvPr id="23" name="Text 21"/>
          <p:cNvSpPr/>
          <p:nvPr/>
        </p:nvSpPr>
        <p:spPr>
          <a:xfrm>
            <a:off x="4233672" y="3566160"/>
            <a:ext cx="1371600" cy="329184"/>
          </a:xfrm>
          <a:prstGeom prst="rect">
            <a:avLst/>
          </a:prstGeom>
          <a:noFill/>
          <a:ln/>
        </p:spPr>
        <p:txBody>
          <a:bodyPr wrap="square" lIns="0" tIns="0" rIns="0" bIns="0" rtlCol="0" anchor="ctr"/>
          <a:lstStyle/>
          <a:p>
            <a:pPr algn="l" indent="0" marL="0">
              <a:buNone/>
            </a:pPr>
            <a:r>
              <a:rPr lang="en-US" sz="1100" dirty="0">
                <a:solidFill>
                  <a:srgbClr val="9AA0A6"/>
                </a:solidFill>
                <a:latin typeface="Helvetica Neue" pitchFamily="34" charset="0"/>
                <a:ea typeface="Helvetica Neue" pitchFamily="34" charset="-122"/>
                <a:cs typeface="Helvetica Neue" pitchFamily="34" charset="-120"/>
              </a:rPr>
              <a:t>±€2.9M</a:t>
            </a:r>
            <a:endParaRPr lang="en-US" sz="1100" dirty="0"/>
          </a:p>
        </p:txBody>
      </p:sp>
      <p:sp>
        <p:nvSpPr>
          <p:cNvPr id="24" name="Text 22"/>
          <p:cNvSpPr/>
          <p:nvPr/>
        </p:nvSpPr>
        <p:spPr>
          <a:xfrm>
            <a:off x="457200" y="4078224"/>
            <a:ext cx="2194560" cy="219456"/>
          </a:xfrm>
          <a:prstGeom prst="rect">
            <a:avLst/>
          </a:prstGeom>
          <a:noFill/>
          <a:ln/>
        </p:spPr>
        <p:txBody>
          <a:bodyPr wrap="square" lIns="0" tIns="0" rIns="0" bIns="0" rtlCol="0" anchor="ctr"/>
          <a:lstStyle/>
          <a:p>
            <a:pPr algn="l" indent="0" marL="0">
              <a:buNone/>
            </a:pPr>
            <a:r>
              <a:rPr lang="en-US" sz="1000" b="1" dirty="0">
                <a:solidFill>
                  <a:srgbClr val="0F3460"/>
                </a:solidFill>
                <a:latin typeface="Helvetica Neue" pitchFamily="34" charset="0"/>
                <a:ea typeface="Helvetica Neue" pitchFamily="34" charset="-122"/>
                <a:cs typeface="Helvetica Neue" pitchFamily="34" charset="-120"/>
              </a:rPr>
              <a:t>Occupancy sensitivity:</a:t>
            </a:r>
            <a:endParaRPr lang="en-US" sz="1000" dirty="0"/>
          </a:p>
        </p:txBody>
      </p:sp>
      <p:sp>
        <p:nvSpPr>
          <p:cNvPr id="25" name="Shape 23"/>
          <p:cNvSpPr/>
          <p:nvPr/>
        </p:nvSpPr>
        <p:spPr>
          <a:xfrm>
            <a:off x="457200" y="4334256"/>
            <a:ext cx="2651760" cy="585216"/>
          </a:xfrm>
          <a:prstGeom prst="rect">
            <a:avLst/>
          </a:prstGeom>
          <a:solidFill>
            <a:srgbClr val="FFEBEE"/>
          </a:solidFill>
          <a:ln w="6350">
            <a:solidFill>
              <a:srgbClr val="CBD0D3"/>
            </a:solidFill>
            <a:prstDash val="solid"/>
          </a:ln>
        </p:spPr>
      </p:sp>
      <p:sp>
        <p:nvSpPr>
          <p:cNvPr id="26" name="Text 24"/>
          <p:cNvSpPr/>
          <p:nvPr/>
        </p:nvSpPr>
        <p:spPr>
          <a:xfrm>
            <a:off x="548640" y="4352544"/>
            <a:ext cx="2468880" cy="237744"/>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50% (−20pp)</a:t>
            </a:r>
            <a:endParaRPr lang="en-US" sz="1000" dirty="0"/>
          </a:p>
        </p:txBody>
      </p:sp>
      <p:sp>
        <p:nvSpPr>
          <p:cNvPr id="27" name="Text 25"/>
          <p:cNvSpPr/>
          <p:nvPr/>
        </p:nvSpPr>
        <p:spPr>
          <a:xfrm>
            <a:off x="548640" y="4572000"/>
            <a:ext cx="2468880" cy="256032"/>
          </a:xfrm>
          <a:prstGeom prst="rect">
            <a:avLst/>
          </a:prstGeom>
          <a:noFill/>
          <a:ln/>
        </p:spPr>
        <p:txBody>
          <a:bodyPr wrap="square" lIns="0" tIns="0" rIns="0" bIns="0" rtlCol="0" anchor="ctr"/>
          <a:lstStyle/>
          <a:p>
            <a:pPr algn="ctr" indent="0" marL="0">
              <a:buNone/>
            </a:pPr>
            <a:r>
              <a:rPr lang="en-US" sz="1200" b="1" dirty="0">
                <a:solidFill>
                  <a:srgbClr val="C0392B"/>
                </a:solidFill>
                <a:latin typeface="Helvetica Neue" pitchFamily="34" charset="0"/>
                <a:ea typeface="Helvetica Neue" pitchFamily="34" charset="-122"/>
                <a:cs typeface="Helvetica Neue" pitchFamily="34" charset="-120"/>
              </a:rPr>
              <a:t>−€2.1M 🛑</a:t>
            </a:r>
            <a:endParaRPr lang="en-US" sz="1200" dirty="0"/>
          </a:p>
        </p:txBody>
      </p:sp>
      <p:sp>
        <p:nvSpPr>
          <p:cNvPr id="28" name="Shape 26"/>
          <p:cNvSpPr/>
          <p:nvPr/>
        </p:nvSpPr>
        <p:spPr>
          <a:xfrm>
            <a:off x="3291840" y="4334256"/>
            <a:ext cx="2651760" cy="585216"/>
          </a:xfrm>
          <a:prstGeom prst="rect">
            <a:avLst/>
          </a:prstGeom>
          <a:solidFill>
            <a:srgbClr val="FAFAFA"/>
          </a:solidFill>
          <a:ln w="6350">
            <a:solidFill>
              <a:srgbClr val="CBD0D3"/>
            </a:solidFill>
            <a:prstDash val="solid"/>
          </a:ln>
        </p:spPr>
      </p:sp>
      <p:sp>
        <p:nvSpPr>
          <p:cNvPr id="29" name="Text 27"/>
          <p:cNvSpPr/>
          <p:nvPr/>
        </p:nvSpPr>
        <p:spPr>
          <a:xfrm>
            <a:off x="3383280" y="4352544"/>
            <a:ext cx="2468880" cy="237744"/>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70% (base)</a:t>
            </a:r>
            <a:endParaRPr lang="en-US" sz="1000" dirty="0"/>
          </a:p>
        </p:txBody>
      </p:sp>
      <p:sp>
        <p:nvSpPr>
          <p:cNvPr id="30" name="Text 28"/>
          <p:cNvSpPr/>
          <p:nvPr/>
        </p:nvSpPr>
        <p:spPr>
          <a:xfrm>
            <a:off x="3383280" y="4572000"/>
            <a:ext cx="2468880" cy="256032"/>
          </a:xfrm>
          <a:prstGeom prst="rect">
            <a:avLst/>
          </a:prstGeom>
          <a:noFill/>
          <a:ln/>
        </p:spPr>
        <p:txBody>
          <a:bodyPr wrap="square" lIns="0" tIns="0" rIns="0" bIns="0" rtlCol="0" anchor="ctr"/>
          <a:lstStyle/>
          <a:p>
            <a:pPr algn="ctr" indent="0" marL="0">
              <a:buNone/>
            </a:pPr>
            <a:r>
              <a:rPr lang="en-US" sz="1200" b="1" dirty="0">
                <a:solidFill>
                  <a:srgbClr val="1A7F4B"/>
                </a:solidFill>
                <a:latin typeface="Helvetica Neue" pitchFamily="34" charset="0"/>
                <a:ea typeface="Helvetica Neue" pitchFamily="34" charset="-122"/>
                <a:cs typeface="Helvetica Neue" pitchFamily="34" charset="-120"/>
              </a:rPr>
              <a:t>+€14.2M ✅</a:t>
            </a:r>
            <a:endParaRPr lang="en-US" sz="1200" dirty="0"/>
          </a:p>
        </p:txBody>
      </p:sp>
      <p:sp>
        <p:nvSpPr>
          <p:cNvPr id="31" name="Shape 29"/>
          <p:cNvSpPr/>
          <p:nvPr/>
        </p:nvSpPr>
        <p:spPr>
          <a:xfrm>
            <a:off x="6126480" y="4334256"/>
            <a:ext cx="2651760" cy="585216"/>
          </a:xfrm>
          <a:prstGeom prst="rect">
            <a:avLst/>
          </a:prstGeom>
          <a:solidFill>
            <a:srgbClr val="E8F5E9"/>
          </a:solidFill>
          <a:ln w="6350">
            <a:solidFill>
              <a:srgbClr val="CBD0D3"/>
            </a:solidFill>
            <a:prstDash val="solid"/>
          </a:ln>
        </p:spPr>
      </p:sp>
      <p:sp>
        <p:nvSpPr>
          <p:cNvPr id="32" name="Text 30"/>
          <p:cNvSpPr/>
          <p:nvPr/>
        </p:nvSpPr>
        <p:spPr>
          <a:xfrm>
            <a:off x="6217920" y="4352544"/>
            <a:ext cx="2468880" cy="237744"/>
          </a:xfrm>
          <a:prstGeom prst="rect">
            <a:avLst/>
          </a:prstGeom>
          <a:noFill/>
          <a:ln/>
        </p:spPr>
        <p:txBody>
          <a:bodyPr wrap="square" lIns="0" tIns="0" rIns="0" bIns="0" rtlCol="0" anchor="ctr"/>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80% (+10pp)</a:t>
            </a:r>
            <a:endParaRPr lang="en-US" sz="1000" dirty="0"/>
          </a:p>
        </p:txBody>
      </p:sp>
      <p:sp>
        <p:nvSpPr>
          <p:cNvPr id="33" name="Text 31"/>
          <p:cNvSpPr/>
          <p:nvPr/>
        </p:nvSpPr>
        <p:spPr>
          <a:xfrm>
            <a:off x="6217920" y="4572000"/>
            <a:ext cx="2468880" cy="256032"/>
          </a:xfrm>
          <a:prstGeom prst="rect">
            <a:avLst/>
          </a:prstGeom>
          <a:noFill/>
          <a:ln/>
        </p:spPr>
        <p:txBody>
          <a:bodyPr wrap="square" lIns="0" tIns="0" rIns="0" bIns="0" rtlCol="0" anchor="ctr"/>
          <a:lstStyle/>
          <a:p>
            <a:pPr algn="ctr" indent="0" marL="0">
              <a:buNone/>
            </a:pPr>
            <a:r>
              <a:rPr lang="en-US" sz="1200" b="1" dirty="0">
                <a:solidFill>
                  <a:srgbClr val="1A7F4B"/>
                </a:solidFill>
                <a:latin typeface="Helvetica Neue" pitchFamily="34" charset="0"/>
                <a:ea typeface="Helvetica Neue" pitchFamily="34" charset="-122"/>
                <a:cs typeface="Helvetica Neue" pitchFamily="34" charset="-120"/>
              </a:rPr>
              <a:t>+€22.6M ✅</a:t>
            </a:r>
            <a:endParaRPr lang="en-US" sz="1200" dirty="0"/>
          </a:p>
        </p:txBody>
      </p:sp>
      <p:sp>
        <p:nvSpPr>
          <p:cNvPr id="34" name="Text 32"/>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WACC sensitivity: 8% (BUPA finances) → E[NPV] = +€22.8M · At WACC 18% (max PE risk premium) → still +€4.2M positive</a:t>
            </a:r>
            <a:endParaRPr lang="en-US" sz="800" dirty="0"/>
          </a:p>
        </p:txBody>
      </p:sp>
      <p:sp>
        <p:nvSpPr>
          <p:cNvPr id="35" name="Text 33"/>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5 · EARLY WARNING SYSTEM</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9 KIIs · 3 KITs · Four-Tier Escalation Protocol</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Shape 4"/>
          <p:cNvSpPr/>
          <p:nvPr/>
        </p:nvSpPr>
        <p:spPr>
          <a:xfrm>
            <a:off x="457200" y="1042416"/>
            <a:ext cx="2743200" cy="1280160"/>
          </a:xfrm>
          <a:prstGeom prst="rect">
            <a:avLst/>
          </a:prstGeom>
          <a:solidFill>
            <a:srgbClr val="0F3460"/>
          </a:solidFill>
          <a:ln/>
        </p:spPr>
      </p:sp>
      <p:sp>
        <p:nvSpPr>
          <p:cNvPr id="7" name="Text 5"/>
          <p:cNvSpPr/>
          <p:nvPr/>
        </p:nvSpPr>
        <p:spPr>
          <a:xfrm>
            <a:off x="548640" y="1097280"/>
            <a:ext cx="2560320" cy="274320"/>
          </a:xfrm>
          <a:prstGeom prst="rect">
            <a:avLst/>
          </a:prstGeom>
          <a:noFill/>
          <a:ln/>
        </p:spPr>
        <p:txBody>
          <a:bodyPr wrap="square" lIns="0" tIns="0" rIns="0" bIns="0" rtlCol="0" anchor="ctr"/>
          <a:lstStyle/>
          <a:p>
            <a:pPr algn="l" indent="0" marL="0">
              <a:buNone/>
            </a:pPr>
            <a:r>
              <a:rPr lang="en-US" sz="1100" b="1" dirty="0">
                <a:solidFill>
                  <a:srgbClr val="7DB0D4"/>
                </a:solidFill>
                <a:latin typeface="Helvetica Neue" pitchFamily="34" charset="0"/>
                <a:ea typeface="Helvetica Neue" pitchFamily="34" charset="-122"/>
                <a:cs typeface="Helvetica Neue" pitchFamily="34" charset="-120"/>
              </a:rPr>
              <a:t>KIT 1</a:t>
            </a:r>
            <a:endParaRPr lang="en-US" sz="1100" dirty="0"/>
          </a:p>
        </p:txBody>
      </p:sp>
      <p:sp>
        <p:nvSpPr>
          <p:cNvPr id="8" name="Text 6"/>
          <p:cNvSpPr/>
          <p:nvPr/>
        </p:nvSpPr>
        <p:spPr>
          <a:xfrm>
            <a:off x="548640" y="1353312"/>
            <a:ext cx="2560320" cy="237744"/>
          </a:xfrm>
          <a:prstGeom prst="rect">
            <a:avLst/>
          </a:prstGeom>
          <a:noFill/>
          <a:ln/>
        </p:spPr>
        <p:txBody>
          <a:bodyPr wrap="square" lIns="0" tIns="0" rIns="0" bIns="0" rtlCol="0" anchor="ctr"/>
          <a:lstStyle/>
          <a:p>
            <a:pPr algn="l" indent="0" marL="0">
              <a:buNone/>
            </a:pPr>
            <a:r>
              <a:rPr lang="en-US" sz="1300" b="1" dirty="0">
                <a:solidFill>
                  <a:srgbClr val="FFFFFF"/>
                </a:solidFill>
                <a:latin typeface="Helvetica Neue" pitchFamily="34" charset="0"/>
                <a:ea typeface="Helvetica Neue" pitchFamily="34" charset="-122"/>
                <a:cs typeface="Helvetica Neue" pitchFamily="34" charset="-120"/>
              </a:rPr>
              <a:t>Insurer Receptivity</a:t>
            </a:r>
            <a:endParaRPr lang="en-US" sz="1300" dirty="0"/>
          </a:p>
        </p:txBody>
      </p:sp>
      <p:sp>
        <p:nvSpPr>
          <p:cNvPr id="9" name="Text 7"/>
          <p:cNvSpPr/>
          <p:nvPr/>
        </p:nvSpPr>
        <p:spPr>
          <a:xfrm>
            <a:off x="548640" y="1591056"/>
            <a:ext cx="2560320" cy="566928"/>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Is Sanitas/BUPA willing to co-invest in 3-6 months?</a:t>
            </a:r>
            <a:endParaRPr lang="en-US" sz="950" dirty="0"/>
          </a:p>
        </p:txBody>
      </p:sp>
      <p:sp>
        <p:nvSpPr>
          <p:cNvPr id="10" name="Text 8"/>
          <p:cNvSpPr/>
          <p:nvPr/>
        </p:nvSpPr>
        <p:spPr>
          <a:xfrm>
            <a:off x="548640" y="2157984"/>
            <a:ext cx="2560320" cy="182880"/>
          </a:xfrm>
          <a:prstGeom prst="rect">
            <a:avLst/>
          </a:prstGeom>
          <a:noFill/>
          <a:ln/>
        </p:spPr>
        <p:txBody>
          <a:bodyPr wrap="square" lIns="0" tIns="0" rIns="0" bIns="0" rtlCol="0" anchor="ctr"/>
          <a:lstStyle/>
          <a:p>
            <a:pPr algn="r" indent="0" marL="0">
              <a:buNone/>
            </a:pPr>
            <a:r>
              <a:rPr lang="en-US" sz="900" dirty="0">
                <a:solidFill>
                  <a:srgbClr val="7DB0D4"/>
                </a:solidFill>
                <a:latin typeface="Helvetica Neue" pitchFamily="34" charset="0"/>
                <a:ea typeface="Helvetica Neue" pitchFamily="34" charset="-122"/>
                <a:cs typeface="Helvetica Neue" pitchFamily="34" charset="-120"/>
              </a:rPr>
              <a:t>3 KIIs</a:t>
            </a:r>
            <a:endParaRPr lang="en-US" sz="900" dirty="0"/>
          </a:p>
        </p:txBody>
      </p:sp>
      <p:sp>
        <p:nvSpPr>
          <p:cNvPr id="11" name="Shape 9"/>
          <p:cNvSpPr/>
          <p:nvPr/>
        </p:nvSpPr>
        <p:spPr>
          <a:xfrm>
            <a:off x="3383280" y="1042416"/>
            <a:ext cx="2743200" cy="1280160"/>
          </a:xfrm>
          <a:prstGeom prst="rect">
            <a:avLst/>
          </a:prstGeom>
          <a:solidFill>
            <a:srgbClr val="1A5276"/>
          </a:solidFill>
          <a:ln/>
        </p:spPr>
      </p:sp>
      <p:sp>
        <p:nvSpPr>
          <p:cNvPr id="12" name="Text 10"/>
          <p:cNvSpPr/>
          <p:nvPr/>
        </p:nvSpPr>
        <p:spPr>
          <a:xfrm>
            <a:off x="3474720" y="1097280"/>
            <a:ext cx="2560320" cy="274320"/>
          </a:xfrm>
          <a:prstGeom prst="rect">
            <a:avLst/>
          </a:prstGeom>
          <a:noFill/>
          <a:ln/>
        </p:spPr>
        <p:txBody>
          <a:bodyPr wrap="square" lIns="0" tIns="0" rIns="0" bIns="0" rtlCol="0" anchor="ctr"/>
          <a:lstStyle/>
          <a:p>
            <a:pPr algn="l" indent="0" marL="0">
              <a:buNone/>
            </a:pPr>
            <a:r>
              <a:rPr lang="en-US" sz="1100" b="1" dirty="0">
                <a:solidFill>
                  <a:srgbClr val="7DB0D4"/>
                </a:solidFill>
                <a:latin typeface="Helvetica Neue" pitchFamily="34" charset="0"/>
                <a:ea typeface="Helvetica Neue" pitchFamily="34" charset="-122"/>
                <a:cs typeface="Helvetica Neue" pitchFamily="34" charset="-120"/>
              </a:rPr>
              <a:t>KIT 2</a:t>
            </a:r>
            <a:endParaRPr lang="en-US" sz="1100" dirty="0"/>
          </a:p>
        </p:txBody>
      </p:sp>
      <p:sp>
        <p:nvSpPr>
          <p:cNvPr id="13" name="Text 11"/>
          <p:cNvSpPr/>
          <p:nvPr/>
        </p:nvSpPr>
        <p:spPr>
          <a:xfrm>
            <a:off x="3474720" y="1353312"/>
            <a:ext cx="2560320" cy="237744"/>
          </a:xfrm>
          <a:prstGeom prst="rect">
            <a:avLst/>
          </a:prstGeom>
          <a:noFill/>
          <a:ln/>
        </p:spPr>
        <p:txBody>
          <a:bodyPr wrap="square" lIns="0" tIns="0" rIns="0" bIns="0" rtlCol="0" anchor="ctr"/>
          <a:lstStyle/>
          <a:p>
            <a:pPr algn="l" indent="0" marL="0">
              <a:buNone/>
            </a:pPr>
            <a:r>
              <a:rPr lang="en-US" sz="1300" b="1" dirty="0">
                <a:solidFill>
                  <a:srgbClr val="FFFFFF"/>
                </a:solidFill>
                <a:latin typeface="Helvetica Neue" pitchFamily="34" charset="0"/>
                <a:ea typeface="Helvetica Neue" pitchFamily="34" charset="-122"/>
                <a:cs typeface="Helvetica Neue" pitchFamily="34" charset="-120"/>
              </a:rPr>
              <a:t>Regulatory Changes</a:t>
            </a:r>
            <a:endParaRPr lang="en-US" sz="1300" dirty="0"/>
          </a:p>
        </p:txBody>
      </p:sp>
      <p:sp>
        <p:nvSpPr>
          <p:cNvPr id="14" name="Text 12"/>
          <p:cNvSpPr/>
          <p:nvPr/>
        </p:nvSpPr>
        <p:spPr>
          <a:xfrm>
            <a:off x="3474720" y="1591056"/>
            <a:ext cx="2560320" cy="566928"/>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Will DGS/Ministry restrict foreign hospital ownership in 2026-27?</a:t>
            </a:r>
            <a:endParaRPr lang="en-US" sz="950" dirty="0"/>
          </a:p>
        </p:txBody>
      </p:sp>
      <p:sp>
        <p:nvSpPr>
          <p:cNvPr id="15" name="Text 13"/>
          <p:cNvSpPr/>
          <p:nvPr/>
        </p:nvSpPr>
        <p:spPr>
          <a:xfrm>
            <a:off x="3474720" y="2157984"/>
            <a:ext cx="2560320" cy="182880"/>
          </a:xfrm>
          <a:prstGeom prst="rect">
            <a:avLst/>
          </a:prstGeom>
          <a:noFill/>
          <a:ln/>
        </p:spPr>
        <p:txBody>
          <a:bodyPr wrap="square" lIns="0" tIns="0" rIns="0" bIns="0" rtlCol="0" anchor="ctr"/>
          <a:lstStyle/>
          <a:p>
            <a:pPr algn="r" indent="0" marL="0">
              <a:buNone/>
            </a:pPr>
            <a:r>
              <a:rPr lang="en-US" sz="900" dirty="0">
                <a:solidFill>
                  <a:srgbClr val="7DB0D4"/>
                </a:solidFill>
                <a:latin typeface="Helvetica Neue" pitchFamily="34" charset="0"/>
                <a:ea typeface="Helvetica Neue" pitchFamily="34" charset="-122"/>
                <a:cs typeface="Helvetica Neue" pitchFamily="34" charset="-120"/>
              </a:rPr>
              <a:t>3 KIIs</a:t>
            </a:r>
            <a:endParaRPr lang="en-US" sz="900" dirty="0"/>
          </a:p>
        </p:txBody>
      </p:sp>
      <p:sp>
        <p:nvSpPr>
          <p:cNvPr id="16" name="Shape 14"/>
          <p:cNvSpPr/>
          <p:nvPr/>
        </p:nvSpPr>
        <p:spPr>
          <a:xfrm>
            <a:off x="6309360" y="1042416"/>
            <a:ext cx="2743200" cy="1280160"/>
          </a:xfrm>
          <a:prstGeom prst="rect">
            <a:avLst/>
          </a:prstGeom>
          <a:solidFill>
            <a:srgbClr val="21618C"/>
          </a:solidFill>
          <a:ln/>
        </p:spPr>
      </p:sp>
      <p:sp>
        <p:nvSpPr>
          <p:cNvPr id="17" name="Text 15"/>
          <p:cNvSpPr/>
          <p:nvPr/>
        </p:nvSpPr>
        <p:spPr>
          <a:xfrm>
            <a:off x="6400800" y="1097280"/>
            <a:ext cx="2560320" cy="274320"/>
          </a:xfrm>
          <a:prstGeom prst="rect">
            <a:avLst/>
          </a:prstGeom>
          <a:noFill/>
          <a:ln/>
        </p:spPr>
        <p:txBody>
          <a:bodyPr wrap="square" lIns="0" tIns="0" rIns="0" bIns="0" rtlCol="0" anchor="ctr"/>
          <a:lstStyle/>
          <a:p>
            <a:pPr algn="l" indent="0" marL="0">
              <a:buNone/>
            </a:pPr>
            <a:r>
              <a:rPr lang="en-US" sz="1100" b="1" dirty="0">
                <a:solidFill>
                  <a:srgbClr val="7DB0D4"/>
                </a:solidFill>
                <a:latin typeface="Helvetica Neue" pitchFamily="34" charset="0"/>
                <a:ea typeface="Helvetica Neue" pitchFamily="34" charset="-122"/>
                <a:cs typeface="Helvetica Neue" pitchFamily="34" charset="-120"/>
              </a:rPr>
              <a:t>KIT 3</a:t>
            </a:r>
            <a:endParaRPr lang="en-US" sz="1100" dirty="0"/>
          </a:p>
        </p:txBody>
      </p:sp>
      <p:sp>
        <p:nvSpPr>
          <p:cNvPr id="18" name="Text 16"/>
          <p:cNvSpPr/>
          <p:nvPr/>
        </p:nvSpPr>
        <p:spPr>
          <a:xfrm>
            <a:off x="6400800" y="1353312"/>
            <a:ext cx="2560320" cy="237744"/>
          </a:xfrm>
          <a:prstGeom prst="rect">
            <a:avLst/>
          </a:prstGeom>
          <a:noFill/>
          <a:ln/>
        </p:spPr>
        <p:txBody>
          <a:bodyPr wrap="square" lIns="0" tIns="0" rIns="0" bIns="0" rtlCol="0" anchor="ctr"/>
          <a:lstStyle/>
          <a:p>
            <a:pPr algn="l" indent="0" marL="0">
              <a:buNone/>
            </a:pPr>
            <a:r>
              <a:rPr lang="en-US" sz="1300" b="1" dirty="0">
                <a:solidFill>
                  <a:srgbClr val="FFFFFF"/>
                </a:solidFill>
                <a:latin typeface="Helvetica Neue" pitchFamily="34" charset="0"/>
                <a:ea typeface="Helvetica Neue" pitchFamily="34" charset="-122"/>
                <a:cs typeface="Helvetica Neue" pitchFamily="34" charset="-120"/>
              </a:rPr>
              <a:t>BUPA LATAM Moves</a:t>
            </a:r>
            <a:endParaRPr lang="en-US" sz="1300" dirty="0"/>
          </a:p>
        </p:txBody>
      </p:sp>
      <p:sp>
        <p:nvSpPr>
          <p:cNvPr id="19" name="Text 17"/>
          <p:cNvSpPr/>
          <p:nvPr/>
        </p:nvSpPr>
        <p:spPr>
          <a:xfrm>
            <a:off x="6400800" y="1591056"/>
            <a:ext cx="2560320" cy="566928"/>
          </a:xfrm>
          <a:prstGeom prst="rect">
            <a:avLst/>
          </a:prstGeom>
          <a:noFill/>
          <a:ln/>
        </p:spPr>
        <p:txBody>
          <a:bodyPr wrap="square" lIns="0" tIns="0" rIns="0" bIns="0" rtlCol="0" anchor="ctr"/>
          <a:lstStyle/>
          <a:p>
            <a:pPr algn="l" indent="0" marL="0">
              <a:buNone/>
            </a:pPr>
            <a:r>
              <a:rPr lang="en-US" sz="950" dirty="0">
                <a:solidFill>
                  <a:srgbClr val="C0D4E8"/>
                </a:solidFill>
                <a:latin typeface="Helvetica Neue" pitchFamily="34" charset="0"/>
                <a:ea typeface="Helvetica Neue" pitchFamily="34" charset="-122"/>
                <a:cs typeface="Helvetica Neue" pitchFamily="34" charset="-120"/>
              </a:rPr>
              <a:t>Is BUPA accelerating own expansion in MX, reducing JV interest?</a:t>
            </a:r>
            <a:endParaRPr lang="en-US" sz="950" dirty="0"/>
          </a:p>
        </p:txBody>
      </p:sp>
      <p:sp>
        <p:nvSpPr>
          <p:cNvPr id="20" name="Text 18"/>
          <p:cNvSpPr/>
          <p:nvPr/>
        </p:nvSpPr>
        <p:spPr>
          <a:xfrm>
            <a:off x="6400800" y="2157984"/>
            <a:ext cx="2560320" cy="182880"/>
          </a:xfrm>
          <a:prstGeom prst="rect">
            <a:avLst/>
          </a:prstGeom>
          <a:noFill/>
          <a:ln/>
        </p:spPr>
        <p:txBody>
          <a:bodyPr wrap="square" lIns="0" tIns="0" rIns="0" bIns="0" rtlCol="0" anchor="ctr"/>
          <a:lstStyle/>
          <a:p>
            <a:pPr algn="r" indent="0" marL="0">
              <a:buNone/>
            </a:pPr>
            <a:r>
              <a:rPr lang="en-US" sz="900" dirty="0">
                <a:solidFill>
                  <a:srgbClr val="7DB0D4"/>
                </a:solidFill>
                <a:latin typeface="Helvetica Neue" pitchFamily="34" charset="0"/>
                <a:ea typeface="Helvetica Neue" pitchFamily="34" charset="-122"/>
                <a:cs typeface="Helvetica Neue" pitchFamily="34" charset="-120"/>
              </a:rPr>
              <a:t>3 KIIs</a:t>
            </a:r>
            <a:endParaRPr lang="en-US" sz="900" dirty="0"/>
          </a:p>
        </p:txBody>
      </p:sp>
      <p:sp>
        <p:nvSpPr>
          <p:cNvPr id="21" name="Shape 19"/>
          <p:cNvSpPr/>
          <p:nvPr/>
        </p:nvSpPr>
        <p:spPr>
          <a:xfrm>
            <a:off x="457200" y="2450592"/>
            <a:ext cx="8229600" cy="347472"/>
          </a:xfrm>
          <a:prstGeom prst="rect">
            <a:avLst/>
          </a:prstGeom>
          <a:solidFill>
            <a:srgbClr val="E8F5E9"/>
          </a:solidFill>
          <a:ln w="6350">
            <a:solidFill>
              <a:srgbClr val="1A7F4B"/>
            </a:solidFill>
            <a:prstDash val="solid"/>
          </a:ln>
        </p:spPr>
      </p:sp>
      <p:sp>
        <p:nvSpPr>
          <p:cNvPr id="22" name="Text 20"/>
          <p:cNvSpPr/>
          <p:nvPr/>
        </p:nvSpPr>
        <p:spPr>
          <a:xfrm>
            <a:off x="640080" y="2450592"/>
            <a:ext cx="7863840" cy="347472"/>
          </a:xfrm>
          <a:prstGeom prst="rect">
            <a:avLst/>
          </a:prstGeom>
          <a:noFill/>
          <a:ln/>
        </p:spPr>
        <p:txBody>
          <a:bodyPr wrap="square" lIns="0" tIns="0" rIns="0" bIns="0" rtlCol="0" anchor="ctr"/>
          <a:lstStyle/>
          <a:p>
            <a:pPr algn="l" indent="0" marL="0">
              <a:buNone/>
            </a:pPr>
            <a:r>
              <a:rPr lang="en-US" sz="1100" b="1" dirty="0">
                <a:solidFill>
                  <a:srgbClr val="1A7F4B"/>
                </a:solidFill>
                <a:latin typeface="Helvetica Neue" pitchFamily="34" charset="0"/>
                <a:ea typeface="Helvetica Neue" pitchFamily="34" charset="-122"/>
                <a:cs typeface="Helvetica Neue" pitchFamily="34" charset="-120"/>
              </a:rPr>
              <a:t>✓  Current Status (2026-04-25): 9/9 KIIs GREEN — no alerts active · Automated via GitHub Actions every Monday 08:00 UTC</a:t>
            </a:r>
            <a:endParaRPr lang="en-US" sz="1100" dirty="0"/>
          </a:p>
        </p:txBody>
      </p:sp>
      <p:sp>
        <p:nvSpPr>
          <p:cNvPr id="23" name="Text 21"/>
          <p:cNvSpPr/>
          <p:nvPr/>
        </p:nvSpPr>
        <p:spPr>
          <a:xfrm>
            <a:off x="457200" y="2907792"/>
            <a:ext cx="3840480" cy="237744"/>
          </a:xfrm>
          <a:prstGeom prst="rect">
            <a:avLst/>
          </a:prstGeom>
          <a:noFill/>
          <a:ln/>
        </p:spPr>
        <p:txBody>
          <a:bodyPr wrap="square" lIns="0" tIns="0" rIns="0" bIns="0" rtlCol="0" anchor="ctr"/>
          <a:lstStyle/>
          <a:p>
            <a:pPr algn="l" indent="0" marL="0">
              <a:buNone/>
            </a:pPr>
            <a:r>
              <a:rPr lang="en-US" sz="1200" b="1" dirty="0">
                <a:solidFill>
                  <a:srgbClr val="0F3460"/>
                </a:solidFill>
                <a:latin typeface="Helvetica Neue" pitchFamily="34" charset="0"/>
                <a:ea typeface="Helvetica Neue" pitchFamily="34" charset="-122"/>
                <a:cs typeface="Helvetica Neue" pitchFamily="34" charset="-120"/>
              </a:rPr>
              <a:t>Escalation Protocol</a:t>
            </a:r>
            <a:endParaRPr lang="en-US" sz="1200" dirty="0"/>
          </a:p>
        </p:txBody>
      </p:sp>
      <p:sp>
        <p:nvSpPr>
          <p:cNvPr id="24" name="Shape 22"/>
          <p:cNvSpPr/>
          <p:nvPr/>
        </p:nvSpPr>
        <p:spPr>
          <a:xfrm>
            <a:off x="457200" y="3182112"/>
            <a:ext cx="8229600" cy="292608"/>
          </a:xfrm>
          <a:prstGeom prst="rect">
            <a:avLst/>
          </a:prstGeom>
          <a:solidFill>
            <a:srgbClr val="FFFFFF"/>
          </a:solidFill>
          <a:ln/>
        </p:spPr>
      </p:sp>
      <p:sp>
        <p:nvSpPr>
          <p:cNvPr id="25" name="Text 23"/>
          <p:cNvSpPr/>
          <p:nvPr/>
        </p:nvSpPr>
        <p:spPr>
          <a:xfrm>
            <a:off x="548640" y="3200400"/>
            <a:ext cx="1828800" cy="256032"/>
          </a:xfrm>
          <a:prstGeom prst="rect">
            <a:avLst/>
          </a:prstGeom>
          <a:noFill/>
          <a:ln/>
        </p:spPr>
        <p:txBody>
          <a:bodyPr wrap="square" lIns="0" tIns="0" rIns="0" bIns="0" rtlCol="0" anchor="ctr"/>
          <a:lstStyle/>
          <a:p>
            <a:pPr algn="l" indent="0" marL="0">
              <a:buNone/>
            </a:pPr>
            <a:r>
              <a:rPr lang="en-US" sz="950" b="1" dirty="0">
                <a:solidFill>
                  <a:srgbClr val="0F3460"/>
                </a:solidFill>
                <a:latin typeface="Helvetica Neue" pitchFamily="34" charset="0"/>
                <a:ea typeface="Helvetica Neue" pitchFamily="34" charset="-122"/>
                <a:cs typeface="Helvetica Neue" pitchFamily="34" charset="-120"/>
              </a:rPr>
              <a:t>🟢 VIGILANCE</a:t>
            </a:r>
            <a:endParaRPr lang="en-US" sz="950" dirty="0"/>
          </a:p>
        </p:txBody>
      </p:sp>
      <p:sp>
        <p:nvSpPr>
          <p:cNvPr id="26" name="Text 24"/>
          <p:cNvSpPr/>
          <p:nvPr/>
        </p:nvSpPr>
        <p:spPr>
          <a:xfrm>
            <a:off x="2468880" y="3200400"/>
            <a:ext cx="2743200" cy="256032"/>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0 KIIs in threshold</a:t>
            </a:r>
            <a:endParaRPr lang="en-US" sz="950" dirty="0"/>
          </a:p>
        </p:txBody>
      </p:sp>
      <p:sp>
        <p:nvSpPr>
          <p:cNvPr id="27" name="Text 25"/>
          <p:cNvSpPr/>
          <p:nvPr/>
        </p:nvSpPr>
        <p:spPr>
          <a:xfrm>
            <a:off x="5303520" y="3200400"/>
            <a:ext cx="3291840" cy="25603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Routine monitoring</a:t>
            </a:r>
            <a:endParaRPr lang="en-US" sz="950" dirty="0"/>
          </a:p>
        </p:txBody>
      </p:sp>
      <p:sp>
        <p:nvSpPr>
          <p:cNvPr id="28" name="Shape 26"/>
          <p:cNvSpPr/>
          <p:nvPr/>
        </p:nvSpPr>
        <p:spPr>
          <a:xfrm>
            <a:off x="457200" y="3502152"/>
            <a:ext cx="8229600" cy="292608"/>
          </a:xfrm>
          <a:prstGeom prst="rect">
            <a:avLst/>
          </a:prstGeom>
          <a:solidFill>
            <a:srgbClr val="E8EAED"/>
          </a:solidFill>
          <a:ln/>
        </p:spPr>
      </p:sp>
      <p:sp>
        <p:nvSpPr>
          <p:cNvPr id="29" name="Text 27"/>
          <p:cNvSpPr/>
          <p:nvPr/>
        </p:nvSpPr>
        <p:spPr>
          <a:xfrm>
            <a:off x="548640" y="3520440"/>
            <a:ext cx="1828800" cy="256032"/>
          </a:xfrm>
          <a:prstGeom prst="rect">
            <a:avLst/>
          </a:prstGeom>
          <a:noFill/>
          <a:ln/>
        </p:spPr>
        <p:txBody>
          <a:bodyPr wrap="square" lIns="0" tIns="0" rIns="0" bIns="0" rtlCol="0" anchor="ctr"/>
          <a:lstStyle/>
          <a:p>
            <a:pPr algn="l" indent="0" marL="0">
              <a:buNone/>
            </a:pPr>
            <a:r>
              <a:rPr lang="en-US" sz="950" b="1" dirty="0">
                <a:solidFill>
                  <a:srgbClr val="0F3460"/>
                </a:solidFill>
                <a:latin typeface="Helvetica Neue" pitchFamily="34" charset="0"/>
                <a:ea typeface="Helvetica Neue" pitchFamily="34" charset="-122"/>
                <a:cs typeface="Helvetica Neue" pitchFamily="34" charset="-120"/>
              </a:rPr>
              <a:t>🟡 ALERT</a:t>
            </a:r>
            <a:endParaRPr lang="en-US" sz="950" dirty="0"/>
          </a:p>
        </p:txBody>
      </p:sp>
      <p:sp>
        <p:nvSpPr>
          <p:cNvPr id="30" name="Text 28"/>
          <p:cNvSpPr/>
          <p:nvPr/>
        </p:nvSpPr>
        <p:spPr>
          <a:xfrm>
            <a:off x="2468880" y="3520440"/>
            <a:ext cx="2743200" cy="256032"/>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1 KII YELLOW</a:t>
            </a:r>
            <a:endParaRPr lang="en-US" sz="950" dirty="0"/>
          </a:p>
        </p:txBody>
      </p:sp>
      <p:sp>
        <p:nvSpPr>
          <p:cNvPr id="31" name="Text 29"/>
          <p:cNvSpPr/>
          <p:nvPr/>
        </p:nvSpPr>
        <p:spPr>
          <a:xfrm>
            <a:off x="5303520" y="3520440"/>
            <a:ext cx="3291840" cy="25603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KIT review in 5 business days</a:t>
            </a:r>
            <a:endParaRPr lang="en-US" sz="950" dirty="0"/>
          </a:p>
        </p:txBody>
      </p:sp>
      <p:sp>
        <p:nvSpPr>
          <p:cNvPr id="32" name="Shape 30"/>
          <p:cNvSpPr/>
          <p:nvPr/>
        </p:nvSpPr>
        <p:spPr>
          <a:xfrm>
            <a:off x="457200" y="3822192"/>
            <a:ext cx="8229600" cy="292608"/>
          </a:xfrm>
          <a:prstGeom prst="rect">
            <a:avLst/>
          </a:prstGeom>
          <a:solidFill>
            <a:srgbClr val="FFFFFF"/>
          </a:solidFill>
          <a:ln/>
        </p:spPr>
      </p:sp>
      <p:sp>
        <p:nvSpPr>
          <p:cNvPr id="33" name="Text 31"/>
          <p:cNvSpPr/>
          <p:nvPr/>
        </p:nvSpPr>
        <p:spPr>
          <a:xfrm>
            <a:off x="548640" y="3840480"/>
            <a:ext cx="1828800" cy="256032"/>
          </a:xfrm>
          <a:prstGeom prst="rect">
            <a:avLst/>
          </a:prstGeom>
          <a:noFill/>
          <a:ln/>
        </p:spPr>
        <p:txBody>
          <a:bodyPr wrap="square" lIns="0" tIns="0" rIns="0" bIns="0" rtlCol="0" anchor="ctr"/>
          <a:lstStyle/>
          <a:p>
            <a:pPr algn="l" indent="0" marL="0">
              <a:buNone/>
            </a:pPr>
            <a:r>
              <a:rPr lang="en-US" sz="950" b="1" dirty="0">
                <a:solidFill>
                  <a:srgbClr val="0F3460"/>
                </a:solidFill>
                <a:latin typeface="Helvetica Neue" pitchFamily="34" charset="0"/>
                <a:ea typeface="Helvetica Neue" pitchFamily="34" charset="-122"/>
                <a:cs typeface="Helvetica Neue" pitchFamily="34" charset="-120"/>
              </a:rPr>
              <a:t>🔴 ESCALATED</a:t>
            </a:r>
            <a:endParaRPr lang="en-US" sz="950" dirty="0"/>
          </a:p>
        </p:txBody>
      </p:sp>
      <p:sp>
        <p:nvSpPr>
          <p:cNvPr id="34" name="Text 32"/>
          <p:cNvSpPr/>
          <p:nvPr/>
        </p:nvSpPr>
        <p:spPr>
          <a:xfrm>
            <a:off x="2468880" y="3840480"/>
            <a:ext cx="2743200" cy="256032"/>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1 KII RED</a:t>
            </a:r>
            <a:endParaRPr lang="en-US" sz="950" dirty="0"/>
          </a:p>
        </p:txBody>
      </p:sp>
      <p:sp>
        <p:nvSpPr>
          <p:cNvPr id="35" name="Text 33"/>
          <p:cNvSpPr/>
          <p:nvPr/>
        </p:nvSpPr>
        <p:spPr>
          <a:xfrm>
            <a:off x="5303520" y="3840480"/>
            <a:ext cx="3291840" cy="25603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Report to management in 72h</a:t>
            </a:r>
            <a:endParaRPr lang="en-US" sz="950" dirty="0"/>
          </a:p>
        </p:txBody>
      </p:sp>
      <p:sp>
        <p:nvSpPr>
          <p:cNvPr id="36" name="Shape 34"/>
          <p:cNvSpPr/>
          <p:nvPr/>
        </p:nvSpPr>
        <p:spPr>
          <a:xfrm>
            <a:off x="457200" y="4142232"/>
            <a:ext cx="8229600" cy="292608"/>
          </a:xfrm>
          <a:prstGeom prst="rect">
            <a:avLst/>
          </a:prstGeom>
          <a:solidFill>
            <a:srgbClr val="E8EAED"/>
          </a:solidFill>
          <a:ln/>
        </p:spPr>
      </p:sp>
      <p:sp>
        <p:nvSpPr>
          <p:cNvPr id="37" name="Text 35"/>
          <p:cNvSpPr/>
          <p:nvPr/>
        </p:nvSpPr>
        <p:spPr>
          <a:xfrm>
            <a:off x="548640" y="4160520"/>
            <a:ext cx="1828800" cy="256032"/>
          </a:xfrm>
          <a:prstGeom prst="rect">
            <a:avLst/>
          </a:prstGeom>
          <a:noFill/>
          <a:ln/>
        </p:spPr>
        <p:txBody>
          <a:bodyPr wrap="square" lIns="0" tIns="0" rIns="0" bIns="0" rtlCol="0" anchor="ctr"/>
          <a:lstStyle/>
          <a:p>
            <a:pPr algn="l" indent="0" marL="0">
              <a:buNone/>
            </a:pPr>
            <a:r>
              <a:rPr lang="en-US" sz="950" b="1" dirty="0">
                <a:solidFill>
                  <a:srgbClr val="0F3460"/>
                </a:solidFill>
                <a:latin typeface="Helvetica Neue" pitchFamily="34" charset="0"/>
                <a:ea typeface="Helvetica Neue" pitchFamily="34" charset="-122"/>
                <a:cs typeface="Helvetica Neue" pitchFamily="34" charset="-120"/>
              </a:rPr>
              <a:t>🔴🔴 STRATEGIC REVIEW</a:t>
            </a:r>
            <a:endParaRPr lang="en-US" sz="950" dirty="0"/>
          </a:p>
        </p:txBody>
      </p:sp>
      <p:sp>
        <p:nvSpPr>
          <p:cNvPr id="38" name="Text 36"/>
          <p:cNvSpPr/>
          <p:nvPr/>
        </p:nvSpPr>
        <p:spPr>
          <a:xfrm>
            <a:off x="2468880" y="4160520"/>
            <a:ext cx="2743200" cy="256032"/>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≥2 KIIs RED</a:t>
            </a:r>
            <a:endParaRPr lang="en-US" sz="950" dirty="0"/>
          </a:p>
        </p:txBody>
      </p:sp>
      <p:sp>
        <p:nvSpPr>
          <p:cNvPr id="39" name="Text 37"/>
          <p:cNvSpPr/>
          <p:nvPr/>
        </p:nvSpPr>
        <p:spPr>
          <a:xfrm>
            <a:off x="5303520" y="4160520"/>
            <a:ext cx="3291840" cy="25603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Decision committee in 48h</a:t>
            </a:r>
            <a:endParaRPr lang="en-US" sz="950" dirty="0"/>
          </a:p>
        </p:txBody>
      </p:sp>
      <p:sp>
        <p:nvSpPr>
          <p:cNvPr id="40" name="Shape 38"/>
          <p:cNvSpPr/>
          <p:nvPr/>
        </p:nvSpPr>
        <p:spPr>
          <a:xfrm>
            <a:off x="457200" y="4462272"/>
            <a:ext cx="8229600" cy="292608"/>
          </a:xfrm>
          <a:prstGeom prst="rect">
            <a:avLst/>
          </a:prstGeom>
          <a:solidFill>
            <a:srgbClr val="FFFFFF"/>
          </a:solidFill>
          <a:ln/>
        </p:spPr>
      </p:sp>
      <p:sp>
        <p:nvSpPr>
          <p:cNvPr id="41" name="Text 39"/>
          <p:cNvSpPr/>
          <p:nvPr/>
        </p:nvSpPr>
        <p:spPr>
          <a:xfrm>
            <a:off x="548640" y="4480560"/>
            <a:ext cx="1828800" cy="256032"/>
          </a:xfrm>
          <a:prstGeom prst="rect">
            <a:avLst/>
          </a:prstGeom>
          <a:noFill/>
          <a:ln/>
        </p:spPr>
        <p:txBody>
          <a:bodyPr wrap="square" lIns="0" tIns="0" rIns="0" bIns="0" rtlCol="0" anchor="ctr"/>
          <a:lstStyle/>
          <a:p>
            <a:pPr algn="l" indent="0" marL="0">
              <a:buNone/>
            </a:pPr>
            <a:r>
              <a:rPr lang="en-US" sz="950" b="1" dirty="0">
                <a:solidFill>
                  <a:srgbClr val="0F3460"/>
                </a:solidFill>
                <a:latin typeface="Helvetica Neue" pitchFamily="34" charset="0"/>
                <a:ea typeface="Helvetica Neue" pitchFamily="34" charset="-122"/>
                <a:cs typeface="Helvetica Neue" pitchFamily="34" charset="-120"/>
              </a:rPr>
              <a:t>🚨 STOP CAPEX</a:t>
            </a:r>
            <a:endParaRPr lang="en-US" sz="950" dirty="0"/>
          </a:p>
        </p:txBody>
      </p:sp>
      <p:sp>
        <p:nvSpPr>
          <p:cNvPr id="42" name="Text 40"/>
          <p:cNvSpPr/>
          <p:nvPr/>
        </p:nvSpPr>
        <p:spPr>
          <a:xfrm>
            <a:off x="2468880" y="4480560"/>
            <a:ext cx="2743200" cy="256032"/>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≥3 KIIs RED</a:t>
            </a:r>
            <a:endParaRPr lang="en-US" sz="950" dirty="0"/>
          </a:p>
        </p:txBody>
      </p:sp>
      <p:sp>
        <p:nvSpPr>
          <p:cNvPr id="43" name="Text 41"/>
          <p:cNvSpPr/>
          <p:nvPr/>
        </p:nvSpPr>
        <p:spPr>
          <a:xfrm>
            <a:off x="5303520" y="4480560"/>
            <a:ext cx="3291840" cy="256032"/>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Immediate CapEx suspension</a:t>
            </a:r>
            <a:endParaRPr lang="en-US" sz="950" dirty="0"/>
          </a:p>
        </p:txBody>
      </p:sp>
      <p:sp>
        <p:nvSpPr>
          <p:cNvPr id="44" name="Text 42"/>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00" dirty="0">
                <a:solidFill>
                  <a:srgbClr val="9AA0A6"/>
                </a:solidFill>
                <a:latin typeface="Helvetica Neue" pitchFamily="34" charset="0"/>
                <a:ea typeface="Helvetica Neue" pitchFamily="34" charset="-122"/>
                <a:cs typeface="Helvetica Neue" pitchFamily="34" charset="-120"/>
              </a:rPr>
              <a:t>Framework: KITs → KIIs (Gilad, TN03) · Weak Signal Detection · ABP Signposts</a:t>
            </a:r>
            <a:endParaRPr lang="en-US" sz="800" dirty="0"/>
          </a:p>
        </p:txBody>
      </p:sp>
      <p:sp>
        <p:nvSpPr>
          <p:cNvPr id="45" name="Text 43"/>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737360" cy="201168"/>
          </a:xfrm>
          <a:prstGeom prst="rect">
            <a:avLst/>
          </a:prstGeom>
          <a:solidFill>
            <a:srgbClr val="0F3460"/>
          </a:solidFill>
          <a:ln/>
        </p:spPr>
      </p:sp>
      <p:sp>
        <p:nvSpPr>
          <p:cNvPr id="3" name="Text 1"/>
          <p:cNvSpPr/>
          <p:nvPr/>
        </p:nvSpPr>
        <p:spPr>
          <a:xfrm>
            <a:off x="457200" y="201168"/>
            <a:ext cx="1737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Helvetica Neue" pitchFamily="34" charset="0"/>
                <a:ea typeface="Helvetica Neue" pitchFamily="34" charset="-122"/>
                <a:cs typeface="Helvetica Neue" pitchFamily="34" charset="-120"/>
              </a:rPr>
              <a:t>PHASE 5 · STRATEGY EXECUTION</a:t>
            </a:r>
            <a:endParaRPr lang="en-US" sz="750" dirty="0"/>
          </a:p>
        </p:txBody>
      </p:sp>
      <p:sp>
        <p:nvSpPr>
          <p:cNvPr id="4" name="Text 2"/>
          <p:cNvSpPr/>
          <p:nvPr/>
        </p:nvSpPr>
        <p:spPr>
          <a:xfrm>
            <a:off x="457200" y="493776"/>
            <a:ext cx="8229600" cy="438912"/>
          </a:xfrm>
          <a:prstGeom prst="rect">
            <a:avLst/>
          </a:prstGeom>
          <a:noFill/>
          <a:ln/>
        </p:spPr>
        <p:txBody>
          <a:bodyPr wrap="square" lIns="0" tIns="0" rIns="0" bIns="0" rtlCol="0" anchor="ctr"/>
          <a:lstStyle/>
          <a:p>
            <a:pPr algn="l" indent="0" marL="0">
              <a:buNone/>
            </a:pPr>
            <a:r>
              <a:rPr lang="en-US" sz="2400" b="1" dirty="0">
                <a:solidFill>
                  <a:srgbClr val="0F3460"/>
                </a:solidFill>
                <a:latin typeface="Helvetica Neue" pitchFamily="34" charset="0"/>
                <a:ea typeface="Helvetica Neue" pitchFamily="34" charset="-122"/>
                <a:cs typeface="Helvetica Neue" pitchFamily="34" charset="-120"/>
              </a:rPr>
              <a:t>GO Conditions · Shaping · Hedging Actions</a:t>
            </a:r>
            <a:endParaRPr lang="en-US" sz="2400" dirty="0"/>
          </a:p>
        </p:txBody>
      </p:sp>
      <p:sp>
        <p:nvSpPr>
          <p:cNvPr id="5" name="Shape 3"/>
          <p:cNvSpPr/>
          <p:nvPr/>
        </p:nvSpPr>
        <p:spPr>
          <a:xfrm>
            <a:off x="457200" y="969264"/>
            <a:ext cx="8229600" cy="0"/>
          </a:xfrm>
          <a:prstGeom prst="line">
            <a:avLst/>
          </a:prstGeom>
          <a:noFill/>
          <a:ln w="12700">
            <a:solidFill>
              <a:srgbClr val="0F3460"/>
            </a:solidFill>
            <a:prstDash val="solid"/>
          </a:ln>
        </p:spPr>
      </p:sp>
      <p:sp>
        <p:nvSpPr>
          <p:cNvPr id="6" name="Text 4"/>
          <p:cNvSpPr/>
          <p:nvPr/>
        </p:nvSpPr>
        <p:spPr>
          <a:xfrm>
            <a:off x="457200" y="1042416"/>
            <a:ext cx="8229600" cy="237744"/>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4 Load-Bearing GO Conditions (all must be met before CapEx)</a:t>
            </a:r>
            <a:endParaRPr lang="en-US" sz="1100" dirty="0"/>
          </a:p>
        </p:txBody>
      </p:sp>
      <p:sp>
        <p:nvSpPr>
          <p:cNvPr id="7" name="Shape 5"/>
          <p:cNvSpPr/>
          <p:nvPr/>
        </p:nvSpPr>
        <p:spPr>
          <a:xfrm>
            <a:off x="457200" y="1316736"/>
            <a:ext cx="8229600" cy="365760"/>
          </a:xfrm>
          <a:prstGeom prst="rect">
            <a:avLst/>
          </a:prstGeom>
          <a:solidFill>
            <a:srgbClr val="FAFAFA"/>
          </a:solidFill>
          <a:ln/>
        </p:spPr>
      </p:sp>
      <p:sp>
        <p:nvSpPr>
          <p:cNvPr id="8" name="Shape 6"/>
          <p:cNvSpPr/>
          <p:nvPr/>
        </p:nvSpPr>
        <p:spPr>
          <a:xfrm>
            <a:off x="457200" y="1316736"/>
            <a:ext cx="402336" cy="365760"/>
          </a:xfrm>
          <a:prstGeom prst="rect">
            <a:avLst/>
          </a:prstGeom>
          <a:solidFill>
            <a:srgbClr val="0F3460"/>
          </a:solidFill>
          <a:ln/>
        </p:spPr>
      </p:sp>
      <p:sp>
        <p:nvSpPr>
          <p:cNvPr id="9" name="Text 7"/>
          <p:cNvSpPr/>
          <p:nvPr/>
        </p:nvSpPr>
        <p:spPr>
          <a:xfrm>
            <a:off x="457200" y="1316736"/>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C1</a:t>
            </a:r>
            <a:endParaRPr lang="en-US" sz="1000" dirty="0"/>
          </a:p>
        </p:txBody>
      </p:sp>
      <p:sp>
        <p:nvSpPr>
          <p:cNvPr id="10" name="Text 8"/>
          <p:cNvSpPr/>
          <p:nvPr/>
        </p:nvSpPr>
        <p:spPr>
          <a:xfrm>
            <a:off x="950976" y="1335024"/>
            <a:ext cx="7589520" cy="329184"/>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Sanitas guarantees ≥20% capacity derivation → ensures ≥65% occupancy Year 3</a:t>
            </a:r>
            <a:endParaRPr lang="en-US" sz="1000" dirty="0"/>
          </a:p>
        </p:txBody>
      </p:sp>
      <p:sp>
        <p:nvSpPr>
          <p:cNvPr id="11" name="Shape 9"/>
          <p:cNvSpPr/>
          <p:nvPr/>
        </p:nvSpPr>
        <p:spPr>
          <a:xfrm>
            <a:off x="457200" y="1719072"/>
            <a:ext cx="8229600" cy="365760"/>
          </a:xfrm>
          <a:prstGeom prst="rect">
            <a:avLst/>
          </a:prstGeom>
          <a:solidFill>
            <a:srgbClr val="FFFFFF"/>
          </a:solidFill>
          <a:ln/>
        </p:spPr>
      </p:sp>
      <p:sp>
        <p:nvSpPr>
          <p:cNvPr id="12" name="Shape 10"/>
          <p:cNvSpPr/>
          <p:nvPr/>
        </p:nvSpPr>
        <p:spPr>
          <a:xfrm>
            <a:off x="457200" y="1719072"/>
            <a:ext cx="402336" cy="365760"/>
          </a:xfrm>
          <a:prstGeom prst="rect">
            <a:avLst/>
          </a:prstGeom>
          <a:solidFill>
            <a:srgbClr val="0F3460"/>
          </a:solidFill>
          <a:ln/>
        </p:spPr>
      </p:sp>
      <p:sp>
        <p:nvSpPr>
          <p:cNvPr id="13" name="Text 11"/>
          <p:cNvSpPr/>
          <p:nvPr/>
        </p:nvSpPr>
        <p:spPr>
          <a:xfrm>
            <a:off x="457200" y="1719072"/>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C2</a:t>
            </a:r>
            <a:endParaRPr lang="en-US" sz="1000" dirty="0"/>
          </a:p>
        </p:txBody>
      </p:sp>
      <p:sp>
        <p:nvSpPr>
          <p:cNvPr id="14" name="Text 12"/>
          <p:cNvSpPr/>
          <p:nvPr/>
        </p:nvSpPr>
        <p:spPr>
          <a:xfrm>
            <a:off x="950976" y="1737360"/>
            <a:ext cx="7589520" cy="329184"/>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BUPA finances 40% as corporate debt (rating A) → WACC drops from 12% to 8-10%</a:t>
            </a:r>
            <a:endParaRPr lang="en-US" sz="1000" dirty="0"/>
          </a:p>
        </p:txBody>
      </p:sp>
      <p:sp>
        <p:nvSpPr>
          <p:cNvPr id="15" name="Shape 13"/>
          <p:cNvSpPr/>
          <p:nvPr/>
        </p:nvSpPr>
        <p:spPr>
          <a:xfrm>
            <a:off x="457200" y="2121408"/>
            <a:ext cx="8229600" cy="365760"/>
          </a:xfrm>
          <a:prstGeom prst="rect">
            <a:avLst/>
          </a:prstGeom>
          <a:solidFill>
            <a:srgbClr val="FAFAFA"/>
          </a:solidFill>
          <a:ln/>
        </p:spPr>
      </p:sp>
      <p:sp>
        <p:nvSpPr>
          <p:cNvPr id="16" name="Shape 14"/>
          <p:cNvSpPr/>
          <p:nvPr/>
        </p:nvSpPr>
        <p:spPr>
          <a:xfrm>
            <a:off x="457200" y="2121408"/>
            <a:ext cx="402336" cy="365760"/>
          </a:xfrm>
          <a:prstGeom prst="rect">
            <a:avLst/>
          </a:prstGeom>
          <a:solidFill>
            <a:srgbClr val="0F3460"/>
          </a:solidFill>
          <a:ln/>
        </p:spPr>
      </p:sp>
      <p:sp>
        <p:nvSpPr>
          <p:cNvPr id="17" name="Text 15"/>
          <p:cNvSpPr/>
          <p:nvPr/>
        </p:nvSpPr>
        <p:spPr>
          <a:xfrm>
            <a:off x="457200" y="2121408"/>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C3</a:t>
            </a:r>
            <a:endParaRPr lang="en-US" sz="1000" dirty="0"/>
          </a:p>
        </p:txBody>
      </p:sp>
      <p:sp>
        <p:nvSpPr>
          <p:cNvPr id="18" name="Text 16"/>
          <p:cNvSpPr/>
          <p:nvPr/>
        </p:nvSpPr>
        <p:spPr>
          <a:xfrm>
            <a:off x="950976" y="2139696"/>
            <a:ext cx="7589520" cy="329184"/>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Pre-agreement with CCAA Madrid health authority BEFORE construction starts</a:t>
            </a:r>
            <a:endParaRPr lang="en-US" sz="1000" dirty="0"/>
          </a:p>
        </p:txBody>
      </p:sp>
      <p:sp>
        <p:nvSpPr>
          <p:cNvPr id="19" name="Shape 17"/>
          <p:cNvSpPr/>
          <p:nvPr/>
        </p:nvSpPr>
        <p:spPr>
          <a:xfrm>
            <a:off x="457200" y="2523744"/>
            <a:ext cx="8229600" cy="365760"/>
          </a:xfrm>
          <a:prstGeom prst="rect">
            <a:avLst/>
          </a:prstGeom>
          <a:solidFill>
            <a:srgbClr val="FFFFFF"/>
          </a:solidFill>
          <a:ln/>
        </p:spPr>
      </p:sp>
      <p:sp>
        <p:nvSpPr>
          <p:cNvPr id="20" name="Shape 18"/>
          <p:cNvSpPr/>
          <p:nvPr/>
        </p:nvSpPr>
        <p:spPr>
          <a:xfrm>
            <a:off x="457200" y="2523744"/>
            <a:ext cx="402336" cy="365760"/>
          </a:xfrm>
          <a:prstGeom prst="rect">
            <a:avLst/>
          </a:prstGeom>
          <a:solidFill>
            <a:srgbClr val="0F3460"/>
          </a:solidFill>
          <a:ln/>
        </p:spPr>
      </p:sp>
      <p:sp>
        <p:nvSpPr>
          <p:cNvPr id="21" name="Text 19"/>
          <p:cNvSpPr/>
          <p:nvPr/>
        </p:nvSpPr>
        <p:spPr>
          <a:xfrm>
            <a:off x="457200" y="252374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Helvetica Neue" pitchFamily="34" charset="0"/>
                <a:ea typeface="Helvetica Neue" pitchFamily="34" charset="-122"/>
                <a:cs typeface="Helvetica Neue" pitchFamily="34" charset="-120"/>
              </a:rPr>
              <a:t>C4</a:t>
            </a:r>
            <a:endParaRPr lang="en-US" sz="1000" dirty="0"/>
          </a:p>
        </p:txBody>
      </p:sp>
      <p:sp>
        <p:nvSpPr>
          <p:cNvPr id="22" name="Text 20"/>
          <p:cNvSpPr/>
          <p:nvPr/>
        </p:nvSpPr>
        <p:spPr>
          <a:xfrm>
            <a:off x="950976" y="2542032"/>
            <a:ext cx="7589520" cy="329184"/>
          </a:xfrm>
          <a:prstGeom prst="rect">
            <a:avLst/>
          </a:prstGeom>
          <a:noFill/>
          <a:ln/>
        </p:spPr>
        <p:txBody>
          <a:bodyPr wrap="square" lIns="0" tIns="0" rIns="0" bIns="0" rtlCol="0" anchor="ctr"/>
          <a:lstStyle/>
          <a:p>
            <a:pPr algn="l" indent="0" marL="0">
              <a:buNone/>
            </a:pPr>
            <a:r>
              <a:rPr lang="en-US" sz="1000" dirty="0">
                <a:solidFill>
                  <a:srgbClr val="0B0B0F"/>
                </a:solidFill>
                <a:latin typeface="Helvetica Neue" pitchFamily="34" charset="0"/>
                <a:ea typeface="Helvetica Neue" pitchFamily="34" charset="-122"/>
                <a:cs typeface="Helvetica Neue" pitchFamily="34" charset="-120"/>
              </a:rPr>
              <a:t>Exit clause: BUPA option to buy 60% of JV at book value if Scenario D materialises → caps 50D loss at -€8M</a:t>
            </a:r>
            <a:endParaRPr lang="en-US" sz="1000" dirty="0"/>
          </a:p>
        </p:txBody>
      </p:sp>
      <p:sp>
        <p:nvSpPr>
          <p:cNvPr id="23" name="Shape 21"/>
          <p:cNvSpPr/>
          <p:nvPr/>
        </p:nvSpPr>
        <p:spPr>
          <a:xfrm>
            <a:off x="4535424" y="2980944"/>
            <a:ext cx="0" cy="1920240"/>
          </a:xfrm>
          <a:prstGeom prst="line">
            <a:avLst/>
          </a:prstGeom>
          <a:noFill/>
          <a:ln w="9525">
            <a:solidFill>
              <a:srgbClr val="9AA0A6"/>
            </a:solidFill>
            <a:prstDash val="solid"/>
          </a:ln>
        </p:spPr>
      </p:sp>
      <p:sp>
        <p:nvSpPr>
          <p:cNvPr id="24" name="Text 22"/>
          <p:cNvSpPr/>
          <p:nvPr/>
        </p:nvSpPr>
        <p:spPr>
          <a:xfrm>
            <a:off x="457200" y="3017520"/>
            <a:ext cx="3931920" cy="237744"/>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Shaping Actions (shape the environment)</a:t>
            </a:r>
            <a:endParaRPr lang="en-US" sz="1100" dirty="0"/>
          </a:p>
        </p:txBody>
      </p:sp>
      <p:sp>
        <p:nvSpPr>
          <p:cNvPr id="25" name="Shape 23"/>
          <p:cNvSpPr/>
          <p:nvPr/>
        </p:nvSpPr>
        <p:spPr>
          <a:xfrm>
            <a:off x="457200" y="3310128"/>
            <a:ext cx="3931920" cy="347472"/>
          </a:xfrm>
          <a:prstGeom prst="rect">
            <a:avLst/>
          </a:prstGeom>
          <a:solidFill>
            <a:srgbClr val="E3F2FD"/>
          </a:solidFill>
          <a:ln/>
        </p:spPr>
      </p:sp>
      <p:sp>
        <p:nvSpPr>
          <p:cNvPr id="26" name="Text 24"/>
          <p:cNvSpPr/>
          <p:nvPr/>
        </p:nvSpPr>
        <p:spPr>
          <a:xfrm>
            <a:off x="548640" y="3328416"/>
            <a:ext cx="365760" cy="292608"/>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S1</a:t>
            </a:r>
            <a:endParaRPr lang="en-US" sz="1000" dirty="0"/>
          </a:p>
        </p:txBody>
      </p:sp>
      <p:sp>
        <p:nvSpPr>
          <p:cNvPr id="27" name="Text 25"/>
          <p:cNvSpPr/>
          <p:nvPr/>
        </p:nvSpPr>
        <p:spPr>
          <a:xfrm>
            <a:off x="987552" y="3328416"/>
            <a:ext cx="3291840" cy="29260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CEO-to-CEO Sanitas within 30 days (before public announcement)</a:t>
            </a:r>
            <a:endParaRPr lang="en-US" sz="950" dirty="0"/>
          </a:p>
        </p:txBody>
      </p:sp>
      <p:sp>
        <p:nvSpPr>
          <p:cNvPr id="28" name="Shape 26"/>
          <p:cNvSpPr/>
          <p:nvPr/>
        </p:nvSpPr>
        <p:spPr>
          <a:xfrm>
            <a:off x="457200" y="3694176"/>
            <a:ext cx="3931920" cy="347472"/>
          </a:xfrm>
          <a:prstGeom prst="rect">
            <a:avLst/>
          </a:prstGeom>
          <a:solidFill>
            <a:srgbClr val="FFFFFF"/>
          </a:solidFill>
          <a:ln/>
        </p:spPr>
      </p:sp>
      <p:sp>
        <p:nvSpPr>
          <p:cNvPr id="29" name="Text 27"/>
          <p:cNvSpPr/>
          <p:nvPr/>
        </p:nvSpPr>
        <p:spPr>
          <a:xfrm>
            <a:off x="548640" y="3712464"/>
            <a:ext cx="365760" cy="292608"/>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S2</a:t>
            </a:r>
            <a:endParaRPr lang="en-US" sz="1000" dirty="0"/>
          </a:p>
        </p:txBody>
      </p:sp>
      <p:sp>
        <p:nvSpPr>
          <p:cNvPr id="30" name="Text 28"/>
          <p:cNvSpPr/>
          <p:nvPr/>
        </p:nvSpPr>
        <p:spPr>
          <a:xfrm>
            <a:off x="987552" y="3712464"/>
            <a:ext cx="3291840" cy="29260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Activate LATAM medical tourism pipeline — demonstrate €12M/yr differential</a:t>
            </a:r>
            <a:endParaRPr lang="en-US" sz="950" dirty="0"/>
          </a:p>
        </p:txBody>
      </p:sp>
      <p:sp>
        <p:nvSpPr>
          <p:cNvPr id="31" name="Shape 29"/>
          <p:cNvSpPr/>
          <p:nvPr/>
        </p:nvSpPr>
        <p:spPr>
          <a:xfrm>
            <a:off x="457200" y="4078224"/>
            <a:ext cx="3931920" cy="347472"/>
          </a:xfrm>
          <a:prstGeom prst="rect">
            <a:avLst/>
          </a:prstGeom>
          <a:solidFill>
            <a:srgbClr val="E3F2FD"/>
          </a:solidFill>
          <a:ln/>
        </p:spPr>
      </p:sp>
      <p:sp>
        <p:nvSpPr>
          <p:cNvPr id="32" name="Text 30"/>
          <p:cNvSpPr/>
          <p:nvPr/>
        </p:nvSpPr>
        <p:spPr>
          <a:xfrm>
            <a:off x="548640" y="4096512"/>
            <a:ext cx="365760" cy="292608"/>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S3</a:t>
            </a:r>
            <a:endParaRPr lang="en-US" sz="1000" dirty="0"/>
          </a:p>
        </p:txBody>
      </p:sp>
      <p:sp>
        <p:nvSpPr>
          <p:cNvPr id="33" name="Text 31"/>
          <p:cNvSpPr/>
          <p:nvPr/>
        </p:nvSpPr>
        <p:spPr>
          <a:xfrm>
            <a:off x="987552" y="4096512"/>
            <a:ext cx="3291840" cy="29260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Speak at FNSP + UNESPA 2026: position 50D as model for insurer community</a:t>
            </a:r>
            <a:endParaRPr lang="en-US" sz="950" dirty="0"/>
          </a:p>
        </p:txBody>
      </p:sp>
      <p:sp>
        <p:nvSpPr>
          <p:cNvPr id="34" name="Shape 32"/>
          <p:cNvSpPr/>
          <p:nvPr/>
        </p:nvSpPr>
        <p:spPr>
          <a:xfrm>
            <a:off x="457200" y="4462272"/>
            <a:ext cx="3931920" cy="347472"/>
          </a:xfrm>
          <a:prstGeom prst="rect">
            <a:avLst/>
          </a:prstGeom>
          <a:solidFill>
            <a:srgbClr val="FFFFFF"/>
          </a:solidFill>
          <a:ln/>
        </p:spPr>
      </p:sp>
      <p:sp>
        <p:nvSpPr>
          <p:cNvPr id="35" name="Text 33"/>
          <p:cNvSpPr/>
          <p:nvPr/>
        </p:nvSpPr>
        <p:spPr>
          <a:xfrm>
            <a:off x="548640" y="4480560"/>
            <a:ext cx="365760" cy="292608"/>
          </a:xfrm>
          <a:prstGeom prst="rect">
            <a:avLst/>
          </a:prstGeom>
          <a:noFill/>
          <a:ln/>
        </p:spPr>
        <p:txBody>
          <a:bodyPr wrap="square" lIns="0" tIns="0" rIns="0" bIns="0" rtlCol="0" anchor="ctr"/>
          <a:lstStyle/>
          <a:p>
            <a:pPr algn="ctr" indent="0" marL="0">
              <a:buNone/>
            </a:pPr>
            <a:r>
              <a:rPr lang="en-US" sz="1000" b="1" dirty="0">
                <a:solidFill>
                  <a:srgbClr val="0F3460"/>
                </a:solidFill>
                <a:latin typeface="Helvetica Neue" pitchFamily="34" charset="0"/>
                <a:ea typeface="Helvetica Neue" pitchFamily="34" charset="-122"/>
                <a:cs typeface="Helvetica Neue" pitchFamily="34" charset="-120"/>
              </a:rPr>
              <a:t>S4</a:t>
            </a:r>
            <a:endParaRPr lang="en-US" sz="1000" dirty="0"/>
          </a:p>
        </p:txBody>
      </p:sp>
      <p:sp>
        <p:nvSpPr>
          <p:cNvPr id="36" name="Text 34"/>
          <p:cNvSpPr/>
          <p:nvPr/>
        </p:nvSpPr>
        <p:spPr>
          <a:xfrm>
            <a:off x="987552" y="4480560"/>
            <a:ext cx="3291840" cy="29260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Relocate 30-50 Mexican doctors to Spain — neutralises political 'brain drain' argument</a:t>
            </a:r>
            <a:endParaRPr lang="en-US" sz="950" dirty="0"/>
          </a:p>
        </p:txBody>
      </p:sp>
      <p:sp>
        <p:nvSpPr>
          <p:cNvPr id="37" name="Text 35"/>
          <p:cNvSpPr/>
          <p:nvPr/>
        </p:nvSpPr>
        <p:spPr>
          <a:xfrm>
            <a:off x="4718304" y="3017520"/>
            <a:ext cx="3931920" cy="237744"/>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Hedging Actions (reduce exposure)</a:t>
            </a:r>
            <a:endParaRPr lang="en-US" sz="1100" dirty="0"/>
          </a:p>
        </p:txBody>
      </p:sp>
      <p:sp>
        <p:nvSpPr>
          <p:cNvPr id="38" name="Shape 36"/>
          <p:cNvSpPr/>
          <p:nvPr/>
        </p:nvSpPr>
        <p:spPr>
          <a:xfrm>
            <a:off x="4718304" y="3310128"/>
            <a:ext cx="3931920" cy="457200"/>
          </a:xfrm>
          <a:prstGeom prst="rect">
            <a:avLst/>
          </a:prstGeom>
          <a:solidFill>
            <a:srgbClr val="FFF3E0"/>
          </a:solidFill>
          <a:ln/>
        </p:spPr>
      </p:sp>
      <p:sp>
        <p:nvSpPr>
          <p:cNvPr id="39" name="Text 37"/>
          <p:cNvSpPr/>
          <p:nvPr/>
        </p:nvSpPr>
        <p:spPr>
          <a:xfrm>
            <a:off x="4809744" y="3328416"/>
            <a:ext cx="365760" cy="402336"/>
          </a:xfrm>
          <a:prstGeom prst="rect">
            <a:avLst/>
          </a:prstGeom>
          <a:noFill/>
          <a:ln/>
        </p:spPr>
        <p:txBody>
          <a:bodyPr wrap="square" lIns="0" tIns="0" rIns="0" bIns="0" rtlCol="0" anchor="ctr"/>
          <a:lstStyle/>
          <a:p>
            <a:pPr algn="ctr" indent="0" marL="0">
              <a:buNone/>
            </a:pPr>
            <a:r>
              <a:rPr lang="en-US" sz="1000" b="1" dirty="0">
                <a:solidFill>
                  <a:srgbClr val="B7791F"/>
                </a:solidFill>
                <a:latin typeface="Helvetica Neue" pitchFamily="34" charset="0"/>
                <a:ea typeface="Helvetica Neue" pitchFamily="34" charset="-122"/>
                <a:cs typeface="Helvetica Neue" pitchFamily="34" charset="-120"/>
              </a:rPr>
              <a:t>H1</a:t>
            </a:r>
            <a:endParaRPr lang="en-US" sz="1000" dirty="0"/>
          </a:p>
        </p:txBody>
      </p:sp>
      <p:sp>
        <p:nvSpPr>
          <p:cNvPr id="40" name="Text 38"/>
          <p:cNvSpPr/>
          <p:nvPr/>
        </p:nvSpPr>
        <p:spPr>
          <a:xfrm>
            <a:off x="5248656" y="3328416"/>
            <a:ext cx="3291840" cy="40233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Parallel talks with Adeslas as secondary (E[NPV] +€4.6M) — keeps optionality</a:t>
            </a:r>
            <a:endParaRPr lang="en-US" sz="950" dirty="0"/>
          </a:p>
        </p:txBody>
      </p:sp>
      <p:sp>
        <p:nvSpPr>
          <p:cNvPr id="41" name="Shape 39"/>
          <p:cNvSpPr/>
          <p:nvPr/>
        </p:nvSpPr>
        <p:spPr>
          <a:xfrm>
            <a:off x="4718304" y="3813048"/>
            <a:ext cx="3931920" cy="457200"/>
          </a:xfrm>
          <a:prstGeom prst="rect">
            <a:avLst/>
          </a:prstGeom>
          <a:solidFill>
            <a:srgbClr val="FFFFFF"/>
          </a:solidFill>
          <a:ln/>
        </p:spPr>
      </p:sp>
      <p:sp>
        <p:nvSpPr>
          <p:cNvPr id="42" name="Text 40"/>
          <p:cNvSpPr/>
          <p:nvPr/>
        </p:nvSpPr>
        <p:spPr>
          <a:xfrm>
            <a:off x="4809744" y="3831336"/>
            <a:ext cx="365760" cy="402336"/>
          </a:xfrm>
          <a:prstGeom prst="rect">
            <a:avLst/>
          </a:prstGeom>
          <a:noFill/>
          <a:ln/>
        </p:spPr>
        <p:txBody>
          <a:bodyPr wrap="square" lIns="0" tIns="0" rIns="0" bIns="0" rtlCol="0" anchor="ctr"/>
          <a:lstStyle/>
          <a:p>
            <a:pPr algn="ctr" indent="0" marL="0">
              <a:buNone/>
            </a:pPr>
            <a:r>
              <a:rPr lang="en-US" sz="1000" b="1" dirty="0">
                <a:solidFill>
                  <a:srgbClr val="B7791F"/>
                </a:solidFill>
                <a:latin typeface="Helvetica Neue" pitchFamily="34" charset="0"/>
                <a:ea typeface="Helvetica Neue" pitchFamily="34" charset="-122"/>
                <a:cs typeface="Helvetica Neue" pitchFamily="34" charset="-120"/>
              </a:rPr>
              <a:t>H2</a:t>
            </a:r>
            <a:endParaRPr lang="en-US" sz="1000" dirty="0"/>
          </a:p>
        </p:txBody>
      </p:sp>
      <p:sp>
        <p:nvSpPr>
          <p:cNvPr id="43" name="Text 41"/>
          <p:cNvSpPr/>
          <p:nvPr/>
        </p:nvSpPr>
        <p:spPr>
          <a:xfrm>
            <a:off x="5248656" y="3831336"/>
            <a:ext cx="3291840" cy="40233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Budget €2-3M in legal+regulatory DD before committing any CapEx</a:t>
            </a:r>
            <a:endParaRPr lang="en-US" sz="950" dirty="0"/>
          </a:p>
        </p:txBody>
      </p:sp>
      <p:sp>
        <p:nvSpPr>
          <p:cNvPr id="44" name="Shape 42"/>
          <p:cNvSpPr/>
          <p:nvPr/>
        </p:nvSpPr>
        <p:spPr>
          <a:xfrm>
            <a:off x="4718304" y="4315968"/>
            <a:ext cx="3931920" cy="457200"/>
          </a:xfrm>
          <a:prstGeom prst="rect">
            <a:avLst/>
          </a:prstGeom>
          <a:solidFill>
            <a:srgbClr val="FFF3E0"/>
          </a:solidFill>
          <a:ln/>
        </p:spPr>
      </p:sp>
      <p:sp>
        <p:nvSpPr>
          <p:cNvPr id="45" name="Text 43"/>
          <p:cNvSpPr/>
          <p:nvPr/>
        </p:nvSpPr>
        <p:spPr>
          <a:xfrm>
            <a:off x="4809744" y="4334256"/>
            <a:ext cx="365760" cy="402336"/>
          </a:xfrm>
          <a:prstGeom prst="rect">
            <a:avLst/>
          </a:prstGeom>
          <a:noFill/>
          <a:ln/>
        </p:spPr>
        <p:txBody>
          <a:bodyPr wrap="square" lIns="0" tIns="0" rIns="0" bIns="0" rtlCol="0" anchor="ctr"/>
          <a:lstStyle/>
          <a:p>
            <a:pPr algn="ctr" indent="0" marL="0">
              <a:buNone/>
            </a:pPr>
            <a:r>
              <a:rPr lang="en-US" sz="1000" b="1" dirty="0">
                <a:solidFill>
                  <a:srgbClr val="B7791F"/>
                </a:solidFill>
                <a:latin typeface="Helvetica Neue" pitchFamily="34" charset="0"/>
                <a:ea typeface="Helvetica Neue" pitchFamily="34" charset="-122"/>
                <a:cs typeface="Helvetica Neue" pitchFamily="34" charset="-120"/>
              </a:rPr>
              <a:t>H3</a:t>
            </a:r>
            <a:endParaRPr lang="en-US" sz="1000" dirty="0"/>
          </a:p>
        </p:txBody>
      </p:sp>
      <p:sp>
        <p:nvSpPr>
          <p:cNvPr id="46" name="Text 44"/>
          <p:cNvSpPr/>
          <p:nvPr/>
        </p:nvSpPr>
        <p:spPr>
          <a:xfrm>
            <a:off x="5248656" y="4334256"/>
            <a:ext cx="3291840" cy="402336"/>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Pilot with 1 hospital (H1 Madrid) before committing all 4 — caps initial exposure at €17M</a:t>
            </a:r>
            <a:endParaRPr lang="en-US" sz="950" dirty="0"/>
          </a:p>
        </p:txBody>
      </p:sp>
      <p:sp>
        <p:nvSpPr>
          <p:cNvPr id="47" name="Text 45"/>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algn="l" indent="0" marL="0">
              <a:buNone/>
            </a:pPr>
            <a:r>
              <a:rPr lang="en-US" sz="2600" b="1" dirty="0">
                <a:solidFill>
                  <a:srgbClr val="0F3460"/>
                </a:solidFill>
                <a:latin typeface="Helvetica Neue" pitchFamily="34" charset="0"/>
                <a:ea typeface="Helvetica Neue" pitchFamily="34" charset="-122"/>
                <a:cs typeface="Helvetica Neue" pitchFamily="34" charset="-120"/>
              </a:rPr>
              <a:t>Autonomy without alignment is just faster failure.</a:t>
            </a:r>
            <a:endParaRPr lang="en-US" sz="2600" dirty="0"/>
          </a:p>
        </p:txBody>
      </p:sp>
      <p:sp>
        <p:nvSpPr>
          <p:cNvPr id="3" name="Shape 1"/>
          <p:cNvSpPr/>
          <p:nvPr/>
        </p:nvSpPr>
        <p:spPr>
          <a:xfrm>
            <a:off x="457200" y="804672"/>
            <a:ext cx="8229600" cy="0"/>
          </a:xfrm>
          <a:prstGeom prst="line">
            <a:avLst/>
          </a:prstGeom>
          <a:noFill/>
          <a:ln w="12700">
            <a:solidFill>
              <a:srgbClr val="0F3460"/>
            </a:solidFill>
            <a:prstDash val="solid"/>
          </a:ln>
        </p:spPr>
      </p:sp>
      <p:sp>
        <p:nvSpPr>
          <p:cNvPr id="4" name="Shape 2"/>
          <p:cNvSpPr/>
          <p:nvPr/>
        </p:nvSpPr>
        <p:spPr>
          <a:xfrm>
            <a:off x="4617720" y="914400"/>
            <a:ext cx="0" cy="3566160"/>
          </a:xfrm>
          <a:prstGeom prst="line">
            <a:avLst/>
          </a:prstGeom>
          <a:noFill/>
          <a:ln w="9525">
            <a:solidFill>
              <a:srgbClr val="9AA0A6"/>
            </a:solidFill>
            <a:prstDash val="solid"/>
          </a:ln>
        </p:spPr>
      </p:sp>
      <p:sp>
        <p:nvSpPr>
          <p:cNvPr id="5" name="Text 3"/>
          <p:cNvSpPr/>
          <p:nvPr/>
        </p:nvSpPr>
        <p:spPr>
          <a:xfrm>
            <a:off x="457200" y="969264"/>
            <a:ext cx="3931920" cy="274320"/>
          </a:xfrm>
          <a:prstGeom prst="rect">
            <a:avLst/>
          </a:prstGeom>
          <a:noFill/>
          <a:ln/>
        </p:spPr>
        <p:txBody>
          <a:bodyPr wrap="square" lIns="0" tIns="0" rIns="0" bIns="0" rtlCol="0" anchor="ctr"/>
          <a:lstStyle/>
          <a:p>
            <a:pPr algn="l" indent="0" marL="0">
              <a:buNone/>
            </a:pPr>
            <a:r>
              <a:rPr lang="en-US" sz="1400" b="1" dirty="0">
                <a:solidFill>
                  <a:srgbClr val="0F3460"/>
                </a:solidFill>
                <a:latin typeface="Helvetica Neue" pitchFamily="34" charset="0"/>
                <a:ea typeface="Helvetica Neue" pitchFamily="34" charset="-122"/>
                <a:cs typeface="Helvetica Neue" pitchFamily="34" charset="-120"/>
              </a:rPr>
              <a:t>AGENT AUTONOMY</a:t>
            </a:r>
            <a:endParaRPr lang="en-US" sz="1400" dirty="0"/>
          </a:p>
        </p:txBody>
      </p:sp>
      <p:sp>
        <p:nvSpPr>
          <p:cNvPr id="6" name="Shape 4"/>
          <p:cNvSpPr/>
          <p:nvPr/>
        </p:nvSpPr>
        <p:spPr>
          <a:xfrm>
            <a:off x="457200" y="1316736"/>
            <a:ext cx="347472" cy="347472"/>
          </a:xfrm>
          <a:prstGeom prst="rect">
            <a:avLst/>
          </a:prstGeom>
          <a:solidFill>
            <a:srgbClr val="0F3460"/>
          </a:solidFill>
          <a:ln/>
        </p:spPr>
      </p:sp>
      <p:sp>
        <p:nvSpPr>
          <p:cNvPr id="7" name="Text 5"/>
          <p:cNvSpPr/>
          <p:nvPr/>
        </p:nvSpPr>
        <p:spPr>
          <a:xfrm>
            <a:off x="914400" y="1335024"/>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Monitor indicators (9 KIIs weekly)</a:t>
            </a:r>
            <a:endParaRPr lang="en-US" sz="1150" dirty="0"/>
          </a:p>
        </p:txBody>
      </p:sp>
      <p:sp>
        <p:nvSpPr>
          <p:cNvPr id="8" name="Shape 6"/>
          <p:cNvSpPr/>
          <p:nvPr/>
        </p:nvSpPr>
        <p:spPr>
          <a:xfrm>
            <a:off x="457200" y="1792224"/>
            <a:ext cx="347472" cy="347472"/>
          </a:xfrm>
          <a:prstGeom prst="rect">
            <a:avLst/>
          </a:prstGeom>
          <a:solidFill>
            <a:srgbClr val="0F3460"/>
          </a:solidFill>
          <a:ln/>
        </p:spPr>
      </p:sp>
      <p:sp>
        <p:nvSpPr>
          <p:cNvPr id="9" name="Text 7"/>
          <p:cNvSpPr/>
          <p:nvPr/>
        </p:nvSpPr>
        <p:spPr>
          <a:xfrm>
            <a:off x="914400" y="1810512"/>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Score AMC competitors</a:t>
            </a:r>
            <a:endParaRPr lang="en-US" sz="1150" dirty="0"/>
          </a:p>
        </p:txBody>
      </p:sp>
      <p:sp>
        <p:nvSpPr>
          <p:cNvPr id="10" name="Shape 8"/>
          <p:cNvSpPr/>
          <p:nvPr/>
        </p:nvSpPr>
        <p:spPr>
          <a:xfrm>
            <a:off x="457200" y="2267712"/>
            <a:ext cx="347472" cy="347472"/>
          </a:xfrm>
          <a:prstGeom prst="rect">
            <a:avLst/>
          </a:prstGeom>
          <a:solidFill>
            <a:srgbClr val="0F3460"/>
          </a:solidFill>
          <a:ln/>
        </p:spPr>
      </p:sp>
      <p:sp>
        <p:nvSpPr>
          <p:cNvPr id="11" name="Text 9"/>
          <p:cNvSpPr/>
          <p:nvPr/>
        </p:nvSpPr>
        <p:spPr>
          <a:xfrm>
            <a:off x="914400" y="2286000"/>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Alert on threshold breach</a:t>
            </a:r>
            <a:endParaRPr lang="en-US" sz="1150" dirty="0"/>
          </a:p>
        </p:txBody>
      </p:sp>
      <p:sp>
        <p:nvSpPr>
          <p:cNvPr id="12" name="Shape 10"/>
          <p:cNvSpPr/>
          <p:nvPr/>
        </p:nvSpPr>
        <p:spPr>
          <a:xfrm>
            <a:off x="457200" y="2743200"/>
            <a:ext cx="347472" cy="347472"/>
          </a:xfrm>
          <a:prstGeom prst="rect">
            <a:avLst/>
          </a:prstGeom>
          <a:solidFill>
            <a:srgbClr val="0F3460"/>
          </a:solidFill>
          <a:ln/>
        </p:spPr>
      </p:sp>
      <p:sp>
        <p:nvSpPr>
          <p:cNvPr id="13" name="Text 11"/>
          <p:cNvSpPr/>
          <p:nvPr/>
        </p:nvSpPr>
        <p:spPr>
          <a:xfrm>
            <a:off x="914400" y="2761488"/>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Generate executive dashboard</a:t>
            </a:r>
            <a:endParaRPr lang="en-US" sz="1150" dirty="0"/>
          </a:p>
        </p:txBody>
      </p:sp>
      <p:sp>
        <p:nvSpPr>
          <p:cNvPr id="14" name="Text 12"/>
          <p:cNvSpPr/>
          <p:nvPr/>
        </p:nvSpPr>
        <p:spPr>
          <a:xfrm>
            <a:off x="4800600" y="969264"/>
            <a:ext cx="3931920" cy="274320"/>
          </a:xfrm>
          <a:prstGeom prst="rect">
            <a:avLst/>
          </a:prstGeom>
          <a:noFill/>
          <a:ln/>
        </p:spPr>
        <p:txBody>
          <a:bodyPr wrap="square" lIns="0" tIns="0" rIns="0" bIns="0" rtlCol="0" anchor="ctr"/>
          <a:lstStyle/>
          <a:p>
            <a:pPr algn="l" indent="0" marL="0">
              <a:buNone/>
            </a:pPr>
            <a:r>
              <a:rPr lang="en-US" sz="1400" b="1" dirty="0">
                <a:solidFill>
                  <a:srgbClr val="0F3460"/>
                </a:solidFill>
                <a:latin typeface="Helvetica Neue" pitchFamily="34" charset="0"/>
                <a:ea typeface="Helvetica Neue" pitchFamily="34" charset="-122"/>
                <a:cs typeface="Helvetica Neue" pitchFamily="34" charset="-120"/>
              </a:rPr>
              <a:t>HUMAN AUTHORITY</a:t>
            </a:r>
            <a:endParaRPr lang="en-US" sz="1400" dirty="0"/>
          </a:p>
        </p:txBody>
      </p:sp>
      <p:sp>
        <p:nvSpPr>
          <p:cNvPr id="15" name="Shape 13"/>
          <p:cNvSpPr/>
          <p:nvPr/>
        </p:nvSpPr>
        <p:spPr>
          <a:xfrm>
            <a:off x="4800600" y="1316736"/>
            <a:ext cx="347472" cy="347472"/>
          </a:xfrm>
          <a:prstGeom prst="rect">
            <a:avLst/>
          </a:prstGeom>
          <a:solidFill>
            <a:srgbClr val="FFFFFF"/>
          </a:solidFill>
          <a:ln w="12700">
            <a:solidFill>
              <a:srgbClr val="0F3460"/>
            </a:solidFill>
            <a:prstDash val="solid"/>
          </a:ln>
        </p:spPr>
      </p:sp>
      <p:sp>
        <p:nvSpPr>
          <p:cNvPr id="16" name="Text 14"/>
          <p:cNvSpPr/>
          <p:nvPr/>
        </p:nvSpPr>
        <p:spPr>
          <a:xfrm>
            <a:off x="5257800" y="1335024"/>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Ratify strategic recommendations</a:t>
            </a:r>
            <a:endParaRPr lang="en-US" sz="1150" dirty="0"/>
          </a:p>
        </p:txBody>
      </p:sp>
      <p:sp>
        <p:nvSpPr>
          <p:cNvPr id="17" name="Shape 15"/>
          <p:cNvSpPr/>
          <p:nvPr/>
        </p:nvSpPr>
        <p:spPr>
          <a:xfrm>
            <a:off x="4800600" y="1792224"/>
            <a:ext cx="347472" cy="347472"/>
          </a:xfrm>
          <a:prstGeom prst="rect">
            <a:avLst/>
          </a:prstGeom>
          <a:solidFill>
            <a:srgbClr val="FFFFFF"/>
          </a:solidFill>
          <a:ln w="12700">
            <a:solidFill>
              <a:srgbClr val="0F3460"/>
            </a:solidFill>
            <a:prstDash val="solid"/>
          </a:ln>
        </p:spPr>
      </p:sp>
      <p:sp>
        <p:nvSpPr>
          <p:cNvPr id="18" name="Text 16"/>
          <p:cNvSpPr/>
          <p:nvPr/>
        </p:nvSpPr>
        <p:spPr>
          <a:xfrm>
            <a:off x="5257800" y="1810512"/>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Sign CapEx commitments</a:t>
            </a:r>
            <a:endParaRPr lang="en-US" sz="1150" dirty="0"/>
          </a:p>
        </p:txBody>
      </p:sp>
      <p:sp>
        <p:nvSpPr>
          <p:cNvPr id="19" name="Shape 17"/>
          <p:cNvSpPr/>
          <p:nvPr/>
        </p:nvSpPr>
        <p:spPr>
          <a:xfrm>
            <a:off x="4800600" y="2267712"/>
            <a:ext cx="347472" cy="347472"/>
          </a:xfrm>
          <a:prstGeom prst="rect">
            <a:avLst/>
          </a:prstGeom>
          <a:solidFill>
            <a:srgbClr val="FFFFFF"/>
          </a:solidFill>
          <a:ln w="12700">
            <a:solidFill>
              <a:srgbClr val="0F3460"/>
            </a:solidFill>
            <a:prstDash val="solid"/>
          </a:ln>
        </p:spPr>
      </p:sp>
      <p:sp>
        <p:nvSpPr>
          <p:cNvPr id="20" name="Text 18"/>
          <p:cNvSpPr/>
          <p:nvPr/>
        </p:nvSpPr>
        <p:spPr>
          <a:xfrm>
            <a:off x="5257800" y="2286000"/>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Override agent thresholds</a:t>
            </a:r>
            <a:endParaRPr lang="en-US" sz="1150" dirty="0"/>
          </a:p>
        </p:txBody>
      </p:sp>
      <p:sp>
        <p:nvSpPr>
          <p:cNvPr id="21" name="Shape 19"/>
          <p:cNvSpPr/>
          <p:nvPr/>
        </p:nvSpPr>
        <p:spPr>
          <a:xfrm>
            <a:off x="4800600" y="2743200"/>
            <a:ext cx="347472" cy="347472"/>
          </a:xfrm>
          <a:prstGeom prst="rect">
            <a:avLst/>
          </a:prstGeom>
          <a:solidFill>
            <a:srgbClr val="FFFFFF"/>
          </a:solidFill>
          <a:ln w="12700">
            <a:solidFill>
              <a:srgbClr val="0F3460"/>
            </a:solidFill>
            <a:prstDash val="solid"/>
          </a:ln>
        </p:spPr>
      </p:sp>
      <p:sp>
        <p:nvSpPr>
          <p:cNvPr id="22" name="Text 20"/>
          <p:cNvSpPr/>
          <p:nvPr/>
        </p:nvSpPr>
        <p:spPr>
          <a:xfrm>
            <a:off x="5257800" y="2761488"/>
            <a:ext cx="3474720" cy="329184"/>
          </a:xfrm>
          <a:prstGeom prst="rect">
            <a:avLst/>
          </a:prstGeom>
          <a:noFill/>
          <a:ln/>
        </p:spPr>
        <p:txBody>
          <a:bodyPr wrap="square" lIns="0" tIns="0" rIns="0" bIns="0" rtlCol="0" anchor="ctr"/>
          <a:lstStyle/>
          <a:p>
            <a:pPr algn="l" indent="0" marL="0">
              <a:buNone/>
            </a:pPr>
            <a:r>
              <a:rPr lang="en-US" sz="1150" dirty="0">
                <a:solidFill>
                  <a:srgbClr val="0B0B0F"/>
                </a:solidFill>
                <a:latin typeface="Helvetica Neue" pitchFamily="34" charset="0"/>
                <a:ea typeface="Helvetica Neue" pitchFamily="34" charset="-122"/>
                <a:cs typeface="Helvetica Neue" pitchFamily="34" charset="-120"/>
              </a:rPr>
              <a:t>Execute contractual moves</a:t>
            </a:r>
            <a:endParaRPr lang="en-US" sz="1150" dirty="0"/>
          </a:p>
        </p:txBody>
      </p:sp>
      <p:sp>
        <p:nvSpPr>
          <p:cNvPr id="23" name="Text 21"/>
          <p:cNvSpPr/>
          <p:nvPr/>
        </p:nvSpPr>
        <p:spPr>
          <a:xfrm>
            <a:off x="457200" y="3255264"/>
            <a:ext cx="8229600" cy="237744"/>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Three non-negotiable guardrails:</a:t>
            </a:r>
            <a:endParaRPr lang="en-US" sz="1100" dirty="0"/>
          </a:p>
        </p:txBody>
      </p:sp>
      <p:sp>
        <p:nvSpPr>
          <p:cNvPr id="24" name="Shape 22"/>
          <p:cNvSpPr/>
          <p:nvPr/>
        </p:nvSpPr>
        <p:spPr>
          <a:xfrm>
            <a:off x="457200" y="3547872"/>
            <a:ext cx="2651760" cy="1005840"/>
          </a:xfrm>
          <a:prstGeom prst="rect">
            <a:avLst/>
          </a:prstGeom>
          <a:solidFill>
            <a:srgbClr val="E8EAED"/>
          </a:solidFill>
          <a:ln/>
        </p:spPr>
      </p:sp>
      <p:sp>
        <p:nvSpPr>
          <p:cNvPr id="25" name="Shape 23"/>
          <p:cNvSpPr/>
          <p:nvPr/>
        </p:nvSpPr>
        <p:spPr>
          <a:xfrm>
            <a:off x="457200" y="3547872"/>
            <a:ext cx="2651760" cy="45720"/>
          </a:xfrm>
          <a:prstGeom prst="rect">
            <a:avLst/>
          </a:prstGeom>
          <a:solidFill>
            <a:srgbClr val="0F3460"/>
          </a:solidFill>
          <a:ln/>
        </p:spPr>
      </p:sp>
      <p:sp>
        <p:nvSpPr>
          <p:cNvPr id="26" name="Text 24"/>
          <p:cNvSpPr/>
          <p:nvPr/>
        </p:nvSpPr>
        <p:spPr>
          <a:xfrm>
            <a:off x="548640" y="3621024"/>
            <a:ext cx="2468880" cy="256032"/>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Human-in-the-loop</a:t>
            </a:r>
            <a:endParaRPr lang="en-US" sz="1100" dirty="0"/>
          </a:p>
        </p:txBody>
      </p:sp>
      <p:sp>
        <p:nvSpPr>
          <p:cNvPr id="27" name="Text 25"/>
          <p:cNvSpPr/>
          <p:nvPr/>
        </p:nvSpPr>
        <p:spPr>
          <a:xfrm>
            <a:off x="548640" y="3895344"/>
            <a:ext cx="2468880" cy="56692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Agent recommends; executives ratify. CapEx and contractual moves are always human-signed.</a:t>
            </a:r>
            <a:endParaRPr lang="en-US" sz="950" dirty="0"/>
          </a:p>
        </p:txBody>
      </p:sp>
      <p:sp>
        <p:nvSpPr>
          <p:cNvPr id="28" name="Shape 26"/>
          <p:cNvSpPr/>
          <p:nvPr/>
        </p:nvSpPr>
        <p:spPr>
          <a:xfrm>
            <a:off x="3291840" y="3547872"/>
            <a:ext cx="2651760" cy="1005840"/>
          </a:xfrm>
          <a:prstGeom prst="rect">
            <a:avLst/>
          </a:prstGeom>
          <a:solidFill>
            <a:srgbClr val="E8EAED"/>
          </a:solidFill>
          <a:ln/>
        </p:spPr>
      </p:sp>
      <p:sp>
        <p:nvSpPr>
          <p:cNvPr id="29" name="Shape 27"/>
          <p:cNvSpPr/>
          <p:nvPr/>
        </p:nvSpPr>
        <p:spPr>
          <a:xfrm>
            <a:off x="3291840" y="3547872"/>
            <a:ext cx="2651760" cy="45720"/>
          </a:xfrm>
          <a:prstGeom prst="rect">
            <a:avLst/>
          </a:prstGeom>
          <a:solidFill>
            <a:srgbClr val="0F3460"/>
          </a:solidFill>
          <a:ln/>
        </p:spPr>
      </p:sp>
      <p:sp>
        <p:nvSpPr>
          <p:cNvPr id="30" name="Text 28"/>
          <p:cNvSpPr/>
          <p:nvPr/>
        </p:nvSpPr>
        <p:spPr>
          <a:xfrm>
            <a:off x="3383280" y="3621024"/>
            <a:ext cx="2468880" cy="256032"/>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Full auditability</a:t>
            </a:r>
            <a:endParaRPr lang="en-US" sz="1100" dirty="0"/>
          </a:p>
        </p:txBody>
      </p:sp>
      <p:sp>
        <p:nvSpPr>
          <p:cNvPr id="31" name="Text 29"/>
          <p:cNvSpPr/>
          <p:nvPr/>
        </p:nvSpPr>
        <p:spPr>
          <a:xfrm>
            <a:off x="3383280" y="3895344"/>
            <a:ext cx="2468880" cy="56692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Every step logged: source → reasoning → output. Version-controlled in the project repository.</a:t>
            </a:r>
            <a:endParaRPr lang="en-US" sz="950" dirty="0"/>
          </a:p>
        </p:txBody>
      </p:sp>
      <p:sp>
        <p:nvSpPr>
          <p:cNvPr id="32" name="Shape 30"/>
          <p:cNvSpPr/>
          <p:nvPr/>
        </p:nvSpPr>
        <p:spPr>
          <a:xfrm>
            <a:off x="6126480" y="3547872"/>
            <a:ext cx="2651760" cy="1005840"/>
          </a:xfrm>
          <a:prstGeom prst="rect">
            <a:avLst/>
          </a:prstGeom>
          <a:solidFill>
            <a:srgbClr val="E8EAED"/>
          </a:solidFill>
          <a:ln/>
        </p:spPr>
      </p:sp>
      <p:sp>
        <p:nvSpPr>
          <p:cNvPr id="33" name="Shape 31"/>
          <p:cNvSpPr/>
          <p:nvPr/>
        </p:nvSpPr>
        <p:spPr>
          <a:xfrm>
            <a:off x="6126480" y="3547872"/>
            <a:ext cx="2651760" cy="45720"/>
          </a:xfrm>
          <a:prstGeom prst="rect">
            <a:avLst/>
          </a:prstGeom>
          <a:solidFill>
            <a:srgbClr val="0F3460"/>
          </a:solidFill>
          <a:ln/>
        </p:spPr>
      </p:sp>
      <p:sp>
        <p:nvSpPr>
          <p:cNvPr id="34" name="Text 32"/>
          <p:cNvSpPr/>
          <p:nvPr/>
        </p:nvSpPr>
        <p:spPr>
          <a:xfrm>
            <a:off x="6217920" y="3621024"/>
            <a:ext cx="2468880" cy="256032"/>
          </a:xfrm>
          <a:prstGeom prst="rect">
            <a:avLst/>
          </a:prstGeom>
          <a:noFill/>
          <a:ln/>
        </p:spPr>
        <p:txBody>
          <a:bodyPr wrap="square" lIns="0" tIns="0" rIns="0" bIns="0" rtlCol="0" anchor="ctr"/>
          <a:lstStyle/>
          <a:p>
            <a:pPr algn="l" indent="0" marL="0">
              <a:buNone/>
            </a:pPr>
            <a:r>
              <a:rPr lang="en-US" sz="1100" b="1" dirty="0">
                <a:solidFill>
                  <a:srgbClr val="0F3460"/>
                </a:solidFill>
                <a:latin typeface="Helvetica Neue" pitchFamily="34" charset="0"/>
                <a:ea typeface="Helvetica Neue" pitchFamily="34" charset="-122"/>
                <a:cs typeface="Helvetica Neue" pitchFamily="34" charset="-120"/>
              </a:rPr>
              <a:t>Alignment by structure</a:t>
            </a:r>
            <a:endParaRPr lang="en-US" sz="1100" dirty="0"/>
          </a:p>
        </p:txBody>
      </p:sp>
      <p:sp>
        <p:nvSpPr>
          <p:cNvPr id="35" name="Text 33"/>
          <p:cNvSpPr/>
          <p:nvPr/>
        </p:nvSpPr>
        <p:spPr>
          <a:xfrm>
            <a:off x="6217920" y="3895344"/>
            <a:ext cx="2468880" cy="566928"/>
          </a:xfrm>
          <a:prstGeom prst="rect">
            <a:avLst/>
          </a:prstGeom>
          <a:noFill/>
          <a:ln/>
        </p:spPr>
        <p:txBody>
          <a:bodyPr wrap="square" lIns="0" tIns="0" rIns="0" bIns="0" rtlCol="0" anchor="ctr"/>
          <a:lstStyle/>
          <a:p>
            <a:pPr algn="l" indent="0" marL="0">
              <a:buNone/>
            </a:pPr>
            <a:r>
              <a:rPr lang="en-US" sz="950" dirty="0">
                <a:solidFill>
                  <a:srgbClr val="0B0B0F"/>
                </a:solidFill>
                <a:latin typeface="Helvetica Neue" pitchFamily="34" charset="0"/>
                <a:ea typeface="Helvetica Neue" pitchFamily="34" charset="-122"/>
                <a:cs typeface="Helvetica Neue" pitchFamily="34" charset="-120"/>
              </a:rPr>
              <a:t>Success criteria and alert thresholds agreed before the system ran. Agent cannot redefine the goal mid-flight.</a:t>
            </a:r>
            <a:endParaRPr lang="en-US" sz="950" dirty="0"/>
          </a:p>
        </p:txBody>
      </p:sp>
      <p:sp>
        <p:nvSpPr>
          <p:cNvPr id="36" name="Text 34"/>
          <p:cNvSpPr/>
          <p:nvPr/>
        </p:nvSpPr>
        <p:spPr>
          <a:xfrm>
            <a:off x="457200" y="4828032"/>
            <a:ext cx="8229600" cy="182880"/>
          </a:xfrm>
          <a:prstGeom prst="rect">
            <a:avLst/>
          </a:prstGeom>
          <a:noFill/>
          <a:ln/>
        </p:spPr>
        <p:txBody>
          <a:bodyPr wrap="square" lIns="0" tIns="0" rIns="0" bIns="0" rtlCol="0" anchor="ctr"/>
          <a:lstStyle/>
          <a:p>
            <a:pPr algn="l" indent="0" marL="0">
              <a:buNone/>
            </a:pPr>
            <a:r>
              <a:rPr lang="en-US" sz="850" dirty="0">
                <a:solidFill>
                  <a:srgbClr val="9AA0A6"/>
                </a:solidFill>
                <a:latin typeface="Helvetica Neue" pitchFamily="34" charset="0"/>
                <a:ea typeface="Helvetica Neue" pitchFamily="34" charset="-122"/>
                <a:cs typeface="Helvetica Neue" pitchFamily="34" charset="-120"/>
              </a:rPr>
              <a:t>Every action is logged. Every override is logged. Logs are version-controlled in the project repository.</a:t>
            </a:r>
            <a:endParaRPr lang="en-US" sz="850" dirty="0"/>
          </a:p>
        </p:txBody>
      </p:sp>
      <p:sp>
        <p:nvSpPr>
          <p:cNvPr id="37" name="Text 35"/>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algn="l" indent="0" marL="0">
              <a:buNone/>
            </a:pPr>
            <a:r>
              <a:rPr lang="en-US" sz="2600" b="1" dirty="0">
                <a:solidFill>
                  <a:srgbClr val="FFFFFF"/>
                </a:solidFill>
                <a:latin typeface="Helvetica Neue" pitchFamily="34" charset="0"/>
                <a:ea typeface="Helvetica Neue" pitchFamily="34" charset="-122"/>
                <a:cs typeface="Helvetica Neue" pitchFamily="34" charset="-120"/>
              </a:rPr>
              <a:t>The decision is made. The discipline is permanent.</a:t>
            </a:r>
            <a:endParaRPr lang="en-US" sz="2600" dirty="0"/>
          </a:p>
        </p:txBody>
      </p:sp>
      <p:sp>
        <p:nvSpPr>
          <p:cNvPr id="3" name="Shape 1"/>
          <p:cNvSpPr/>
          <p:nvPr/>
        </p:nvSpPr>
        <p:spPr>
          <a:xfrm>
            <a:off x="457200" y="804672"/>
            <a:ext cx="8229600" cy="0"/>
          </a:xfrm>
          <a:prstGeom prst="line">
            <a:avLst/>
          </a:prstGeom>
          <a:noFill/>
          <a:ln w="12700">
            <a:solidFill>
              <a:srgbClr val="2D6A9F"/>
            </a:solidFill>
            <a:prstDash val="solid"/>
          </a:ln>
        </p:spPr>
      </p:sp>
      <p:sp>
        <p:nvSpPr>
          <p:cNvPr id="4" name="Shape 2"/>
          <p:cNvSpPr/>
          <p:nvPr/>
        </p:nvSpPr>
        <p:spPr>
          <a:xfrm>
            <a:off x="457200" y="914400"/>
            <a:ext cx="5029200" cy="1828800"/>
          </a:xfrm>
          <a:prstGeom prst="rect">
            <a:avLst/>
          </a:prstGeom>
          <a:solidFill>
            <a:srgbClr val="122040"/>
          </a:solidFill>
          <a:ln w="12700">
            <a:solidFill>
              <a:srgbClr val="2D6A9F"/>
            </a:solidFill>
            <a:prstDash val="solid"/>
          </a:ln>
        </p:spPr>
      </p:sp>
      <p:sp>
        <p:nvSpPr>
          <p:cNvPr id="5" name="Text 3"/>
          <p:cNvSpPr/>
          <p:nvPr/>
        </p:nvSpPr>
        <p:spPr>
          <a:xfrm>
            <a:off x="640080" y="1005840"/>
            <a:ext cx="4663440" cy="347472"/>
          </a:xfrm>
          <a:prstGeom prst="rect">
            <a:avLst/>
          </a:prstGeom>
          <a:noFill/>
          <a:ln/>
        </p:spPr>
        <p:txBody>
          <a:bodyPr wrap="square" lIns="0" tIns="0" rIns="0" bIns="0" rtlCol="0" anchor="ctr"/>
          <a:lstStyle/>
          <a:p>
            <a:pPr algn="l" indent="0" marL="0">
              <a:buNone/>
            </a:pPr>
            <a:r>
              <a:rPr lang="en-US" sz="2000" b="1" dirty="0">
                <a:solidFill>
                  <a:srgbClr val="7DB0D4"/>
                </a:solidFill>
                <a:latin typeface="Helvetica Neue" pitchFamily="34" charset="0"/>
                <a:ea typeface="Helvetica Neue" pitchFamily="34" charset="-122"/>
                <a:cs typeface="Helvetica Neue" pitchFamily="34" charset="-120"/>
              </a:rPr>
              <a:t>✅  CONDITIONAL GO</a:t>
            </a:r>
            <a:endParaRPr lang="en-US" sz="2000" dirty="0"/>
          </a:p>
        </p:txBody>
      </p:sp>
      <p:sp>
        <p:nvSpPr>
          <p:cNvPr id="6" name="Text 4"/>
          <p:cNvSpPr/>
          <p:nvPr/>
        </p:nvSpPr>
        <p:spPr>
          <a:xfrm>
            <a:off x="640080" y="1335024"/>
            <a:ext cx="4663440" cy="256032"/>
          </a:xfrm>
          <a:prstGeom prst="rect">
            <a:avLst/>
          </a:prstGeom>
          <a:noFill/>
          <a:ln/>
        </p:spPr>
        <p:txBody>
          <a:bodyPr wrap="square" lIns="0" tIns="0" rIns="0" bIns="0" rtlCol="0" anchor="ctr"/>
          <a:lstStyle/>
          <a:p>
            <a:pPr algn="l" indent="0" marL="0">
              <a:buNone/>
            </a:pPr>
            <a:r>
              <a:rPr lang="en-US" sz="1200" dirty="0">
                <a:solidFill>
                  <a:srgbClr val="FFFFFF"/>
                </a:solidFill>
                <a:latin typeface="Helvetica Neue" pitchFamily="34" charset="0"/>
                <a:ea typeface="Helvetica Neue" pitchFamily="34" charset="-122"/>
                <a:cs typeface="Helvetica Neue" pitchFamily="34" charset="-120"/>
              </a:rPr>
              <a:t>ALIANZA JV SANITAS/BUPA · Confidence: 72%</a:t>
            </a:r>
            <a:endParaRPr lang="en-US" sz="1200" dirty="0"/>
          </a:p>
        </p:txBody>
      </p:sp>
      <p:sp>
        <p:nvSpPr>
          <p:cNvPr id="7" name="Shape 5"/>
          <p:cNvSpPr/>
          <p:nvPr/>
        </p:nvSpPr>
        <p:spPr>
          <a:xfrm>
            <a:off x="640080" y="1645920"/>
            <a:ext cx="4572000" cy="0"/>
          </a:xfrm>
          <a:prstGeom prst="line">
            <a:avLst/>
          </a:prstGeom>
          <a:noFill/>
          <a:ln w="12700">
            <a:solidFill>
              <a:srgbClr val="2D6A9F"/>
            </a:solidFill>
            <a:prstDash val="solid"/>
          </a:ln>
        </p:spPr>
      </p:sp>
      <p:sp>
        <p:nvSpPr>
          <p:cNvPr id="8" name="Text 6"/>
          <p:cNvSpPr/>
          <p:nvPr/>
        </p:nvSpPr>
        <p:spPr>
          <a:xfrm>
            <a:off x="640080" y="1719072"/>
            <a:ext cx="1463040" cy="201168"/>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E[NPV] base:</a:t>
            </a:r>
            <a:endParaRPr lang="en-US" sz="950" dirty="0"/>
          </a:p>
        </p:txBody>
      </p:sp>
      <p:sp>
        <p:nvSpPr>
          <p:cNvPr id="9" name="Text 7"/>
          <p:cNvSpPr/>
          <p:nvPr/>
        </p:nvSpPr>
        <p:spPr>
          <a:xfrm>
            <a:off x="2157984" y="1719072"/>
            <a:ext cx="3200400" cy="201168"/>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+€14.2M  →  +€22.8M (if WACC=8%)</a:t>
            </a:r>
            <a:endParaRPr lang="en-US" sz="950" dirty="0"/>
          </a:p>
        </p:txBody>
      </p:sp>
      <p:sp>
        <p:nvSpPr>
          <p:cNvPr id="10" name="Text 8"/>
          <p:cNvSpPr/>
          <p:nvPr/>
        </p:nvSpPr>
        <p:spPr>
          <a:xfrm>
            <a:off x="640080" y="1938528"/>
            <a:ext cx="1463040" cy="201168"/>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Max downside:</a:t>
            </a:r>
            <a:endParaRPr lang="en-US" sz="950" dirty="0"/>
          </a:p>
        </p:txBody>
      </p:sp>
      <p:sp>
        <p:nvSpPr>
          <p:cNvPr id="11" name="Text 9"/>
          <p:cNvSpPr/>
          <p:nvPr/>
        </p:nvSpPr>
        <p:spPr>
          <a:xfrm>
            <a:off x="2157984" y="1938528"/>
            <a:ext cx="3200400" cy="201168"/>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-€8M  (vs -€45M direct entry)</a:t>
            </a:r>
            <a:endParaRPr lang="en-US" sz="950" dirty="0"/>
          </a:p>
        </p:txBody>
      </p:sp>
      <p:sp>
        <p:nvSpPr>
          <p:cNvPr id="12" name="Text 10"/>
          <p:cNvSpPr/>
          <p:nvPr/>
        </p:nvSpPr>
        <p:spPr>
          <a:xfrm>
            <a:off x="640080" y="2157984"/>
            <a:ext cx="1463040" cy="201168"/>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Action window:</a:t>
            </a:r>
            <a:endParaRPr lang="en-US" sz="950" dirty="0"/>
          </a:p>
        </p:txBody>
      </p:sp>
      <p:sp>
        <p:nvSpPr>
          <p:cNvPr id="13" name="Text 11"/>
          <p:cNvSpPr/>
          <p:nvPr/>
        </p:nvSpPr>
        <p:spPr>
          <a:xfrm>
            <a:off x="2157984" y="2157984"/>
            <a:ext cx="3200400" cy="201168"/>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3-6 months · AMC Sanitas P=87%</a:t>
            </a:r>
            <a:endParaRPr lang="en-US" sz="950" dirty="0"/>
          </a:p>
        </p:txBody>
      </p:sp>
      <p:sp>
        <p:nvSpPr>
          <p:cNvPr id="14" name="Text 12"/>
          <p:cNvSpPr/>
          <p:nvPr/>
        </p:nvSpPr>
        <p:spPr>
          <a:xfrm>
            <a:off x="640080" y="2377440"/>
            <a:ext cx="1463040" cy="201168"/>
          </a:xfrm>
          <a:prstGeom prst="rect">
            <a:avLst/>
          </a:prstGeom>
          <a:noFill/>
          <a:ln/>
        </p:spPr>
        <p:txBody>
          <a:bodyPr wrap="square" lIns="0" tIns="0" rIns="0" bIns="0" rtlCol="0" anchor="ctr"/>
          <a:lstStyle/>
          <a:p>
            <a:pPr algn="l" indent="0" marL="0">
              <a:buNone/>
            </a:pPr>
            <a:r>
              <a:rPr lang="en-US" sz="950" dirty="0">
                <a:solidFill>
                  <a:srgbClr val="9AA0A6"/>
                </a:solidFill>
                <a:latin typeface="Helvetica Neue" pitchFamily="34" charset="0"/>
                <a:ea typeface="Helvetica Neue" pitchFamily="34" charset="-122"/>
                <a:cs typeface="Helvetica Neue" pitchFamily="34" charset="-120"/>
              </a:rPr>
              <a:t>Trigger:</a:t>
            </a:r>
            <a:endParaRPr lang="en-US" sz="950" dirty="0"/>
          </a:p>
        </p:txBody>
      </p:sp>
      <p:sp>
        <p:nvSpPr>
          <p:cNvPr id="15" name="Text 13"/>
          <p:cNvSpPr/>
          <p:nvPr/>
        </p:nvSpPr>
        <p:spPr>
          <a:xfrm>
            <a:off x="2157984" y="2377440"/>
            <a:ext cx="3200400" cy="201168"/>
          </a:xfrm>
          <a:prstGeom prst="rect">
            <a:avLst/>
          </a:prstGeom>
          <a:noFill/>
          <a:ln/>
        </p:spPr>
        <p:txBody>
          <a:bodyPr wrap="square" lIns="0" tIns="0" rIns="0" bIns="0" rtlCol="0" anchor="ct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CEO-to-CEO in &lt;90 days</a:t>
            </a:r>
            <a:endParaRPr lang="en-US" sz="950" dirty="0"/>
          </a:p>
        </p:txBody>
      </p:sp>
      <p:sp>
        <p:nvSpPr>
          <p:cNvPr id="16" name="Text 14"/>
          <p:cNvSpPr/>
          <p:nvPr/>
        </p:nvSpPr>
        <p:spPr>
          <a:xfrm>
            <a:off x="5669280" y="914400"/>
            <a:ext cx="2011680" cy="685800"/>
          </a:xfrm>
          <a:prstGeom prst="rect">
            <a:avLst/>
          </a:prstGeom>
          <a:noFill/>
          <a:ln/>
        </p:spPr>
        <p:txBody>
          <a:bodyPr wrap="square" lIns="0" tIns="0" rIns="0" bIns="0" rtlCol="0" anchor="ctr"/>
          <a:lstStyle/>
          <a:p>
            <a:pPr algn="ctr" indent="0" marL="0">
              <a:buNone/>
            </a:pPr>
            <a:r>
              <a:rPr lang="en-US" sz="4400" b="1" dirty="0">
                <a:solidFill>
                  <a:srgbClr val="7DB0D4"/>
                </a:solidFill>
                <a:latin typeface="Helvetica Neue" pitchFamily="34" charset="0"/>
                <a:ea typeface="Helvetica Neue" pitchFamily="34" charset="-122"/>
                <a:cs typeface="Helvetica Neue" pitchFamily="34" charset="-120"/>
              </a:rPr>
              <a:t>+€14.2M</a:t>
            </a:r>
            <a:endParaRPr lang="en-US" sz="4400" dirty="0"/>
          </a:p>
        </p:txBody>
      </p:sp>
      <p:sp>
        <p:nvSpPr>
          <p:cNvPr id="17" name="Text 15"/>
          <p:cNvSpPr/>
          <p:nvPr/>
        </p:nvSpPr>
        <p:spPr>
          <a:xfrm>
            <a:off x="5669280" y="1572768"/>
            <a:ext cx="2011680" cy="228600"/>
          </a:xfrm>
          <a:prstGeom prst="rect">
            <a:avLst/>
          </a:prstGeom>
          <a:noFill/>
          <a:ln/>
        </p:spPr>
        <p:txBody>
          <a:bodyPr wrap="square" lIns="0" tIns="0" rIns="0" bIns="0" rtlCol="0" anchor="t"/>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E[NPV] Alliance</a:t>
            </a:r>
            <a:endParaRPr lang="en-US" sz="1000" dirty="0"/>
          </a:p>
        </p:txBody>
      </p:sp>
      <p:sp>
        <p:nvSpPr>
          <p:cNvPr id="18" name="Text 16"/>
          <p:cNvSpPr/>
          <p:nvPr/>
        </p:nvSpPr>
        <p:spPr>
          <a:xfrm>
            <a:off x="7315200" y="914400"/>
            <a:ext cx="2011680" cy="685800"/>
          </a:xfrm>
          <a:prstGeom prst="rect">
            <a:avLst/>
          </a:prstGeom>
          <a:noFill/>
          <a:ln/>
        </p:spPr>
        <p:txBody>
          <a:bodyPr wrap="square" lIns="0" tIns="0" rIns="0" bIns="0" rtlCol="0" anchor="ctr"/>
          <a:lstStyle/>
          <a:p>
            <a:pPr algn="ctr" indent="0" marL="0">
              <a:buNone/>
            </a:pPr>
            <a:r>
              <a:rPr lang="en-US" sz="4400" b="1" dirty="0">
                <a:solidFill>
                  <a:srgbClr val="7DB0D4"/>
                </a:solidFill>
                <a:latin typeface="Helvetica Neue" pitchFamily="34" charset="0"/>
                <a:ea typeface="Helvetica Neue" pitchFamily="34" charset="-122"/>
                <a:cs typeface="Helvetica Neue" pitchFamily="34" charset="-120"/>
              </a:rPr>
              <a:t>87%</a:t>
            </a:r>
            <a:endParaRPr lang="en-US" sz="4400" dirty="0"/>
          </a:p>
        </p:txBody>
      </p:sp>
      <p:sp>
        <p:nvSpPr>
          <p:cNvPr id="19" name="Text 17"/>
          <p:cNvSpPr/>
          <p:nvPr/>
        </p:nvSpPr>
        <p:spPr>
          <a:xfrm>
            <a:off x="7315200" y="1572768"/>
            <a:ext cx="2011680" cy="228600"/>
          </a:xfrm>
          <a:prstGeom prst="rect">
            <a:avLst/>
          </a:prstGeom>
          <a:noFill/>
          <a:ln/>
        </p:spPr>
        <p:txBody>
          <a:bodyPr wrap="square" lIns="0" tIns="0" rIns="0" bIns="0" rtlCol="0" anchor="t"/>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Sanitas P(response)</a:t>
            </a:r>
            <a:endParaRPr lang="en-US" sz="1000" dirty="0"/>
          </a:p>
        </p:txBody>
      </p:sp>
      <p:sp>
        <p:nvSpPr>
          <p:cNvPr id="20" name="Text 18"/>
          <p:cNvSpPr/>
          <p:nvPr/>
        </p:nvSpPr>
        <p:spPr>
          <a:xfrm>
            <a:off x="5669280" y="1938528"/>
            <a:ext cx="2011680" cy="685800"/>
          </a:xfrm>
          <a:prstGeom prst="rect">
            <a:avLst/>
          </a:prstGeom>
          <a:noFill/>
          <a:ln/>
        </p:spPr>
        <p:txBody>
          <a:bodyPr wrap="square" lIns="0" tIns="0" rIns="0" bIns="0" rtlCol="0" anchor="ctr"/>
          <a:lstStyle/>
          <a:p>
            <a:pPr algn="ctr" indent="0" marL="0">
              <a:buNone/>
            </a:pPr>
            <a:r>
              <a:rPr lang="en-US" sz="4400" b="1" dirty="0">
                <a:solidFill>
                  <a:srgbClr val="9AA0A6"/>
                </a:solidFill>
                <a:latin typeface="Helvetica Neue" pitchFamily="34" charset="0"/>
                <a:ea typeface="Helvetica Neue" pitchFamily="34" charset="-122"/>
                <a:cs typeface="Helvetica Neue" pitchFamily="34" charset="-120"/>
              </a:rPr>
              <a:t>72%</a:t>
            </a:r>
            <a:endParaRPr lang="en-US" sz="4400" dirty="0"/>
          </a:p>
        </p:txBody>
      </p:sp>
      <p:sp>
        <p:nvSpPr>
          <p:cNvPr id="21" name="Text 19"/>
          <p:cNvSpPr/>
          <p:nvPr/>
        </p:nvSpPr>
        <p:spPr>
          <a:xfrm>
            <a:off x="5669280" y="2596896"/>
            <a:ext cx="2011680" cy="228600"/>
          </a:xfrm>
          <a:prstGeom prst="rect">
            <a:avLst/>
          </a:prstGeom>
          <a:noFill/>
          <a:ln/>
        </p:spPr>
        <p:txBody>
          <a:bodyPr wrap="square" lIns="0" tIns="0" rIns="0" bIns="0" rtlCol="0" anchor="t"/>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Confidence Level</a:t>
            </a:r>
            <a:endParaRPr lang="en-US" sz="1000" dirty="0"/>
          </a:p>
        </p:txBody>
      </p:sp>
      <p:sp>
        <p:nvSpPr>
          <p:cNvPr id="22" name="Text 20"/>
          <p:cNvSpPr/>
          <p:nvPr/>
        </p:nvSpPr>
        <p:spPr>
          <a:xfrm>
            <a:off x="7315200" y="1938528"/>
            <a:ext cx="2011680" cy="685800"/>
          </a:xfrm>
          <a:prstGeom prst="rect">
            <a:avLst/>
          </a:prstGeom>
          <a:noFill/>
          <a:ln/>
        </p:spPr>
        <p:txBody>
          <a:bodyPr wrap="square" lIns="0" tIns="0" rIns="0" bIns="0" rtlCol="0" anchor="ctr"/>
          <a:lstStyle/>
          <a:p>
            <a:pPr algn="ctr" indent="0" marL="0">
              <a:buNone/>
            </a:pPr>
            <a:r>
              <a:rPr lang="en-US" sz="4400" b="1" dirty="0">
                <a:solidFill>
                  <a:srgbClr val="1A7F4B"/>
                </a:solidFill>
                <a:latin typeface="Helvetica Neue" pitchFamily="34" charset="0"/>
                <a:ea typeface="Helvetica Neue" pitchFamily="34" charset="-122"/>
                <a:cs typeface="Helvetica Neue" pitchFamily="34" charset="-120"/>
              </a:rPr>
              <a:t>9/9</a:t>
            </a:r>
            <a:endParaRPr lang="en-US" sz="4400" dirty="0"/>
          </a:p>
        </p:txBody>
      </p:sp>
      <p:sp>
        <p:nvSpPr>
          <p:cNvPr id="23" name="Text 21"/>
          <p:cNvSpPr/>
          <p:nvPr/>
        </p:nvSpPr>
        <p:spPr>
          <a:xfrm>
            <a:off x="7315200" y="2596896"/>
            <a:ext cx="2011680" cy="228600"/>
          </a:xfrm>
          <a:prstGeom prst="rect">
            <a:avLst/>
          </a:prstGeom>
          <a:noFill/>
          <a:ln/>
        </p:spPr>
        <p:txBody>
          <a:bodyPr wrap="square" lIns="0" tIns="0" rIns="0" bIns="0" rtlCol="0" anchor="t"/>
          <a:lstStyle/>
          <a:p>
            <a:pPr algn="ctr" indent="0" marL="0">
              <a:buNone/>
            </a:pPr>
            <a:r>
              <a:rPr lang="en-US" sz="1000" dirty="0">
                <a:solidFill>
                  <a:srgbClr val="9AA0A6"/>
                </a:solidFill>
                <a:latin typeface="Helvetica Neue" pitchFamily="34" charset="0"/>
                <a:ea typeface="Helvetica Neue" pitchFamily="34" charset="-122"/>
                <a:cs typeface="Helvetica Neue" pitchFamily="34" charset="-120"/>
              </a:rPr>
              <a:t>KIIs Green</a:t>
            </a:r>
            <a:endParaRPr lang="en-US" sz="1000" dirty="0"/>
          </a:p>
        </p:txBody>
      </p:sp>
      <p:sp>
        <p:nvSpPr>
          <p:cNvPr id="24" name="Text 22"/>
          <p:cNvSpPr/>
          <p:nvPr/>
        </p:nvSpPr>
        <p:spPr>
          <a:xfrm>
            <a:off x="457200" y="2999232"/>
            <a:ext cx="8229600" cy="256032"/>
          </a:xfrm>
          <a:prstGeom prst="rect">
            <a:avLst/>
          </a:prstGeom>
          <a:noFill/>
          <a:ln/>
        </p:spPr>
        <p:txBody>
          <a:bodyPr wrap="square" lIns="0" tIns="0" rIns="0" bIns="0" rtlCol="0" anchor="ctr"/>
          <a:lstStyle/>
          <a:p>
            <a:pPr algn="l" indent="0" marL="0">
              <a:buNone/>
            </a:pPr>
            <a:r>
              <a:rPr lang="en-US" sz="1200" b="1" spc="200" kern="0" dirty="0">
                <a:solidFill>
                  <a:srgbClr val="7DB0D4"/>
                </a:solidFill>
                <a:latin typeface="Helvetica Neue" pitchFamily="34" charset="0"/>
                <a:ea typeface="Helvetica Neue" pitchFamily="34" charset="-122"/>
                <a:cs typeface="Helvetica Neue" pitchFamily="34" charset="-120"/>
              </a:rPr>
              <a:t>ROADMAP</a:t>
            </a:r>
            <a:endParaRPr lang="en-US" sz="1200" dirty="0"/>
          </a:p>
        </p:txBody>
      </p:sp>
      <p:sp>
        <p:nvSpPr>
          <p:cNvPr id="25" name="Shape 23"/>
          <p:cNvSpPr/>
          <p:nvPr/>
        </p:nvSpPr>
        <p:spPr>
          <a:xfrm>
            <a:off x="457200" y="3438144"/>
            <a:ext cx="8229600" cy="0"/>
          </a:xfrm>
          <a:prstGeom prst="line">
            <a:avLst/>
          </a:prstGeom>
          <a:noFill/>
          <a:ln w="12700">
            <a:solidFill>
              <a:srgbClr val="2D6A9F"/>
            </a:solidFill>
            <a:prstDash val="solid"/>
          </a:ln>
        </p:spPr>
      </p:sp>
      <p:sp>
        <p:nvSpPr>
          <p:cNvPr id="26" name="Shape 24"/>
          <p:cNvSpPr/>
          <p:nvPr/>
        </p:nvSpPr>
        <p:spPr>
          <a:xfrm>
            <a:off x="347472" y="3364992"/>
            <a:ext cx="219456" cy="219456"/>
          </a:xfrm>
          <a:prstGeom prst="ellipse">
            <a:avLst/>
          </a:prstGeom>
          <a:solidFill>
            <a:srgbClr val="7DB0D4"/>
          </a:solidFill>
          <a:ln/>
        </p:spPr>
      </p:sp>
      <p:sp>
        <p:nvSpPr>
          <p:cNvPr id="27" name="Shape 25"/>
          <p:cNvSpPr/>
          <p:nvPr/>
        </p:nvSpPr>
        <p:spPr>
          <a:xfrm>
            <a:off x="3456432" y="3364992"/>
            <a:ext cx="219456" cy="219456"/>
          </a:xfrm>
          <a:prstGeom prst="ellipse">
            <a:avLst/>
          </a:prstGeom>
          <a:solidFill>
            <a:srgbClr val="7DB0D4"/>
          </a:solidFill>
          <a:ln/>
        </p:spPr>
      </p:sp>
      <p:sp>
        <p:nvSpPr>
          <p:cNvPr id="28" name="Shape 26"/>
          <p:cNvSpPr/>
          <p:nvPr/>
        </p:nvSpPr>
        <p:spPr>
          <a:xfrm>
            <a:off x="6291072" y="3364992"/>
            <a:ext cx="219456" cy="219456"/>
          </a:xfrm>
          <a:prstGeom prst="ellipse">
            <a:avLst/>
          </a:prstGeom>
          <a:solidFill>
            <a:srgbClr val="7DB0D4"/>
          </a:solidFill>
          <a:ln/>
        </p:spPr>
      </p:sp>
      <p:sp>
        <p:nvSpPr>
          <p:cNvPr id="29" name="Text 27"/>
          <p:cNvSpPr/>
          <p:nvPr/>
        </p:nvSpPr>
        <p:spPr>
          <a:xfrm>
            <a:off x="91440" y="3639312"/>
            <a:ext cx="1645920" cy="201168"/>
          </a:xfrm>
          <a:prstGeom prst="rect">
            <a:avLst/>
          </a:prstGeom>
          <a:noFill/>
          <a:ln/>
        </p:spPr>
        <p:txBody>
          <a:bodyPr wrap="square" lIns="0" tIns="0" rIns="0" bIns="0" rtlCol="0" anchor="ctr"/>
          <a:lstStyle/>
          <a:p>
            <a:pPr algn="ctr" indent="0" marL="0">
              <a:buNone/>
            </a:pPr>
            <a:r>
              <a:rPr lang="en-US" sz="900" b="1" dirty="0">
                <a:solidFill>
                  <a:srgbClr val="7DB0D4"/>
                </a:solidFill>
                <a:latin typeface="Helvetica Neue" pitchFamily="34" charset="0"/>
                <a:ea typeface="Helvetica Neue" pitchFamily="34" charset="-122"/>
                <a:cs typeface="Helvetica Neue" pitchFamily="34" charset="-120"/>
              </a:rPr>
              <a:t>T0 → T+3m</a:t>
            </a:r>
            <a:endParaRPr lang="en-US" sz="900" dirty="0"/>
          </a:p>
        </p:txBody>
      </p:sp>
      <p:sp>
        <p:nvSpPr>
          <p:cNvPr id="30" name="Text 28"/>
          <p:cNvSpPr/>
          <p:nvPr/>
        </p:nvSpPr>
        <p:spPr>
          <a:xfrm>
            <a:off x="91440" y="3822192"/>
            <a:ext cx="1737360" cy="475488"/>
          </a:xfrm>
          <a:prstGeom prst="rect">
            <a:avLst/>
          </a:prstGeom>
          <a:noFill/>
          <a:ln/>
        </p:spPr>
        <p:txBody>
          <a:bodyPr wrap="square" lIns="0" tIns="0" rIns="0" bIns="0" rtlCol="0" anchor="ctr"/>
          <a:lstStyle/>
          <a:p>
            <a:pPr algn="ctr" indent="0" marL="0">
              <a:buNone/>
            </a:pPr>
            <a:r>
              <a:rPr lang="en-US" sz="850" dirty="0">
                <a:solidFill>
                  <a:srgbClr val="9AA0A6"/>
                </a:solidFill>
                <a:latin typeface="Helvetica Neue" pitchFamily="34" charset="0"/>
                <a:ea typeface="Helvetica Neue" pitchFamily="34" charset="-122"/>
                <a:cs typeface="Helvetica Neue" pitchFamily="34" charset="-120"/>
              </a:rPr>
              <a:t>CEO-to-CEO · EWS weekly · 72% → 85% confidence</a:t>
            </a:r>
            <a:endParaRPr lang="en-US" sz="850" dirty="0"/>
          </a:p>
        </p:txBody>
      </p:sp>
      <p:sp>
        <p:nvSpPr>
          <p:cNvPr id="31" name="Text 29"/>
          <p:cNvSpPr/>
          <p:nvPr/>
        </p:nvSpPr>
        <p:spPr>
          <a:xfrm>
            <a:off x="3200400" y="3639312"/>
            <a:ext cx="1645920" cy="201168"/>
          </a:xfrm>
          <a:prstGeom prst="rect">
            <a:avLst/>
          </a:prstGeom>
          <a:noFill/>
          <a:ln/>
        </p:spPr>
        <p:txBody>
          <a:bodyPr wrap="square" lIns="0" tIns="0" rIns="0" bIns="0" rtlCol="0" anchor="ctr"/>
          <a:lstStyle/>
          <a:p>
            <a:pPr algn="ctr" indent="0" marL="0">
              <a:buNone/>
            </a:pPr>
            <a:r>
              <a:rPr lang="en-US" sz="900" b="1" dirty="0">
                <a:solidFill>
                  <a:srgbClr val="7DB0D4"/>
                </a:solidFill>
                <a:latin typeface="Helvetica Neue" pitchFamily="34" charset="0"/>
                <a:ea typeface="Helvetica Neue" pitchFamily="34" charset="-122"/>
                <a:cs typeface="Helvetica Neue" pitchFamily="34" charset="-120"/>
              </a:rPr>
              <a:t>T+3 → T+12m</a:t>
            </a:r>
            <a:endParaRPr lang="en-US" sz="900" dirty="0"/>
          </a:p>
        </p:txBody>
      </p:sp>
      <p:sp>
        <p:nvSpPr>
          <p:cNvPr id="32" name="Text 30"/>
          <p:cNvSpPr/>
          <p:nvPr/>
        </p:nvSpPr>
        <p:spPr>
          <a:xfrm>
            <a:off x="3200400" y="3822192"/>
            <a:ext cx="1737360" cy="475488"/>
          </a:xfrm>
          <a:prstGeom prst="rect">
            <a:avLst/>
          </a:prstGeom>
          <a:noFill/>
          <a:ln/>
        </p:spPr>
        <p:txBody>
          <a:bodyPr wrap="square" lIns="0" tIns="0" rIns="0" bIns="0" rtlCol="0" anchor="ctr"/>
          <a:lstStyle/>
          <a:p>
            <a:pPr algn="ctr" indent="0" marL="0">
              <a:buNone/>
            </a:pPr>
            <a:r>
              <a:rPr lang="en-US" sz="850" dirty="0">
                <a:solidFill>
                  <a:srgbClr val="9AA0A6"/>
                </a:solidFill>
                <a:latin typeface="Helvetica Neue" pitchFamily="34" charset="0"/>
                <a:ea typeface="Helvetica Neue" pitchFamily="34" charset="-122"/>
                <a:cs typeface="Helvetica Neue" pitchFamily="34" charset="-120"/>
              </a:rPr>
              <a:t>GO conditions C1-C4 signed · first JV milestone · H1 Madrid permit</a:t>
            </a:r>
            <a:endParaRPr lang="en-US" sz="850" dirty="0"/>
          </a:p>
        </p:txBody>
      </p:sp>
      <p:sp>
        <p:nvSpPr>
          <p:cNvPr id="33" name="Text 31"/>
          <p:cNvSpPr/>
          <p:nvPr/>
        </p:nvSpPr>
        <p:spPr>
          <a:xfrm>
            <a:off x="6035040" y="3639312"/>
            <a:ext cx="1645920" cy="201168"/>
          </a:xfrm>
          <a:prstGeom prst="rect">
            <a:avLst/>
          </a:prstGeom>
          <a:noFill/>
          <a:ln/>
        </p:spPr>
        <p:txBody>
          <a:bodyPr wrap="square" lIns="0" tIns="0" rIns="0" bIns="0" rtlCol="0" anchor="ctr"/>
          <a:lstStyle/>
          <a:p>
            <a:pPr algn="ctr" indent="0" marL="0">
              <a:buNone/>
            </a:pPr>
            <a:r>
              <a:rPr lang="en-US" sz="900" b="1" dirty="0">
                <a:solidFill>
                  <a:srgbClr val="7DB0D4"/>
                </a:solidFill>
                <a:latin typeface="Helvetica Neue" pitchFamily="34" charset="0"/>
                <a:ea typeface="Helvetica Neue" pitchFamily="34" charset="-122"/>
                <a:cs typeface="Helvetica Neue" pitchFamily="34" charset="-120"/>
              </a:rPr>
              <a:t>T+12 → T+36m</a:t>
            </a:r>
            <a:endParaRPr lang="en-US" sz="900" dirty="0"/>
          </a:p>
        </p:txBody>
      </p:sp>
      <p:sp>
        <p:nvSpPr>
          <p:cNvPr id="34" name="Text 32"/>
          <p:cNvSpPr/>
          <p:nvPr/>
        </p:nvSpPr>
        <p:spPr>
          <a:xfrm>
            <a:off x="6035040" y="3822192"/>
            <a:ext cx="1737360" cy="475488"/>
          </a:xfrm>
          <a:prstGeom prst="rect">
            <a:avLst/>
          </a:prstGeom>
          <a:noFill/>
          <a:ln/>
        </p:spPr>
        <p:txBody>
          <a:bodyPr wrap="square" lIns="0" tIns="0" rIns="0" bIns="0" rtlCol="0" anchor="ctr"/>
          <a:lstStyle/>
          <a:p>
            <a:pPr algn="ctr" indent="0" marL="0">
              <a:buNone/>
            </a:pPr>
            <a:r>
              <a:rPr lang="en-US" sz="850" dirty="0">
                <a:solidFill>
                  <a:srgbClr val="9AA0A6"/>
                </a:solidFill>
                <a:latin typeface="Helvetica Neue" pitchFamily="34" charset="0"/>
                <a:ea typeface="Helvetica Neue" pitchFamily="34" charset="-122"/>
                <a:cs typeface="Helvetica Neue" pitchFamily="34" charset="-120"/>
              </a:rPr>
              <a:t>Hospital openings · full network · system extended to LATAM</a:t>
            </a:r>
            <a:endParaRPr lang="en-US" sz="850" dirty="0"/>
          </a:p>
        </p:txBody>
      </p:sp>
      <p:sp>
        <p:nvSpPr>
          <p:cNvPr id="35" name="Shape 33"/>
          <p:cNvSpPr/>
          <p:nvPr/>
        </p:nvSpPr>
        <p:spPr>
          <a:xfrm>
            <a:off x="457200" y="4425696"/>
            <a:ext cx="8229600" cy="475488"/>
          </a:xfrm>
          <a:prstGeom prst="rect">
            <a:avLst/>
          </a:prstGeom>
          <a:solidFill>
            <a:srgbClr val="0D2137"/>
          </a:solidFill>
          <a:ln/>
        </p:spPr>
      </p:sp>
      <p:sp>
        <p:nvSpPr>
          <p:cNvPr id="36" name="Text 34"/>
          <p:cNvSpPr/>
          <p:nvPr/>
        </p:nvSpPr>
        <p:spPr>
          <a:xfrm>
            <a:off x="640080" y="4462272"/>
            <a:ext cx="5943600" cy="329184"/>
          </a:xfrm>
          <a:prstGeom prst="rect">
            <a:avLst/>
          </a:prstGeom>
          <a:noFill/>
          <a:ln/>
        </p:spPr>
        <p:txBody>
          <a:bodyPr wrap="square" lIns="0" tIns="0" rIns="0" bIns="0" rtlCol="0" anchor="ctr"/>
          <a:lstStyle/>
          <a:p>
            <a:pPr algn="r" indent="0" marL="0">
              <a:buNone/>
            </a:pPr>
            <a:r>
              <a:rPr lang="en-US" sz="1500" dirty="0">
                <a:solidFill>
                  <a:srgbClr val="FFFFFF"/>
                </a:solidFill>
                <a:latin typeface="Helvetica Neue" pitchFamily="34" charset="0"/>
                <a:ea typeface="Helvetica Neue" pitchFamily="34" charset="-122"/>
                <a:cs typeface="Helvetica Neue" pitchFamily="34" charset="-120"/>
              </a:rPr>
              <a:t>Agentic systems do not replace strategic judgement.  They  </a:t>
            </a:r>
            <a:endParaRPr lang="en-US" sz="1500" dirty="0"/>
          </a:p>
        </p:txBody>
      </p:sp>
      <p:sp>
        <p:nvSpPr>
          <p:cNvPr id="37" name="Text 35"/>
          <p:cNvSpPr/>
          <p:nvPr/>
        </p:nvSpPr>
        <p:spPr>
          <a:xfrm>
            <a:off x="6583680" y="4462272"/>
            <a:ext cx="1920240" cy="329184"/>
          </a:xfrm>
          <a:prstGeom prst="rect">
            <a:avLst/>
          </a:prstGeom>
          <a:noFill/>
          <a:ln/>
        </p:spPr>
        <p:txBody>
          <a:bodyPr wrap="square" lIns="0" tIns="0" rIns="0" bIns="0" rtlCol="0" anchor="ctr"/>
          <a:lstStyle/>
          <a:p>
            <a:pPr algn="l" indent="0" marL="0">
              <a:buNone/>
            </a:pPr>
            <a:r>
              <a:rPr lang="en-US" sz="1500" b="1" dirty="0">
                <a:solidFill>
                  <a:srgbClr val="7DB0D4"/>
                </a:solidFill>
                <a:latin typeface="Helvetica Neue" pitchFamily="34" charset="0"/>
                <a:ea typeface="Helvetica Neue" pitchFamily="34" charset="-122"/>
                <a:cs typeface="Helvetica Neue" pitchFamily="34" charset="-120"/>
              </a:rPr>
              <a:t>institutionalise it.</a:t>
            </a:r>
            <a:endParaRPr lang="en-US" sz="1500" dirty="0"/>
          </a:p>
        </p:txBody>
      </p:sp>
      <p:sp>
        <p:nvSpPr>
          <p:cNvPr id="38" name="Text 36"/>
          <p:cNvSpPr/>
          <p:nvPr/>
        </p:nvSpPr>
        <p:spPr>
          <a:xfrm>
            <a:off x="8138160" y="4850892"/>
            <a:ext cx="914400" cy="201168"/>
          </a:xfrm>
          <a:prstGeom prst="rect">
            <a:avLst/>
          </a:prstGeom>
          <a:noFill/>
          <a:ln/>
        </p:spPr>
        <p:txBody>
          <a:bodyPr wrap="square" lIns="0" tIns="0" rIns="0" bIns="0" rtlCol="0" anchor="ctr"/>
          <a:lstStyle/>
          <a:p>
            <a:pPr algn="r" indent="0" marL="0">
              <a:buNone/>
            </a:pPr>
            <a:r>
              <a:rPr lang="en-US" sz="900" dirty="0">
                <a:solidFill>
                  <a:srgbClr val="9AA0A6"/>
                </a:solidFill>
                <a:latin typeface="Helvetica Neue" pitchFamily="34" charset="0"/>
                <a:ea typeface="Helvetica Neue" pitchFamily="34" charset="-122"/>
                <a:cs typeface="Helvetica Neue"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 Doctors – Agentic Intelligence for Market Entry V2</dc:title>
  <dc:subject>PptxGenJS Presentation</dc:subject>
  <dc:creator>Pablo Cerezal &amp; Adrián Julve</dc:creator>
  <cp:lastModifiedBy>Pablo Cerezal &amp; Adrián Julve</cp:lastModifiedBy>
  <cp:revision>1</cp:revision>
  <dcterms:created xsi:type="dcterms:W3CDTF">2026-04-26T09:14:45Z</dcterms:created>
  <dcterms:modified xsi:type="dcterms:W3CDTF">2026-04-26T09:14:45Z</dcterms:modified>
</cp:coreProperties>
</file>